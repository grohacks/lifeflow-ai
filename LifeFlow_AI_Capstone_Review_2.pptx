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365760"/>
            <a:ext cx="11094415" cy="1691640"/>
          </a:xfrm>
          <a:prstGeom prst="roundRect">
            <a:avLst>
              <a:gd name="adj" fmla="val 2500"/>
            </a:avLst>
          </a:prstGeom>
          <a:solidFill>
            <a:srgbClr val="132247"/>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77240" y="502920"/>
            <a:ext cx="4114800" cy="256032"/>
          </a:xfrm>
          <a:prstGeom prst="roundRect">
            <a:avLst>
              <a:gd name="adj" fmla="val 20000"/>
            </a:avLst>
          </a:prstGeom>
          <a:solidFill>
            <a:srgbClr val="1B2D5C"/>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000">
                <a:solidFill>
                  <a:srgbClr val="00E5FF"/>
                </a:solidFill>
              </a:defRPr>
            </a:pPr>
            <a:r>
              <a:t>CAPSTONE PROJECT-1  |  REVIEW-2 EVALUATION</a:t>
            </a:r>
          </a:p>
        </p:txBody>
      </p:sp>
      <p:sp>
        <p:nvSpPr>
          <p:cNvPr id="5" name="TextBox 4"/>
          <p:cNvSpPr txBox="1"/>
          <p:nvPr/>
        </p:nvSpPr>
        <p:spPr>
          <a:xfrm>
            <a:off x="777240" y="841248"/>
            <a:ext cx="10607040" cy="1051560"/>
          </a:xfrm>
          <a:prstGeom prst="rect">
            <a:avLst/>
          </a:prstGeom>
          <a:noFill/>
        </p:spPr>
        <p:txBody>
          <a:bodyPr wrap="square">
            <a:spAutoFit/>
          </a:bodyPr>
          <a:lstStyle/>
          <a:p>
            <a:pPr>
              <a:spcAft>
                <a:spcPts val="400"/>
              </a:spcAft>
              <a:defRPr sz="2200" b="1">
                <a:solidFill>
                  <a:srgbClr val="FFFFFF"/>
                </a:solidFill>
                <a:latin typeface="Calibri"/>
              </a:defRPr>
            </a:pPr>
            <a:r>
              <a:t>LIFEFLOW AI: Predictive Emergency Healthcare Digital Twin Platform </a:t>
            </a:r>
            <a:r>
              <a:rPr sz="2200" b="1">
                <a:solidFill>
                  <a:srgbClr val="00E5FF"/>
                </a:solidFill>
                <a:latin typeface="Calibri"/>
              </a:rPr>
              <a:t>[BATCH-23]</a:t>
            </a:r>
          </a:p>
          <a:p>
            <a:pPr>
              <a:defRPr sz="1200">
                <a:solidFill>
                  <a:srgbClr val="00E5FF"/>
                </a:solidFill>
                <a:latin typeface="Calibri"/>
              </a:defRPr>
            </a:pPr>
            <a:r>
              <a:t>Connecting Citizens, Paramedics, Nurses &amp; Doctors via Real-Time Web &amp; Offline SMS Alerts</a:t>
            </a:r>
          </a:p>
        </p:txBody>
      </p:sp>
      <p:sp>
        <p:nvSpPr>
          <p:cNvPr id="6" name="Rounded Rectangle 5"/>
          <p:cNvSpPr/>
          <p:nvPr/>
        </p:nvSpPr>
        <p:spPr>
          <a:xfrm>
            <a:off x="548640" y="2240280"/>
            <a:ext cx="5394960" cy="4160520"/>
          </a:xfrm>
          <a:prstGeom prst="roundRect">
            <a:avLst>
              <a:gd name="adj" fmla="val 2500"/>
            </a:avLst>
          </a:prstGeom>
          <a:solidFill>
            <a:srgbClr val="132247"/>
          </a:solidFill>
          <a:ln w="15240">
            <a:solidFill>
              <a:srgbClr val="2C4A87"/>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46304"/>
          <a:lstStyle/>
          <a:p>
            <a:pPr algn="ctr">
              <a:spcAft>
                <a:spcPts val="800"/>
              </a:spcAft>
              <a:defRPr sz="1600" b="1">
                <a:solidFill>
                  <a:srgbClr val="00E5FF"/>
                </a:solidFill>
                <a:latin typeface="Calibri"/>
              </a:defRPr>
            </a:pPr>
            <a:r>
              <a:t>What LifeFlow AI Does (In Simple Words)</a:t>
            </a:r>
          </a:p>
          <a:p>
            <a:pPr>
              <a:spcAft>
                <a:spcPts val="600"/>
              </a:spcAft>
            </a:pPr>
            <a:r>
              <a:rPr b="1" sz="1200">
                <a:solidFill>
                  <a:srgbClr val="FFFFFF"/>
                </a:solidFill>
                <a:latin typeface="Calibri"/>
              </a:rPr>
              <a:t>The Big Idea: </a:t>
            </a:r>
            <a:r>
              <a:rPr sz="1150">
                <a:solidFill>
                  <a:srgbClr val="E2E8F0"/>
                </a:solidFill>
                <a:latin typeface="Calibri"/>
              </a:rPr>
              <a:t>A complete pre-hospital platform connecting moving ambulances directly to hospital EDs in real time.</a:t>
            </a:r>
          </a:p>
          <a:p>
            <a:pPr>
              <a:spcAft>
                <a:spcPts val="600"/>
              </a:spcAft>
            </a:pPr>
            <a:r>
              <a:rPr b="1" sz="1200">
                <a:solidFill>
                  <a:srgbClr val="FFFFFF"/>
                </a:solidFill>
                <a:latin typeface="Calibri"/>
              </a:rPr>
              <a:t>Dual-Channel SOS: </a:t>
            </a:r>
            <a:r>
              <a:rPr sz="1150">
                <a:solidFill>
                  <a:srgbClr val="E2E8F0"/>
                </a:solidFill>
                <a:latin typeface="Calibri"/>
              </a:rPr>
              <a:t>Citizens summon ambulances via Web GPS pin or completely offline 2G SMS (7249505296).</a:t>
            </a:r>
          </a:p>
          <a:p>
            <a:pPr>
              <a:spcAft>
                <a:spcPts val="600"/>
              </a:spcAft>
            </a:pPr>
            <a:r>
              <a:rPr b="1" sz="1200">
                <a:solidFill>
                  <a:srgbClr val="FFFFFF"/>
                </a:solidFill>
                <a:latin typeface="Calibri"/>
              </a:rPr>
              <a:t>Dedicated Roles: </a:t>
            </a:r>
            <a:r>
              <a:rPr sz="1150">
                <a:solidFill>
                  <a:srgbClr val="E2E8F0"/>
                </a:solidFill>
                <a:latin typeface="Calibri"/>
              </a:rPr>
              <a:t>Tailored screens for Paramedics (tablet vitals), Nurses (bay &amp; blood lock), and Doctors (directives).</a:t>
            </a:r>
          </a:p>
          <a:p>
            <a:pPr>
              <a:spcAft>
                <a:spcPts val="600"/>
              </a:spcAft>
            </a:pPr>
            <a:r>
              <a:rPr b="1" sz="1200">
                <a:solidFill>
                  <a:srgbClr val="FFFFFF"/>
                </a:solidFill>
                <a:latin typeface="Calibri"/>
              </a:rPr>
              <a:t>Offline Resilience: </a:t>
            </a:r>
            <a:r>
              <a:rPr sz="1150">
                <a:solidFill>
                  <a:srgbClr val="E2E8F0"/>
                </a:solidFill>
                <a:latin typeface="Calibri"/>
              </a:rPr>
              <a:t>In-vehicle SQLite database saves vitals in 0.024 ms during cellular dead zones with zero data loss.</a:t>
            </a:r>
          </a:p>
          <a:p>
            <a:pPr>
              <a:spcAft>
                <a:spcPts val="600"/>
              </a:spcAft>
            </a:pPr>
            <a:r>
              <a:rPr b="1" sz="1200">
                <a:solidFill>
                  <a:srgbClr val="FFFFFF"/>
                </a:solidFill>
                <a:latin typeface="Calibri"/>
              </a:rPr>
              <a:t>100% Free Open-Source: </a:t>
            </a:r>
            <a:r>
              <a:rPr sz="1150">
                <a:solidFill>
                  <a:srgbClr val="E2E8F0"/>
                </a:solidFill>
                <a:latin typeface="Calibri"/>
              </a:rPr>
              <a:t>Runs on free open tools: OpenStreetMap replaces Google Maps; local AI replaces cloud APIs.</a:t>
            </a:r>
          </a:p>
        </p:txBody>
      </p:sp>
      <p:sp>
        <p:nvSpPr>
          <p:cNvPr id="7" name="Rounded Rectangle 6"/>
          <p:cNvSpPr/>
          <p:nvPr/>
        </p:nvSpPr>
        <p:spPr>
          <a:xfrm>
            <a:off x="6126480" y="2240280"/>
            <a:ext cx="5516575" cy="2514600"/>
          </a:xfrm>
          <a:prstGeom prst="roundRect">
            <a:avLst>
              <a:gd name="adj" fmla="val 2500"/>
            </a:avLst>
          </a:prstGeom>
          <a:solidFill>
            <a:srgbClr val="132247"/>
          </a:solidFill>
          <a:ln w="15240">
            <a:solidFill>
              <a:srgbClr val="2C4A87"/>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46304"/>
          <a:lstStyle/>
          <a:p>
            <a:pPr algn="ctr">
              <a:spcAft>
                <a:spcPts val="700"/>
              </a:spcAft>
              <a:defRPr sz="1500" b="1">
                <a:solidFill>
                  <a:srgbClr val="00E676"/>
                </a:solidFill>
                <a:latin typeface="Calibri"/>
              </a:defRPr>
            </a:pPr>
            <a:r>
              <a:t>Project Team Details &amp; Role Contributions</a:t>
            </a:r>
          </a:p>
          <a:p>
            <a:pPr>
              <a:spcAft>
                <a:spcPts val="500"/>
              </a:spcAft>
            </a:pPr>
            <a:r>
              <a:rPr b="1" sz="1100">
                <a:solidFill>
                  <a:srgbClr val="FFFFFF"/>
                </a:solidFill>
                <a:latin typeface="Calibri"/>
              </a:rPr>
              <a:t>Frontend Developer: </a:t>
            </a:r>
            <a:r>
              <a:rPr sz="1050">
                <a:solidFill>
                  <a:srgbClr val="E2E8F0"/>
                </a:solidFill>
                <a:latin typeface="Calibri"/>
              </a:rPr>
              <a:t>VEERAPANENI SREYA ANGELIN — Roll: 2300030976 (React Dashboard, Hospital Console, Citizen SOS)</a:t>
            </a:r>
          </a:p>
          <a:p>
            <a:pPr>
              <a:spcAft>
                <a:spcPts val="500"/>
              </a:spcAft>
            </a:pPr>
            <a:r>
              <a:rPr b="1" sz="1100">
                <a:solidFill>
                  <a:srgbClr val="FFFFFF"/>
                </a:solidFill>
                <a:latin typeface="Calibri"/>
              </a:rPr>
              <a:t>AI / ML Engineer: </a:t>
            </a:r>
            <a:r>
              <a:rPr sz="1050">
                <a:solidFill>
                  <a:srgbClr val="E2E8F0"/>
                </a:solidFill>
                <a:latin typeface="Calibri"/>
              </a:rPr>
              <a:t>GURRAM SANJANA RAJENDRARAO — Roll: 2300033593 (Python AI Service, Vital Forecasting, Vision)</a:t>
            </a:r>
          </a:p>
          <a:p>
            <a:pPr>
              <a:spcAft>
                <a:spcPts val="500"/>
              </a:spcAft>
            </a:pPr>
            <a:r>
              <a:rPr b="1" sz="1100">
                <a:solidFill>
                  <a:srgbClr val="FFFFFF"/>
                </a:solidFill>
                <a:latin typeface="Calibri"/>
              </a:rPr>
              <a:t>Backend Developer &amp; Edge &amp; Mobile Dev: </a:t>
            </a:r>
            <a:r>
              <a:rPr sz="1050">
                <a:solidFill>
                  <a:srgbClr val="E2E8F0"/>
                </a:solidFill>
                <a:latin typeface="Calibri"/>
              </a:rPr>
              <a:t>GURRAM NISHANT RAJENDRARAO — Roll: 2300033592 (Spring Boot Core, MySQL, Decision Engine, Android Telemetry App, SQLite Edge Buffer)</a:t>
            </a:r>
          </a:p>
        </p:txBody>
      </p:sp>
      <p:sp>
        <p:nvSpPr>
          <p:cNvPr id="8" name="Rounded Rectangle 7"/>
          <p:cNvSpPr/>
          <p:nvPr/>
        </p:nvSpPr>
        <p:spPr>
          <a:xfrm>
            <a:off x="6126480" y="4892040"/>
            <a:ext cx="5516575" cy="1508760"/>
          </a:xfrm>
          <a:prstGeom prst="roundRect">
            <a:avLst>
              <a:gd name="adj" fmla="val 2500"/>
            </a:avLst>
          </a:prstGeom>
          <a:solidFill>
            <a:srgbClr val="132247"/>
          </a:solidFill>
          <a:ln w="15240">
            <a:solidFill>
              <a:srgbClr val="2C4A87"/>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46304"/>
          <a:lstStyle/>
          <a:p>
            <a:pPr algn="ctr">
              <a:spcAft>
                <a:spcPts val="600"/>
              </a:spcAft>
              <a:defRPr sz="1500" b="1">
                <a:solidFill>
                  <a:srgbClr val="FFD700"/>
                </a:solidFill>
                <a:latin typeface="Calibri"/>
              </a:defRPr>
            </a:pPr>
            <a:r>
              <a:t>Faculty Supervision &amp; Department</a:t>
            </a:r>
          </a:p>
          <a:p>
            <a:pPr>
              <a:spcAft>
                <a:spcPts val="400"/>
              </a:spcAft>
            </a:pPr>
            <a:r>
              <a:rPr b="1" sz="1150">
                <a:solidFill>
                  <a:srgbClr val="FFFFFF"/>
                </a:solidFill>
                <a:latin typeface="Calibri"/>
              </a:rPr>
              <a:t>Project Supervisor: </a:t>
            </a:r>
            <a:r>
              <a:rPr sz="1100">
                <a:solidFill>
                  <a:srgbClr val="E2E8F0"/>
                </a:solidFill>
                <a:latin typeface="Calibri"/>
              </a:rPr>
              <a:t>Dr. Gogineni Krishna Chaitanya</a:t>
            </a:r>
          </a:p>
          <a:p>
            <a:pPr>
              <a:spcAft>
                <a:spcPts val="400"/>
              </a:spcAft>
            </a:pPr>
            <a:r>
              <a:rPr b="1" sz="1150">
                <a:solidFill>
                  <a:srgbClr val="FFFFFF"/>
                </a:solidFill>
                <a:latin typeface="Calibri"/>
              </a:rPr>
              <a:t>Department: </a:t>
            </a:r>
            <a:r>
              <a:rPr sz="1100">
                <a:solidFill>
                  <a:srgbClr val="E2E8F0"/>
                </a:solidFill>
                <a:latin typeface="Calibri"/>
              </a:rPr>
              <a:t>Department of Computer Science &amp; Engineering [HTE]</a:t>
            </a:r>
          </a:p>
          <a:p>
            <a:pPr>
              <a:spcAft>
                <a:spcPts val="400"/>
              </a:spcAft>
            </a:pPr>
            <a:r>
              <a:rPr b="1" sz="1150">
                <a:solidFill>
                  <a:srgbClr val="FFFFFF"/>
                </a:solidFill>
                <a:latin typeface="Calibri"/>
              </a:rPr>
              <a:t>Evaluation Stage: </a:t>
            </a:r>
            <a:r>
              <a:rPr sz="1100">
                <a:solidFill>
                  <a:srgbClr val="E2E8F0"/>
                </a:solidFill>
                <a:latin typeface="Calibri"/>
              </a:rPr>
              <a:t>Capstone Project-1 — Review-2 (Working Code, Testing &amp; System Integration)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11094415" cy="1078992"/>
          </a:xfrm>
          <a:prstGeom prst="rect">
            <a:avLst/>
          </a:prstGeom>
          <a:solidFill>
            <a:srgbClr val="132247"/>
          </a:solidFill>
          <a:ln w="12700">
            <a:solidFill>
              <a:srgbClr val="2C4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402336"/>
            <a:ext cx="4389120" cy="256032"/>
          </a:xfrm>
          <a:prstGeom prst="roundRect">
            <a:avLst>
              <a:gd name="adj" fmla="val 20000"/>
            </a:avLst>
          </a:prstGeom>
          <a:solidFill>
            <a:srgbClr val="1B2D5C"/>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950" b="1">
                <a:solidFill>
                  <a:srgbClr val="00E5FF"/>
                </a:solidFill>
                <a:latin typeface="Calibri"/>
              </a:defRPr>
            </a:pPr>
            <a:r>
              <a:t>RUBRIC 2: PROBLEM STATEMENT &amp; REAL-WORLD NEED</a:t>
            </a:r>
          </a:p>
        </p:txBody>
      </p:sp>
      <p:sp>
        <p:nvSpPr>
          <p:cNvPr id="5" name="TextBox 4"/>
          <p:cNvSpPr txBox="1"/>
          <p:nvPr/>
        </p:nvSpPr>
        <p:spPr>
          <a:xfrm>
            <a:off x="731520" y="667512"/>
            <a:ext cx="10698480" cy="384048"/>
          </a:xfrm>
          <a:prstGeom prst="rect">
            <a:avLst/>
          </a:prstGeom>
          <a:noFill/>
        </p:spPr>
        <p:txBody>
          <a:bodyPr wrap="square" lIns="0" tIns="0" rIns="0" bIns="0">
            <a:spAutoFit/>
          </a:bodyPr>
          <a:lstStyle/>
          <a:p>
            <a:pPr>
              <a:defRPr sz="1900" b="1">
                <a:solidFill>
                  <a:srgbClr val="FFFFFF"/>
                </a:solidFill>
                <a:latin typeface="Calibri"/>
              </a:defRPr>
            </a:pPr>
            <a:r>
              <a:t>The Emergency Problem: Why Today's Ambulance Dispatch Fails</a:t>
            </a:r>
          </a:p>
        </p:txBody>
      </p:sp>
      <p:sp>
        <p:nvSpPr>
          <p:cNvPr id="6" name="TextBox 5"/>
          <p:cNvSpPr txBox="1"/>
          <p:nvPr/>
        </p:nvSpPr>
        <p:spPr>
          <a:xfrm>
            <a:off x="731520" y="1069848"/>
            <a:ext cx="10698480" cy="274320"/>
          </a:xfrm>
          <a:prstGeom prst="rect">
            <a:avLst/>
          </a:prstGeom>
          <a:noFill/>
        </p:spPr>
        <p:txBody>
          <a:bodyPr wrap="square" lIns="0" tIns="0" rIns="0" bIns="0">
            <a:spAutoFit/>
          </a:bodyPr>
          <a:lstStyle/>
          <a:p>
            <a:pPr>
              <a:defRPr sz="1100">
                <a:solidFill>
                  <a:srgbClr val="00E5FF"/>
                </a:solidFill>
                <a:latin typeface="Calibri"/>
              </a:defRPr>
            </a:pPr>
            <a:r>
              <a:t>The first 60 minutes ('The Golden Hour') determine survival, but ambulances, citizens, and hospitals are disconnected</a:t>
            </a:r>
          </a:p>
        </p:txBody>
      </p:sp>
      <p:sp>
        <p:nvSpPr>
          <p:cNvPr id="7" name="TextBox 6"/>
          <p:cNvSpPr txBox="1"/>
          <p:nvPr/>
        </p:nvSpPr>
        <p:spPr>
          <a:xfrm>
            <a:off x="548640" y="6510528"/>
            <a:ext cx="9601200" cy="256032"/>
          </a:xfrm>
          <a:prstGeom prst="rect">
            <a:avLst/>
          </a:prstGeom>
          <a:noFill/>
        </p:spPr>
        <p:txBody>
          <a:bodyPr wrap="none" lIns="0" tIns="0" rIns="0" bIns="0">
            <a:spAutoFit/>
          </a:bodyPr>
          <a:lstStyle/>
          <a:p>
            <a:pPr>
              <a:defRPr sz="900">
                <a:solidFill>
                  <a:srgbClr val="94A3B8"/>
                </a:solidFill>
                <a:latin typeface="Calibri"/>
              </a:defRPr>
            </a:pPr>
            <a:r>
              <a:t>LifeFlow AI — Predictive Emergency Healthcare Digital Twin Platform  |  Capstone Project-1 Review-2</a:t>
            </a:r>
          </a:p>
        </p:txBody>
      </p:sp>
      <p:sp>
        <p:nvSpPr>
          <p:cNvPr id="8" name="TextBox 7"/>
          <p:cNvSpPr txBox="1"/>
          <p:nvPr/>
        </p:nvSpPr>
        <p:spPr>
          <a:xfrm>
            <a:off x="10515600" y="6510528"/>
            <a:ext cx="1127455" cy="256032"/>
          </a:xfrm>
          <a:prstGeom prst="rect">
            <a:avLst/>
          </a:prstGeom>
          <a:noFill/>
        </p:spPr>
        <p:txBody>
          <a:bodyPr wrap="none" lIns="0" tIns="0" rIns="0" bIns="0">
            <a:spAutoFit/>
          </a:bodyPr>
          <a:lstStyle/>
          <a:p>
            <a:pPr algn="r">
              <a:defRPr sz="950" b="1">
                <a:solidFill>
                  <a:srgbClr val="00E5FF"/>
                </a:solidFill>
                <a:latin typeface="Calibri"/>
              </a:defRPr>
            </a:pPr>
            <a:r>
              <a:t>Slide 2 of 27</a:t>
            </a:r>
          </a:p>
        </p:txBody>
      </p:sp>
      <p:sp>
        <p:nvSpPr>
          <p:cNvPr id="9" name="Rounded Rectangle 8"/>
          <p:cNvSpPr/>
          <p:nvPr/>
        </p:nvSpPr>
        <p:spPr>
          <a:xfrm>
            <a:off x="548640" y="1508760"/>
            <a:ext cx="3566160" cy="3429000"/>
          </a:xfrm>
          <a:prstGeom prst="roundRect">
            <a:avLst>
              <a:gd name="adj" fmla="val 2500"/>
            </a:avLst>
          </a:prstGeom>
          <a:solidFill>
            <a:srgbClr val="132247"/>
          </a:solidFill>
          <a:ln w="15240">
            <a:solidFill>
              <a:srgbClr val="2C4A87"/>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46304"/>
          <a:lstStyle/>
          <a:p>
            <a:pPr algn="ctr">
              <a:spcAft>
                <a:spcPts val="800"/>
              </a:spcAft>
              <a:defRPr sz="1500" b="1">
                <a:solidFill>
                  <a:srgbClr val="FF5252"/>
                </a:solidFill>
                <a:latin typeface="Calibri"/>
              </a:defRPr>
            </a:pPr>
            <a:r>
              <a:t>1. Ambulances Drive Blind</a:t>
            </a:r>
          </a:p>
          <a:p>
            <a:pPr>
              <a:spcAft>
                <a:spcPts val="600"/>
              </a:spcAft>
            </a:pPr>
            <a:r>
              <a:rPr b="1" sz="1200">
                <a:solidFill>
                  <a:srgbClr val="FFFFFF"/>
                </a:solidFill>
                <a:latin typeface="Calibri"/>
              </a:rPr>
              <a:t>No Live Insight: </a:t>
            </a:r>
            <a:r>
              <a:rPr sz="1150">
                <a:solidFill>
                  <a:srgbClr val="E2E8F0"/>
                </a:solidFill>
                <a:latin typeface="Calibri"/>
              </a:rPr>
              <a:t>Paramedics cannot see open ICU beds, trauma bays, or on-duty surgeons during transit.</a:t>
            </a:r>
          </a:p>
          <a:p>
            <a:pPr>
              <a:spcAft>
                <a:spcPts val="600"/>
              </a:spcAft>
            </a:pPr>
            <a:r>
              <a:rPr b="1" sz="1200">
                <a:solidFill>
                  <a:srgbClr val="FFFFFF"/>
                </a:solidFill>
                <a:latin typeface="Calibri"/>
              </a:rPr>
              <a:t>Voice Radios Congested: </a:t>
            </a:r>
            <a:r>
              <a:rPr sz="1150">
                <a:solidFill>
                  <a:srgbClr val="E2E8F0"/>
                </a:solidFill>
                <a:latin typeface="Calibri"/>
              </a:rPr>
              <a:t>Crews rely on voice calls and radios, which are slow and prone to stress errors.</a:t>
            </a:r>
          </a:p>
          <a:p>
            <a:pPr>
              <a:spcAft>
                <a:spcPts val="600"/>
              </a:spcAft>
            </a:pPr>
            <a:r>
              <a:rPr b="1" sz="1200">
                <a:solidFill>
                  <a:srgbClr val="FFFFFF"/>
                </a:solidFill>
                <a:latin typeface="Calibri"/>
              </a:rPr>
              <a:t>Fatal Clinic Mismatch: </a:t>
            </a:r>
            <a:r>
              <a:rPr sz="1150">
                <a:solidFill>
                  <a:srgbClr val="E2E8F0"/>
                </a:solidFill>
                <a:latin typeface="Calibri"/>
              </a:rPr>
              <a:t>Severe trauma patients are rushed to local clinics lacking surgical facilities.</a:t>
            </a:r>
          </a:p>
        </p:txBody>
      </p:sp>
      <p:sp>
        <p:nvSpPr>
          <p:cNvPr id="10" name="Rounded Rectangle 9"/>
          <p:cNvSpPr/>
          <p:nvPr/>
        </p:nvSpPr>
        <p:spPr>
          <a:xfrm>
            <a:off x="4297680" y="1508760"/>
            <a:ext cx="3566160" cy="3429000"/>
          </a:xfrm>
          <a:prstGeom prst="roundRect">
            <a:avLst>
              <a:gd name="adj" fmla="val 2500"/>
            </a:avLst>
          </a:prstGeom>
          <a:solidFill>
            <a:srgbClr val="132247"/>
          </a:solidFill>
          <a:ln w="15240">
            <a:solidFill>
              <a:srgbClr val="2C4A87"/>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46304"/>
          <a:lstStyle/>
          <a:p>
            <a:pPr algn="ctr">
              <a:spcAft>
                <a:spcPts val="800"/>
              </a:spcAft>
              <a:defRPr sz="1500" b="1">
                <a:solidFill>
                  <a:srgbClr val="FFD700"/>
                </a:solidFill>
                <a:latin typeface="Calibri"/>
              </a:defRPr>
            </a:pPr>
            <a:r>
              <a:t>2. Hospitals Are Surprised</a:t>
            </a:r>
          </a:p>
          <a:p>
            <a:pPr>
              <a:spcAft>
                <a:spcPts val="600"/>
              </a:spcAft>
            </a:pPr>
            <a:r>
              <a:rPr b="1" sz="1200">
                <a:solidFill>
                  <a:srgbClr val="FFFFFF"/>
                </a:solidFill>
                <a:latin typeface="Calibri"/>
              </a:rPr>
              <a:t>Zero En-Route Vitals: </a:t>
            </a:r>
            <a:r>
              <a:rPr sz="1150">
                <a:solidFill>
                  <a:srgbClr val="E2E8F0"/>
                </a:solidFill>
                <a:latin typeface="Calibri"/>
              </a:rPr>
              <a:t>Emergency doctors receive no live telemetry while the ambulance travels.</a:t>
            </a:r>
          </a:p>
          <a:p>
            <a:pPr>
              <a:spcAft>
                <a:spcPts val="600"/>
              </a:spcAft>
            </a:pPr>
            <a:r>
              <a:rPr b="1" sz="1200">
                <a:solidFill>
                  <a:srgbClr val="FFFFFF"/>
                </a:solidFill>
                <a:latin typeface="Calibri"/>
              </a:rPr>
              <a:t>Sudden Patient Crashes: </a:t>
            </a:r>
            <a:r>
              <a:rPr sz="1150">
                <a:solidFill>
                  <a:srgbClr val="E2E8F0"/>
                </a:solidFill>
                <a:latin typeface="Calibri"/>
              </a:rPr>
              <a:t>Doctors discover vital deterioration only after the vehicle arrives.</a:t>
            </a:r>
          </a:p>
          <a:p>
            <a:pPr>
              <a:spcAft>
                <a:spcPts val="600"/>
              </a:spcAft>
            </a:pPr>
            <a:r>
              <a:rPr b="1" sz="1200">
                <a:solidFill>
                  <a:srgbClr val="FFFFFF"/>
                </a:solidFill>
                <a:latin typeface="Calibri"/>
              </a:rPr>
              <a:t>Delayed Resuscitation: </a:t>
            </a:r>
            <a:r>
              <a:rPr sz="1150">
                <a:solidFill>
                  <a:srgbClr val="E2E8F0"/>
                </a:solidFill>
                <a:latin typeface="Calibri"/>
              </a:rPr>
              <a:t>Trauma surgeons and blood suites take 15-20 min to mobilize reactively.</a:t>
            </a:r>
          </a:p>
        </p:txBody>
      </p:sp>
      <p:sp>
        <p:nvSpPr>
          <p:cNvPr id="11" name="Rounded Rectangle 10"/>
          <p:cNvSpPr/>
          <p:nvPr/>
        </p:nvSpPr>
        <p:spPr>
          <a:xfrm>
            <a:off x="8046720" y="1508760"/>
            <a:ext cx="3596335" cy="3429000"/>
          </a:xfrm>
          <a:prstGeom prst="roundRect">
            <a:avLst>
              <a:gd name="adj" fmla="val 2500"/>
            </a:avLst>
          </a:prstGeom>
          <a:solidFill>
            <a:srgbClr val="132247"/>
          </a:solidFill>
          <a:ln w="15240">
            <a:solidFill>
              <a:srgbClr val="2C4A87"/>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46304"/>
          <a:lstStyle/>
          <a:p>
            <a:pPr algn="ctr">
              <a:spcAft>
                <a:spcPts val="800"/>
              </a:spcAft>
              <a:defRPr sz="1500" b="1">
                <a:solidFill>
                  <a:srgbClr val="FF5252"/>
                </a:solidFill>
                <a:latin typeface="Calibri"/>
              </a:defRPr>
            </a:pPr>
            <a:r>
              <a:t>3. The 'Nearest Hospital' Trap</a:t>
            </a:r>
          </a:p>
          <a:p>
            <a:pPr>
              <a:spcAft>
                <a:spcPts val="600"/>
              </a:spcAft>
            </a:pPr>
            <a:r>
              <a:rPr b="1" sz="1200">
                <a:solidFill>
                  <a:srgbClr val="FFFFFF"/>
                </a:solidFill>
                <a:latin typeface="Calibri"/>
              </a:rPr>
              <a:t>Geographic Blindness: </a:t>
            </a:r>
            <a:r>
              <a:rPr sz="1150">
                <a:solidFill>
                  <a:srgbClr val="E2E8F0"/>
                </a:solidFill>
                <a:latin typeface="Calibri"/>
              </a:rPr>
              <a:t>Legacy 911 routes strictly to the nearest facility by raw straight-line distance.</a:t>
            </a:r>
          </a:p>
          <a:p>
            <a:pPr>
              <a:spcAft>
                <a:spcPts val="600"/>
              </a:spcAft>
            </a:pPr>
            <a:r>
              <a:rPr b="1" sz="1200">
                <a:solidFill>
                  <a:srgbClr val="FFFFFF"/>
                </a:solidFill>
                <a:latin typeface="Calibri"/>
              </a:rPr>
              <a:t>Secondary Transfers: </a:t>
            </a:r>
            <a:r>
              <a:rPr sz="1150">
                <a:solidFill>
                  <a:srgbClr val="E2E8F0"/>
                </a:solidFill>
                <a:latin typeface="Calibri"/>
              </a:rPr>
              <a:t>Sending severe trauma to local clinics forces an emergency 2nd transfer.</a:t>
            </a:r>
          </a:p>
          <a:p>
            <a:pPr>
              <a:spcAft>
                <a:spcPts val="600"/>
              </a:spcAft>
            </a:pPr>
            <a:r>
              <a:rPr b="1" sz="1200">
                <a:solidFill>
                  <a:srgbClr val="FFFFFF"/>
                </a:solidFill>
                <a:latin typeface="Calibri"/>
              </a:rPr>
              <a:t>25% Mortality Penalty: </a:t>
            </a:r>
            <a:r>
              <a:rPr sz="1150">
                <a:solidFill>
                  <a:srgbClr val="E2E8F0"/>
                </a:solidFill>
                <a:latin typeface="Calibri"/>
              </a:rPr>
              <a:t>Literature proves secondary transfers waste 40+ min and raise mortality by 25%.</a:t>
            </a:r>
          </a:p>
        </p:txBody>
      </p:sp>
      <p:sp>
        <p:nvSpPr>
          <p:cNvPr id="12" name="Rounded Rectangle 11"/>
          <p:cNvSpPr/>
          <p:nvPr/>
        </p:nvSpPr>
        <p:spPr>
          <a:xfrm>
            <a:off x="548640" y="5074920"/>
            <a:ext cx="11094415" cy="1280160"/>
          </a:xfrm>
          <a:prstGeom prst="roundRect">
            <a:avLst>
              <a:gd name="adj" fmla="val 2000"/>
            </a:avLst>
          </a:prstGeom>
          <a:solidFill>
            <a:srgbClr val="1B2D5C"/>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t" wrap="square" lIns="201168" rIns="201168" tIns="128016"/>
          <a:lstStyle/>
          <a:p>
            <a:pPr algn="ctr">
              <a:spcAft>
                <a:spcPts val="400"/>
              </a:spcAft>
              <a:defRPr b="1" sz="1150">
                <a:solidFill>
                  <a:srgbClr val="00E5FF"/>
                </a:solidFill>
              </a:defRPr>
            </a:pPr>
            <a:r>
              <a:t>THE CORE CLINICAL CHALLENGE WE ARE SOLVING:</a:t>
            </a:r>
          </a:p>
          <a:p>
            <a:pPr>
              <a:defRPr sz="1100">
                <a:solidFill>
                  <a:srgbClr val="FFFFFF"/>
                </a:solidFill>
              </a:defRPr>
            </a:pPr>
            <a:r>
              <a:t>Emergency healthcare suffers from fragmented communication: citizens struggle to report incidents without mobile data, paramedics lack live hospital capacity data, and emergency doctors receive zero advance warning. LifeFlow AI unifies Citizens, Ambulances, Nurses, and Specialist Doctors into one synchronized digital twin platform.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11094415" cy="1078992"/>
          </a:xfrm>
          <a:prstGeom prst="rect">
            <a:avLst/>
          </a:prstGeom>
          <a:solidFill>
            <a:srgbClr val="132247"/>
          </a:solidFill>
          <a:ln w="12700">
            <a:solidFill>
              <a:srgbClr val="2C4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402336"/>
            <a:ext cx="4389120" cy="256032"/>
          </a:xfrm>
          <a:prstGeom prst="roundRect">
            <a:avLst>
              <a:gd name="adj" fmla="val 20000"/>
            </a:avLst>
          </a:prstGeom>
          <a:solidFill>
            <a:srgbClr val="1B2D5C"/>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950" b="1">
                <a:solidFill>
                  <a:srgbClr val="00E5FF"/>
                </a:solidFill>
                <a:latin typeface="Calibri"/>
              </a:defRPr>
            </a:pPr>
            <a:r>
              <a:t>RUBRIC 2: RESEARCH OBJECTIVES</a:t>
            </a:r>
          </a:p>
        </p:txBody>
      </p:sp>
      <p:sp>
        <p:nvSpPr>
          <p:cNvPr id="5" name="TextBox 4"/>
          <p:cNvSpPr txBox="1"/>
          <p:nvPr/>
        </p:nvSpPr>
        <p:spPr>
          <a:xfrm>
            <a:off x="731520" y="667512"/>
            <a:ext cx="10698480" cy="384048"/>
          </a:xfrm>
          <a:prstGeom prst="rect">
            <a:avLst/>
          </a:prstGeom>
          <a:noFill/>
        </p:spPr>
        <p:txBody>
          <a:bodyPr wrap="square" lIns="0" tIns="0" rIns="0" bIns="0">
            <a:spAutoFit/>
          </a:bodyPr>
          <a:lstStyle/>
          <a:p>
            <a:pPr>
              <a:defRPr sz="1900" b="1">
                <a:solidFill>
                  <a:srgbClr val="FFFFFF"/>
                </a:solidFill>
                <a:latin typeface="Calibri"/>
              </a:defRPr>
            </a:pPr>
            <a:r>
              <a:t>Project Objectives — What We Set Out to Build</a:t>
            </a:r>
          </a:p>
        </p:txBody>
      </p:sp>
      <p:sp>
        <p:nvSpPr>
          <p:cNvPr id="6" name="TextBox 5"/>
          <p:cNvSpPr txBox="1"/>
          <p:nvPr/>
        </p:nvSpPr>
        <p:spPr>
          <a:xfrm>
            <a:off x="731520" y="1069848"/>
            <a:ext cx="10698480" cy="274320"/>
          </a:xfrm>
          <a:prstGeom prst="rect">
            <a:avLst/>
          </a:prstGeom>
          <a:noFill/>
        </p:spPr>
        <p:txBody>
          <a:bodyPr wrap="square" lIns="0" tIns="0" rIns="0" bIns="0">
            <a:spAutoFit/>
          </a:bodyPr>
          <a:lstStyle/>
          <a:p>
            <a:pPr>
              <a:defRPr sz="1100">
                <a:solidFill>
                  <a:srgbClr val="00E5FF"/>
                </a:solidFill>
                <a:latin typeface="Calibri"/>
              </a:defRPr>
            </a:pPr>
            <a:r>
              <a:t>Clear, measurable engineering goals for building the LifeFlow AI pre-hospital platform</a:t>
            </a:r>
          </a:p>
        </p:txBody>
      </p:sp>
      <p:sp>
        <p:nvSpPr>
          <p:cNvPr id="7" name="TextBox 6"/>
          <p:cNvSpPr txBox="1"/>
          <p:nvPr/>
        </p:nvSpPr>
        <p:spPr>
          <a:xfrm>
            <a:off x="548640" y="6510528"/>
            <a:ext cx="9601200" cy="256032"/>
          </a:xfrm>
          <a:prstGeom prst="rect">
            <a:avLst/>
          </a:prstGeom>
          <a:noFill/>
        </p:spPr>
        <p:txBody>
          <a:bodyPr wrap="none" lIns="0" tIns="0" rIns="0" bIns="0">
            <a:spAutoFit/>
          </a:bodyPr>
          <a:lstStyle/>
          <a:p>
            <a:pPr>
              <a:defRPr sz="900">
                <a:solidFill>
                  <a:srgbClr val="94A3B8"/>
                </a:solidFill>
                <a:latin typeface="Calibri"/>
              </a:defRPr>
            </a:pPr>
            <a:r>
              <a:t>LifeFlow AI — Predictive Emergency Healthcare Digital Twin Platform  |  Capstone Project-1 Review-2</a:t>
            </a:r>
          </a:p>
        </p:txBody>
      </p:sp>
      <p:sp>
        <p:nvSpPr>
          <p:cNvPr id="8" name="TextBox 7"/>
          <p:cNvSpPr txBox="1"/>
          <p:nvPr/>
        </p:nvSpPr>
        <p:spPr>
          <a:xfrm>
            <a:off x="10515600" y="6510528"/>
            <a:ext cx="1127455" cy="256032"/>
          </a:xfrm>
          <a:prstGeom prst="rect">
            <a:avLst/>
          </a:prstGeom>
          <a:noFill/>
        </p:spPr>
        <p:txBody>
          <a:bodyPr wrap="none" lIns="0" tIns="0" rIns="0" bIns="0">
            <a:spAutoFit/>
          </a:bodyPr>
          <a:lstStyle/>
          <a:p>
            <a:pPr algn="r">
              <a:defRPr sz="950" b="1">
                <a:solidFill>
                  <a:srgbClr val="00E5FF"/>
                </a:solidFill>
                <a:latin typeface="Calibri"/>
              </a:defRPr>
            </a:pPr>
            <a:r>
              <a:t>Slide 3 of 27</a:t>
            </a:r>
          </a:p>
        </p:txBody>
      </p:sp>
      <p:sp>
        <p:nvSpPr>
          <p:cNvPr id="9" name="Rounded Rectangle 8"/>
          <p:cNvSpPr/>
          <p:nvPr/>
        </p:nvSpPr>
        <p:spPr>
          <a:xfrm>
            <a:off x="548640" y="1508760"/>
            <a:ext cx="5394960" cy="4754880"/>
          </a:xfrm>
          <a:prstGeom prst="roundRect">
            <a:avLst>
              <a:gd name="adj" fmla="val 2500"/>
            </a:avLst>
          </a:prstGeom>
          <a:solidFill>
            <a:srgbClr val="132247"/>
          </a:solidFill>
          <a:ln w="15240">
            <a:solidFill>
              <a:srgbClr val="2C4A87"/>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46304"/>
          <a:lstStyle/>
          <a:p>
            <a:pPr algn="ctr">
              <a:spcAft>
                <a:spcPts val="1000"/>
              </a:spcAft>
              <a:defRPr sz="1600" b="1">
                <a:solidFill>
                  <a:srgbClr val="00E5FF"/>
                </a:solidFill>
                <a:latin typeface="Calibri"/>
              </a:defRPr>
            </a:pPr>
            <a:r>
              <a:t>Technical &amp; Intake Objectives</a:t>
            </a:r>
          </a:p>
          <a:p>
            <a:pPr>
              <a:spcAft>
                <a:spcPts val="800"/>
              </a:spcAft>
            </a:pPr>
            <a:r>
              <a:rPr b="1" sz="1200">
                <a:solidFill>
                  <a:srgbClr val="FFFFFF"/>
                </a:solidFill>
                <a:latin typeface="Calibri"/>
              </a:rPr>
              <a:t>Objective 1: Dual-Channel SOS Intake: </a:t>
            </a:r>
            <a:r>
              <a:rPr sz="1150">
                <a:solidFill>
                  <a:srgbClr val="E2E8F0"/>
                </a:solidFill>
                <a:latin typeface="Calibri"/>
              </a:rPr>
              <a:t>Build an incident intake system where citizens report emergencies via web GPS mapping or via offline 2G/GSM SMS &amp; calls (7249505296) when mobile data is dead.</a:t>
            </a:r>
          </a:p>
          <a:p>
            <a:pPr>
              <a:spcAft>
                <a:spcPts val="800"/>
              </a:spcAft>
            </a:pPr>
            <a:r>
              <a:rPr b="1" sz="1200">
                <a:solidFill>
                  <a:srgbClr val="FFFFFF"/>
                </a:solidFill>
                <a:latin typeface="Calibri"/>
              </a:rPr>
              <a:t>Objective 2: Dedicated Role Workflows: </a:t>
            </a:r>
            <a:r>
              <a:rPr sz="1150">
                <a:solidFill>
                  <a:srgbClr val="E2E8F0"/>
                </a:solidFill>
                <a:latin typeface="Calibri"/>
              </a:rPr>
              <a:t>Implement tailored interfaces for 4 healthcare roles: Paramedic tablet with vitals, Triage Nurse console with bed/blood reservations, Doctor console with medical directives, and Central Dispatch.</a:t>
            </a:r>
          </a:p>
          <a:p>
            <a:pPr>
              <a:spcAft>
                <a:spcPts val="800"/>
              </a:spcAft>
            </a:pPr>
            <a:r>
              <a:rPr b="1" sz="1200">
                <a:solidFill>
                  <a:srgbClr val="FFFFFF"/>
                </a:solidFill>
                <a:latin typeface="Calibri"/>
              </a:rPr>
              <a:t>Objective 3: Android Telemetry &amp; Edge Buffer: </a:t>
            </a:r>
            <a:r>
              <a:rPr sz="1150">
                <a:solidFill>
                  <a:srgbClr val="E2E8F0"/>
                </a:solidFill>
                <a:latin typeface="Calibri"/>
              </a:rPr>
              <a:t>Build an Android sensing app (GPS, accelerometer, battery) and an edge gateway buffering 10 medical devices in SQLite WAL mode (0.024 ms write time) during cellular blackouts.</a:t>
            </a:r>
          </a:p>
        </p:txBody>
      </p:sp>
      <p:sp>
        <p:nvSpPr>
          <p:cNvPr id="10" name="Rounded Rectangle 9"/>
          <p:cNvSpPr/>
          <p:nvPr/>
        </p:nvSpPr>
        <p:spPr>
          <a:xfrm>
            <a:off x="6126480" y="1508760"/>
            <a:ext cx="5516575" cy="4754880"/>
          </a:xfrm>
          <a:prstGeom prst="roundRect">
            <a:avLst>
              <a:gd name="adj" fmla="val 2500"/>
            </a:avLst>
          </a:prstGeom>
          <a:solidFill>
            <a:srgbClr val="132247"/>
          </a:solidFill>
          <a:ln w="15240">
            <a:solidFill>
              <a:srgbClr val="2C4A87"/>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46304"/>
          <a:lstStyle/>
          <a:p>
            <a:pPr algn="ctr">
              <a:spcAft>
                <a:spcPts val="1000"/>
              </a:spcAft>
              <a:defRPr sz="1600" b="1">
                <a:solidFill>
                  <a:srgbClr val="00E676"/>
                </a:solidFill>
                <a:latin typeface="Calibri"/>
              </a:defRPr>
            </a:pPr>
            <a:r>
              <a:t>Intelligence, Triage &amp; Cost Objectives</a:t>
            </a:r>
          </a:p>
          <a:p>
            <a:pPr>
              <a:spcAft>
                <a:spcPts val="800"/>
              </a:spcAft>
            </a:pPr>
            <a:r>
              <a:rPr b="1" sz="1200">
                <a:solidFill>
                  <a:srgbClr val="FFFFFF"/>
                </a:solidFill>
                <a:latin typeface="Calibri"/>
              </a:rPr>
              <a:t>Objective 4: Closed-Loop Triple Digital Twin: </a:t>
            </a:r>
            <a:r>
              <a:rPr sz="1150">
                <a:solidFill>
                  <a:srgbClr val="E2E8F0"/>
                </a:solidFill>
                <a:latin typeface="Calibri"/>
              </a:rPr>
              <a:t>Create three synchronized models (Patient Twin, Transport Twin, Hospital Twin) and an MCDA algorithm scoring clinical fit, travel time with traffic, and available beds.</a:t>
            </a:r>
          </a:p>
          <a:p>
            <a:pPr>
              <a:spcAft>
                <a:spcPts val="800"/>
              </a:spcAft>
            </a:pPr>
            <a:r>
              <a:rPr b="1" sz="1200">
                <a:solidFill>
                  <a:srgbClr val="FFFFFF"/>
                </a:solidFill>
                <a:latin typeface="Calibri"/>
              </a:rPr>
              <a:t>Objective 5: AI Vital Forecasting &amp; Pre-Alerts: </a:t>
            </a:r>
            <a:r>
              <a:rPr sz="1150">
                <a:solidFill>
                  <a:srgbClr val="E2E8F0"/>
                </a:solidFill>
                <a:latin typeface="Calibri"/>
              </a:rPr>
              <a:t>Predict patient vitals 5, 15, and 30 minutes ahead, and format an automated SBAR pre-alert giving hospital surgical teams ~8.4 minutes of advance preparation notice.</a:t>
            </a:r>
          </a:p>
          <a:p>
            <a:pPr>
              <a:spcAft>
                <a:spcPts val="800"/>
              </a:spcAft>
            </a:pPr>
            <a:r>
              <a:rPr b="1" sz="1200">
                <a:solidFill>
                  <a:srgbClr val="FFFFFF"/>
                </a:solidFill>
                <a:latin typeface="Calibri"/>
              </a:rPr>
              <a:t>Objective 6: 100% Free Open-Source Architecture: </a:t>
            </a:r>
            <a:r>
              <a:rPr sz="1150">
                <a:solidFill>
                  <a:srgbClr val="E2E8F0"/>
                </a:solidFill>
                <a:latin typeface="Calibri"/>
              </a:rPr>
              <a:t>Build the entire system using open-source tools (OpenStreetMap instead of Google Maps, local Scikit-Learn instead of paid cloud AI), achieving zero recurring cloud bills.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11094415" cy="1078992"/>
          </a:xfrm>
          <a:prstGeom prst="rect">
            <a:avLst/>
          </a:prstGeom>
          <a:solidFill>
            <a:srgbClr val="132247"/>
          </a:solidFill>
          <a:ln w="12700">
            <a:solidFill>
              <a:srgbClr val="2C4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402336"/>
            <a:ext cx="4389120" cy="256032"/>
          </a:xfrm>
          <a:prstGeom prst="roundRect">
            <a:avLst>
              <a:gd name="adj" fmla="val 20000"/>
            </a:avLst>
          </a:prstGeom>
          <a:solidFill>
            <a:srgbClr val="1B2D5C"/>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950" b="1">
                <a:solidFill>
                  <a:srgbClr val="00E5FF"/>
                </a:solidFill>
                <a:latin typeface="Calibri"/>
              </a:defRPr>
            </a:pPr>
            <a:r>
              <a:t>RUBRIC 3: RESEARCH GAP &amp; PROPOSED SOLUTION</a:t>
            </a:r>
          </a:p>
        </p:txBody>
      </p:sp>
      <p:sp>
        <p:nvSpPr>
          <p:cNvPr id="5" name="TextBox 4"/>
          <p:cNvSpPr txBox="1"/>
          <p:nvPr/>
        </p:nvSpPr>
        <p:spPr>
          <a:xfrm>
            <a:off x="731520" y="667512"/>
            <a:ext cx="10698480" cy="384048"/>
          </a:xfrm>
          <a:prstGeom prst="rect">
            <a:avLst/>
          </a:prstGeom>
          <a:noFill/>
        </p:spPr>
        <p:txBody>
          <a:bodyPr wrap="square" lIns="0" tIns="0" rIns="0" bIns="0">
            <a:spAutoFit/>
          </a:bodyPr>
          <a:lstStyle/>
          <a:p>
            <a:pPr>
              <a:defRPr sz="1900" b="1">
                <a:solidFill>
                  <a:srgbClr val="FFFFFF"/>
                </a:solidFill>
                <a:latin typeface="Calibri"/>
              </a:defRPr>
            </a:pPr>
            <a:r>
              <a:t>Research Gap: Existing Systems vs. What We Built</a:t>
            </a:r>
          </a:p>
        </p:txBody>
      </p:sp>
      <p:sp>
        <p:nvSpPr>
          <p:cNvPr id="6" name="TextBox 5"/>
          <p:cNvSpPr txBox="1"/>
          <p:nvPr/>
        </p:nvSpPr>
        <p:spPr>
          <a:xfrm>
            <a:off x="731520" y="1069848"/>
            <a:ext cx="10698480" cy="274320"/>
          </a:xfrm>
          <a:prstGeom prst="rect">
            <a:avLst/>
          </a:prstGeom>
          <a:noFill/>
        </p:spPr>
        <p:txBody>
          <a:bodyPr wrap="square" lIns="0" tIns="0" rIns="0" bIns="0">
            <a:spAutoFit/>
          </a:bodyPr>
          <a:lstStyle/>
          <a:p>
            <a:pPr>
              <a:defRPr sz="1100">
                <a:solidFill>
                  <a:srgbClr val="00E5FF"/>
                </a:solidFill>
                <a:latin typeface="Calibri"/>
              </a:defRPr>
            </a:pPr>
            <a:r>
              <a:t>Comparing traditional 911 dispatch, standard telemedicine apps, and the implemented LifeFlow AI solution</a:t>
            </a:r>
          </a:p>
        </p:txBody>
      </p:sp>
      <p:sp>
        <p:nvSpPr>
          <p:cNvPr id="7" name="TextBox 6"/>
          <p:cNvSpPr txBox="1"/>
          <p:nvPr/>
        </p:nvSpPr>
        <p:spPr>
          <a:xfrm>
            <a:off x="548640" y="6510528"/>
            <a:ext cx="9601200" cy="256032"/>
          </a:xfrm>
          <a:prstGeom prst="rect">
            <a:avLst/>
          </a:prstGeom>
          <a:noFill/>
        </p:spPr>
        <p:txBody>
          <a:bodyPr wrap="none" lIns="0" tIns="0" rIns="0" bIns="0">
            <a:spAutoFit/>
          </a:bodyPr>
          <a:lstStyle/>
          <a:p>
            <a:pPr>
              <a:defRPr sz="900">
                <a:solidFill>
                  <a:srgbClr val="94A3B8"/>
                </a:solidFill>
                <a:latin typeface="Calibri"/>
              </a:defRPr>
            </a:pPr>
            <a:r>
              <a:t>LifeFlow AI — Predictive Emergency Healthcare Digital Twin Platform  |  Capstone Project-1 Review-2</a:t>
            </a:r>
          </a:p>
        </p:txBody>
      </p:sp>
      <p:sp>
        <p:nvSpPr>
          <p:cNvPr id="8" name="TextBox 7"/>
          <p:cNvSpPr txBox="1"/>
          <p:nvPr/>
        </p:nvSpPr>
        <p:spPr>
          <a:xfrm>
            <a:off x="10515600" y="6510528"/>
            <a:ext cx="1127455" cy="256032"/>
          </a:xfrm>
          <a:prstGeom prst="rect">
            <a:avLst/>
          </a:prstGeom>
          <a:noFill/>
        </p:spPr>
        <p:txBody>
          <a:bodyPr wrap="none" lIns="0" tIns="0" rIns="0" bIns="0">
            <a:spAutoFit/>
          </a:bodyPr>
          <a:lstStyle/>
          <a:p>
            <a:pPr algn="r">
              <a:defRPr sz="950" b="1">
                <a:solidFill>
                  <a:srgbClr val="00E5FF"/>
                </a:solidFill>
                <a:latin typeface="Calibri"/>
              </a:defRPr>
            </a:pPr>
            <a:r>
              <a:t>Slide 4 of 27</a:t>
            </a:r>
          </a:p>
        </p:txBody>
      </p:sp>
      <p:graphicFrame>
        <p:nvGraphicFramePr>
          <p:cNvPr id="9" name="Table 8"/>
          <p:cNvGraphicFramePr>
            <a:graphicFrameLocks noGrp="1"/>
          </p:cNvGraphicFramePr>
          <p:nvPr/>
        </p:nvGraphicFramePr>
        <p:xfrm>
          <a:off x="548640" y="1508760"/>
          <a:ext cx="6766560" cy="4663440"/>
        </p:xfrm>
        <a:graphic>
          <a:graphicData uri="http://schemas.openxmlformats.org/drawingml/2006/table">
            <a:tbl>
              <a:tblPr firstRow="1" bandRow="1">
                <a:tableStyleId>{5C22544A-7EE6-4342-B048-85BDC9FD1C3A}</a:tableStyleId>
              </a:tblPr>
              <a:tblGrid>
                <a:gridCol w="2011680"/>
                <a:gridCol w="1463040"/>
                <a:gridCol w="1463040"/>
                <a:gridCol w="1828800"/>
              </a:tblGrid>
              <a:tr h="666205">
                <a:tc>
                  <a:txBody>
                    <a:bodyPr/>
                    <a:lstStyle/>
                    <a:p>
                      <a:pPr algn="ctr">
                        <a:defRPr sz="1100" b="1">
                          <a:solidFill>
                            <a:srgbClr val="00E5FF"/>
                          </a:solidFill>
                          <a:latin typeface="Calibri"/>
                        </a:defRPr>
                      </a:pPr>
                      <a:r>
                        <a:t>Feature Comparison</a:t>
                      </a:r>
                    </a:p>
                  </a:txBody>
                  <a:tcPr marT="36576" marB="36576" marL="73152" marR="73152">
                    <a:solidFill>
                      <a:srgbClr val="1B2D5C"/>
                    </a:solidFill>
                  </a:tcPr>
                </a:tc>
                <a:tc>
                  <a:txBody>
                    <a:bodyPr/>
                    <a:lstStyle/>
                    <a:p>
                      <a:pPr algn="ctr">
                        <a:defRPr sz="1100" b="1">
                          <a:solidFill>
                            <a:srgbClr val="00E5FF"/>
                          </a:solidFill>
                          <a:latin typeface="Calibri"/>
                        </a:defRPr>
                      </a:pPr>
                      <a:r>
                        <a:t>Traditional 911 / CAD</a:t>
                      </a:r>
                    </a:p>
                  </a:txBody>
                  <a:tcPr marT="36576" marB="36576" marL="73152" marR="73152">
                    <a:solidFill>
                      <a:srgbClr val="1B2D5C"/>
                    </a:solidFill>
                  </a:tcPr>
                </a:tc>
                <a:tc>
                  <a:txBody>
                    <a:bodyPr/>
                    <a:lstStyle/>
                    <a:p>
                      <a:pPr algn="ctr">
                        <a:defRPr sz="1100" b="1">
                          <a:solidFill>
                            <a:srgbClr val="00E5FF"/>
                          </a:solidFill>
                          <a:latin typeface="Calibri"/>
                        </a:defRPr>
                      </a:pPr>
                      <a:r>
                        <a:t>Telemedicine Apps</a:t>
                      </a:r>
                    </a:p>
                  </a:txBody>
                  <a:tcPr marT="36576" marB="36576" marL="73152" marR="73152">
                    <a:solidFill>
                      <a:srgbClr val="1B2D5C"/>
                    </a:solidFill>
                  </a:tcPr>
                </a:tc>
                <a:tc>
                  <a:txBody>
                    <a:bodyPr/>
                    <a:lstStyle/>
                    <a:p>
                      <a:pPr algn="ctr">
                        <a:defRPr sz="1100" b="1">
                          <a:solidFill>
                            <a:srgbClr val="00E5FF"/>
                          </a:solidFill>
                          <a:latin typeface="Calibri"/>
                        </a:defRPr>
                      </a:pPr>
                      <a:r>
                        <a:t>LifeFlow AI (Our System)</a:t>
                      </a:r>
                    </a:p>
                  </a:txBody>
                  <a:tcPr marT="36576" marB="36576" marL="73152" marR="73152">
                    <a:solidFill>
                      <a:srgbClr val="1B2D5C"/>
                    </a:solidFill>
                  </a:tcPr>
                </a:tc>
              </a:tr>
              <a:tr h="666205">
                <a:tc>
                  <a:txBody>
                    <a:bodyPr/>
                    <a:lstStyle/>
                    <a:p>
                      <a:pPr algn="l">
                        <a:defRPr sz="1050" b="1">
                          <a:solidFill>
                            <a:srgbClr val="FFFFFF"/>
                          </a:solidFill>
                          <a:latin typeface="Calibri"/>
                        </a:defRPr>
                      </a:pPr>
                      <a:r>
                        <a:t>Offline SOS Reporting</a:t>
                      </a:r>
                    </a:p>
                  </a:txBody>
                  <a:tcPr marT="36576" marB="36576" marL="73152" marR="73152">
                    <a:solidFill>
                      <a:srgbClr val="132247"/>
                    </a:solidFill>
                  </a:tcPr>
                </a:tc>
                <a:tc>
                  <a:txBody>
                    <a:bodyPr/>
                    <a:lstStyle/>
                    <a:p>
                      <a:pPr algn="l">
                        <a:defRPr sz="1050" b="0">
                          <a:solidFill>
                            <a:srgbClr val="E2E8F0"/>
                          </a:solidFill>
                          <a:latin typeface="Calibri"/>
                        </a:defRPr>
                      </a:pPr>
                      <a:r>
                        <a:t>Voice 911 calls only</a:t>
                      </a:r>
                    </a:p>
                  </a:txBody>
                  <a:tcPr marT="36576" marB="36576" marL="73152" marR="73152">
                    <a:solidFill>
                      <a:srgbClr val="132247"/>
                    </a:solidFill>
                  </a:tcPr>
                </a:tc>
                <a:tc>
                  <a:txBody>
                    <a:bodyPr/>
                    <a:lstStyle/>
                    <a:p>
                      <a:pPr algn="l">
                        <a:defRPr sz="1050" b="0">
                          <a:solidFill>
                            <a:srgbClr val="E2E8F0"/>
                          </a:solidFill>
                          <a:latin typeface="Calibri"/>
                        </a:defRPr>
                      </a:pPr>
                      <a:r>
                        <a:t>Fails without high-speed data</a:t>
                      </a:r>
                    </a:p>
                  </a:txBody>
                  <a:tcPr marT="36576" marB="36576" marL="73152" marR="73152">
                    <a:solidFill>
                      <a:srgbClr val="132247"/>
                    </a:solidFill>
                  </a:tcPr>
                </a:tc>
                <a:tc>
                  <a:txBody>
                    <a:bodyPr/>
                    <a:lstStyle/>
                    <a:p>
                      <a:pPr algn="l">
                        <a:defRPr sz="1050" b="1">
                          <a:solidFill>
                            <a:srgbClr val="00E676"/>
                          </a:solidFill>
                          <a:latin typeface="Calibri"/>
                        </a:defRPr>
                      </a:pPr>
                      <a:r>
                        <a:t>Dual-Channel: Web + 2G SMS</a:t>
                      </a:r>
                    </a:p>
                  </a:txBody>
                  <a:tcPr marT="36576" marB="36576" marL="73152" marR="73152">
                    <a:solidFill>
                      <a:srgbClr val="132247"/>
                    </a:solidFill>
                  </a:tcPr>
                </a:tc>
              </a:tr>
              <a:tr h="666205">
                <a:tc>
                  <a:txBody>
                    <a:bodyPr/>
                    <a:lstStyle/>
                    <a:p>
                      <a:pPr algn="l">
                        <a:defRPr sz="1050" b="1">
                          <a:solidFill>
                            <a:srgbClr val="FFFFFF"/>
                          </a:solidFill>
                          <a:latin typeface="Calibri"/>
                        </a:defRPr>
                      </a:pPr>
                      <a:r>
                        <a:t>Live In-Transit Vitals</a:t>
                      </a:r>
                    </a:p>
                  </a:txBody>
                  <a:tcPr marT="36576" marB="36576" marL="73152" marR="73152">
                    <a:solidFill>
                      <a:srgbClr val="1B2D5C"/>
                    </a:solidFill>
                  </a:tcPr>
                </a:tc>
                <a:tc>
                  <a:txBody>
                    <a:bodyPr/>
                    <a:lstStyle/>
                    <a:p>
                      <a:pPr algn="l">
                        <a:defRPr sz="1050" b="0">
                          <a:solidFill>
                            <a:srgbClr val="E2E8F0"/>
                          </a:solidFill>
                          <a:latin typeface="Calibri"/>
                        </a:defRPr>
                      </a:pPr>
                      <a:r>
                        <a:t>None (offline radio)</a:t>
                      </a:r>
                    </a:p>
                  </a:txBody>
                  <a:tcPr marT="36576" marB="36576" marL="73152" marR="73152">
                    <a:solidFill>
                      <a:srgbClr val="1B2D5C"/>
                    </a:solidFill>
                  </a:tcPr>
                </a:tc>
                <a:tc>
                  <a:txBody>
                    <a:bodyPr/>
                    <a:lstStyle/>
                    <a:p>
                      <a:pPr algn="l">
                        <a:defRPr sz="1050" b="0">
                          <a:solidFill>
                            <a:srgbClr val="E2E8F0"/>
                          </a:solidFill>
                          <a:latin typeface="Calibri"/>
                        </a:defRPr>
                      </a:pPr>
                      <a:r>
                        <a:t>Manual text entry only</a:t>
                      </a:r>
                    </a:p>
                  </a:txBody>
                  <a:tcPr marT="36576" marB="36576" marL="73152" marR="73152">
                    <a:solidFill>
                      <a:srgbClr val="1B2D5C"/>
                    </a:solidFill>
                  </a:tcPr>
                </a:tc>
                <a:tc>
                  <a:txBody>
                    <a:bodyPr/>
                    <a:lstStyle/>
                    <a:p>
                      <a:pPr algn="l">
                        <a:defRPr sz="1050" b="1">
                          <a:solidFill>
                            <a:srgbClr val="00E676"/>
                          </a:solidFill>
                          <a:latin typeface="Calibri"/>
                        </a:defRPr>
                      </a:pPr>
                      <a:r>
                        <a:t>1-Hz Automated MQTT Stream</a:t>
                      </a:r>
                    </a:p>
                  </a:txBody>
                  <a:tcPr marT="36576" marB="36576" marL="73152" marR="73152">
                    <a:solidFill>
                      <a:srgbClr val="1B2D5C"/>
                    </a:solidFill>
                  </a:tcPr>
                </a:tc>
              </a:tr>
              <a:tr h="666205">
                <a:tc>
                  <a:txBody>
                    <a:bodyPr/>
                    <a:lstStyle/>
                    <a:p>
                      <a:pPr algn="l">
                        <a:defRPr sz="1050" b="1">
                          <a:solidFill>
                            <a:srgbClr val="FFFFFF"/>
                          </a:solidFill>
                          <a:latin typeface="Calibri"/>
                        </a:defRPr>
                      </a:pPr>
                      <a:r>
                        <a:t>Tunnels / Dead Zones</a:t>
                      </a:r>
                    </a:p>
                  </a:txBody>
                  <a:tcPr marT="36576" marB="36576" marL="73152" marR="73152">
                    <a:solidFill>
                      <a:srgbClr val="132247"/>
                    </a:solidFill>
                  </a:tcPr>
                </a:tc>
                <a:tc>
                  <a:txBody>
                    <a:bodyPr/>
                    <a:lstStyle/>
                    <a:p>
                      <a:pPr algn="l">
                        <a:defRPr sz="1050" b="0">
                          <a:solidFill>
                            <a:srgbClr val="E2E8F0"/>
                          </a:solidFill>
                          <a:latin typeface="Calibri"/>
                        </a:defRPr>
                      </a:pPr>
                      <a:r>
                        <a:t>Data drops completely</a:t>
                      </a:r>
                    </a:p>
                  </a:txBody>
                  <a:tcPr marT="36576" marB="36576" marL="73152" marR="73152">
                    <a:solidFill>
                      <a:srgbClr val="132247"/>
                    </a:solidFill>
                  </a:tcPr>
                </a:tc>
                <a:tc>
                  <a:txBody>
                    <a:bodyPr/>
                    <a:lstStyle/>
                    <a:p>
                      <a:pPr algn="l">
                        <a:defRPr sz="1050" b="0">
                          <a:solidFill>
                            <a:srgbClr val="E2E8F0"/>
                          </a:solidFill>
                          <a:latin typeface="Calibri"/>
                        </a:defRPr>
                      </a:pPr>
                      <a:r>
                        <a:t>App crashes or hangs</a:t>
                      </a:r>
                    </a:p>
                  </a:txBody>
                  <a:tcPr marT="36576" marB="36576" marL="73152" marR="73152">
                    <a:solidFill>
                      <a:srgbClr val="132247"/>
                    </a:solidFill>
                  </a:tcPr>
                </a:tc>
                <a:tc>
                  <a:txBody>
                    <a:bodyPr/>
                    <a:lstStyle/>
                    <a:p>
                      <a:pPr algn="l">
                        <a:defRPr sz="1050" b="1">
                          <a:solidFill>
                            <a:srgbClr val="00E676"/>
                          </a:solidFill>
                          <a:latin typeface="Calibri"/>
                        </a:defRPr>
                      </a:pPr>
                      <a:r>
                        <a:t>Sub-ms SQLite WAL Buffer (0.024ms)</a:t>
                      </a:r>
                    </a:p>
                  </a:txBody>
                  <a:tcPr marT="36576" marB="36576" marL="73152" marR="73152">
                    <a:solidFill>
                      <a:srgbClr val="132247"/>
                    </a:solidFill>
                  </a:tcPr>
                </a:tc>
              </a:tr>
              <a:tr h="666205">
                <a:tc>
                  <a:txBody>
                    <a:bodyPr/>
                    <a:lstStyle/>
                    <a:p>
                      <a:pPr algn="l">
                        <a:defRPr sz="1050" b="1">
                          <a:solidFill>
                            <a:srgbClr val="FFFFFF"/>
                          </a:solidFill>
                          <a:latin typeface="Calibri"/>
                        </a:defRPr>
                      </a:pPr>
                      <a:r>
                        <a:t>Hospital Selection</a:t>
                      </a:r>
                    </a:p>
                  </a:txBody>
                  <a:tcPr marT="36576" marB="36576" marL="73152" marR="73152">
                    <a:solidFill>
                      <a:srgbClr val="1B2D5C"/>
                    </a:solidFill>
                  </a:tcPr>
                </a:tc>
                <a:tc>
                  <a:txBody>
                    <a:bodyPr/>
                    <a:lstStyle/>
                    <a:p>
                      <a:pPr algn="l">
                        <a:defRPr sz="1050" b="0">
                          <a:solidFill>
                            <a:srgbClr val="E2E8F0"/>
                          </a:solidFill>
                          <a:latin typeface="Calibri"/>
                        </a:defRPr>
                      </a:pPr>
                      <a:r>
                        <a:t>Nearest hospital only</a:t>
                      </a:r>
                    </a:p>
                  </a:txBody>
                  <a:tcPr marT="36576" marB="36576" marL="73152" marR="73152">
                    <a:solidFill>
                      <a:srgbClr val="1B2D5C"/>
                    </a:solidFill>
                  </a:tcPr>
                </a:tc>
                <a:tc>
                  <a:txBody>
                    <a:bodyPr/>
                    <a:lstStyle/>
                    <a:p>
                      <a:pPr algn="l">
                        <a:defRPr sz="1050" b="0">
                          <a:solidFill>
                            <a:srgbClr val="E2E8F0"/>
                          </a:solidFill>
                          <a:latin typeface="Calibri"/>
                        </a:defRPr>
                      </a:pPr>
                      <a:r>
                        <a:t>Manual directory search</a:t>
                      </a:r>
                    </a:p>
                  </a:txBody>
                  <a:tcPr marT="36576" marB="36576" marL="73152" marR="73152">
                    <a:solidFill>
                      <a:srgbClr val="1B2D5C"/>
                    </a:solidFill>
                  </a:tcPr>
                </a:tc>
                <a:tc>
                  <a:txBody>
                    <a:bodyPr/>
                    <a:lstStyle/>
                    <a:p>
                      <a:pPr algn="l">
                        <a:defRPr sz="1050" b="1">
                          <a:solidFill>
                            <a:srgbClr val="00E676"/>
                          </a:solidFill>
                          <a:latin typeface="Calibri"/>
                        </a:defRPr>
                      </a:pPr>
                      <a:r>
                        <a:t>5D Safety Gating + Live Beds</a:t>
                      </a:r>
                    </a:p>
                  </a:txBody>
                  <a:tcPr marT="36576" marB="36576" marL="73152" marR="73152">
                    <a:solidFill>
                      <a:srgbClr val="1B2D5C"/>
                    </a:solidFill>
                  </a:tcPr>
                </a:tc>
              </a:tr>
              <a:tr h="666205">
                <a:tc>
                  <a:txBody>
                    <a:bodyPr/>
                    <a:lstStyle/>
                    <a:p>
                      <a:pPr algn="l">
                        <a:defRPr sz="1050" b="1">
                          <a:solidFill>
                            <a:srgbClr val="FFFFFF"/>
                          </a:solidFill>
                          <a:latin typeface="Calibri"/>
                        </a:defRPr>
                      </a:pPr>
                      <a:r>
                        <a:t>Advance ED Pre-Alert</a:t>
                      </a:r>
                    </a:p>
                  </a:txBody>
                  <a:tcPr marT="36576" marB="36576" marL="73152" marR="73152">
                    <a:solidFill>
                      <a:srgbClr val="132247"/>
                    </a:solidFill>
                  </a:tcPr>
                </a:tc>
                <a:tc>
                  <a:txBody>
                    <a:bodyPr/>
                    <a:lstStyle/>
                    <a:p>
                      <a:pPr algn="l">
                        <a:defRPr sz="1050" b="0">
                          <a:solidFill>
                            <a:srgbClr val="E2E8F0"/>
                          </a:solidFill>
                          <a:latin typeface="Calibri"/>
                        </a:defRPr>
                      </a:pPr>
                      <a:r>
                        <a:t>Paper / voice handover</a:t>
                      </a:r>
                    </a:p>
                  </a:txBody>
                  <a:tcPr marT="36576" marB="36576" marL="73152" marR="73152">
                    <a:solidFill>
                      <a:srgbClr val="132247"/>
                    </a:solidFill>
                  </a:tcPr>
                </a:tc>
                <a:tc>
                  <a:txBody>
                    <a:bodyPr/>
                    <a:lstStyle/>
                    <a:p>
                      <a:pPr algn="l">
                        <a:defRPr sz="1050" b="0">
                          <a:solidFill>
                            <a:srgbClr val="E2E8F0"/>
                          </a:solidFill>
                          <a:latin typeface="Calibri"/>
                        </a:defRPr>
                      </a:pPr>
                      <a:r>
                        <a:t>Basic video call</a:t>
                      </a:r>
                    </a:p>
                  </a:txBody>
                  <a:tcPr marT="36576" marB="36576" marL="73152" marR="73152">
                    <a:solidFill>
                      <a:srgbClr val="132247"/>
                    </a:solidFill>
                  </a:tcPr>
                </a:tc>
                <a:tc>
                  <a:txBody>
                    <a:bodyPr/>
                    <a:lstStyle/>
                    <a:p>
                      <a:pPr algn="l">
                        <a:defRPr sz="1050" b="1">
                          <a:solidFill>
                            <a:srgbClr val="00E676"/>
                          </a:solidFill>
                          <a:latin typeface="Calibri"/>
                        </a:defRPr>
                      </a:pPr>
                      <a:r>
                        <a:t>SBAR Alert + 1-Click Bay Lock</a:t>
                      </a:r>
                    </a:p>
                  </a:txBody>
                  <a:tcPr marT="36576" marB="36576" marL="73152" marR="73152">
                    <a:solidFill>
                      <a:srgbClr val="132247"/>
                    </a:solidFill>
                  </a:tcPr>
                </a:tc>
              </a:tr>
              <a:tr h="666210">
                <a:tc>
                  <a:txBody>
                    <a:bodyPr/>
                    <a:lstStyle/>
                    <a:p>
                      <a:pPr algn="l">
                        <a:defRPr sz="1050" b="1">
                          <a:solidFill>
                            <a:srgbClr val="FFFFFF"/>
                          </a:solidFill>
                          <a:latin typeface="Calibri"/>
                        </a:defRPr>
                      </a:pPr>
                      <a:r>
                        <a:t>Software License Costs</a:t>
                      </a:r>
                    </a:p>
                  </a:txBody>
                  <a:tcPr marT="36576" marB="36576" marL="73152" marR="73152">
                    <a:solidFill>
                      <a:srgbClr val="1B2D5C"/>
                    </a:solidFill>
                  </a:tcPr>
                </a:tc>
                <a:tc>
                  <a:txBody>
                    <a:bodyPr/>
                    <a:lstStyle/>
                    <a:p>
                      <a:pPr algn="l">
                        <a:defRPr sz="1050" b="0">
                          <a:solidFill>
                            <a:srgbClr val="E2E8F0"/>
                          </a:solidFill>
                          <a:latin typeface="Calibri"/>
                        </a:defRPr>
                      </a:pPr>
                      <a:r>
                        <a:t>Costly proprietary CAD</a:t>
                      </a:r>
                    </a:p>
                  </a:txBody>
                  <a:tcPr marT="36576" marB="36576" marL="73152" marR="73152">
                    <a:solidFill>
                      <a:srgbClr val="1B2D5C"/>
                    </a:solidFill>
                  </a:tcPr>
                </a:tc>
                <a:tc>
                  <a:txBody>
                    <a:bodyPr/>
                    <a:lstStyle/>
                    <a:p>
                      <a:pPr algn="l">
                        <a:defRPr sz="1050" b="0">
                          <a:solidFill>
                            <a:srgbClr val="E2E8F0"/>
                          </a:solidFill>
                          <a:latin typeface="Calibri"/>
                        </a:defRPr>
                      </a:pPr>
                      <a:r>
                        <a:t>Monthly SaaS fees</a:t>
                      </a:r>
                    </a:p>
                  </a:txBody>
                  <a:tcPr marT="36576" marB="36576" marL="73152" marR="73152">
                    <a:solidFill>
                      <a:srgbClr val="1B2D5C"/>
                    </a:solidFill>
                  </a:tcPr>
                </a:tc>
                <a:tc>
                  <a:txBody>
                    <a:bodyPr/>
                    <a:lstStyle/>
                    <a:p>
                      <a:pPr algn="l">
                        <a:defRPr sz="1050" b="1">
                          <a:solidFill>
                            <a:srgbClr val="00E676"/>
                          </a:solidFill>
                          <a:latin typeface="Calibri"/>
                        </a:defRPr>
                      </a:pPr>
                      <a:r>
                        <a:t>100% Free Open-Source Stack</a:t>
                      </a:r>
                    </a:p>
                  </a:txBody>
                  <a:tcPr marT="36576" marB="36576" marL="73152" marR="73152">
                    <a:solidFill>
                      <a:srgbClr val="1B2D5C"/>
                    </a:solidFill>
                  </a:tcPr>
                </a:tc>
              </a:tr>
            </a:tbl>
          </a:graphicData>
        </a:graphic>
      </p:graphicFrame>
      <p:sp>
        <p:nvSpPr>
          <p:cNvPr id="10" name="Rounded Rectangle 9"/>
          <p:cNvSpPr/>
          <p:nvPr/>
        </p:nvSpPr>
        <p:spPr>
          <a:xfrm>
            <a:off x="7498079" y="1508760"/>
            <a:ext cx="4144975" cy="4663440"/>
          </a:xfrm>
          <a:prstGeom prst="roundRect">
            <a:avLst>
              <a:gd name="adj" fmla="val 2500"/>
            </a:avLst>
          </a:prstGeom>
          <a:solidFill>
            <a:srgbClr val="132247"/>
          </a:solidFill>
          <a:ln w="15240">
            <a:solidFill>
              <a:srgbClr val="2C4A87"/>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46304"/>
          <a:lstStyle/>
          <a:p>
            <a:pPr algn="ctr">
              <a:spcAft>
                <a:spcPts val="800"/>
              </a:spcAft>
              <a:defRPr sz="1550" b="1">
                <a:solidFill>
                  <a:srgbClr val="00E676"/>
                </a:solidFill>
                <a:latin typeface="Calibri"/>
              </a:defRPr>
            </a:pPr>
            <a:r>
              <a:t>Our Implemented Solution</a:t>
            </a:r>
          </a:p>
          <a:p>
            <a:pPr>
              <a:spcAft>
                <a:spcPts val="600"/>
              </a:spcAft>
            </a:pPr>
            <a:r>
              <a:rPr b="1" sz="1200">
                <a:solidFill>
                  <a:srgbClr val="FFFFFF"/>
                </a:solidFill>
                <a:latin typeface="Calibri"/>
              </a:rPr>
              <a:t>End-to-End Coordination: </a:t>
            </a:r>
            <a:r>
              <a:rPr sz="1150">
                <a:solidFill>
                  <a:srgbClr val="E2E8F0"/>
                </a:solidFill>
                <a:latin typeface="Calibri"/>
              </a:rPr>
              <a:t>Bridges incident scene, ambulance cabin, central cloud, and hospital ED resuscitation bay.</a:t>
            </a:r>
          </a:p>
          <a:p>
            <a:pPr>
              <a:spcAft>
                <a:spcPts val="600"/>
              </a:spcAft>
            </a:pPr>
            <a:r>
              <a:rPr b="1" sz="1200">
                <a:solidFill>
                  <a:srgbClr val="FFFFFF"/>
                </a:solidFill>
                <a:latin typeface="Calibri"/>
              </a:rPr>
              <a:t>Guaranteed Offline Delivery: </a:t>
            </a:r>
            <a:r>
              <a:rPr sz="1150">
                <a:solidFill>
                  <a:srgbClr val="E2E8F0"/>
                </a:solidFill>
                <a:latin typeface="Calibri"/>
              </a:rPr>
              <a:t>Combines offline 2G SMS dispatch with SQLite write-ahead logging edge buffering so zero data is lost.</a:t>
            </a:r>
          </a:p>
          <a:p>
            <a:pPr>
              <a:spcAft>
                <a:spcPts val="600"/>
              </a:spcAft>
            </a:pPr>
            <a:r>
              <a:rPr b="1" sz="1200">
                <a:solidFill>
                  <a:srgbClr val="FFFFFF"/>
                </a:solidFill>
                <a:latin typeface="Calibri"/>
              </a:rPr>
              <a:t>Specialized Role Consoles: </a:t>
            </a:r>
            <a:r>
              <a:rPr sz="1150">
                <a:solidFill>
                  <a:srgbClr val="E2E8F0"/>
                </a:solidFill>
                <a:latin typeface="Calibri"/>
              </a:rPr>
              <a:t>Paramedics see vitals, nurses reserve beds with one click, and doctors transmit directives en route.</a:t>
            </a:r>
          </a:p>
          <a:p>
            <a:pPr>
              <a:spcAft>
                <a:spcPts val="600"/>
              </a:spcAft>
            </a:pPr>
            <a:r>
              <a:rPr b="1" sz="1200">
                <a:solidFill>
                  <a:srgbClr val="FFFFFF"/>
                </a:solidFill>
                <a:latin typeface="Calibri"/>
              </a:rPr>
              <a:t>Zero Software Costs: </a:t>
            </a:r>
            <a:r>
              <a:rPr sz="1150">
                <a:solidFill>
                  <a:srgbClr val="E2E8F0"/>
                </a:solidFill>
                <a:latin typeface="Calibri"/>
              </a:rPr>
              <a:t>Replaces expensive commercial platforms with OpenStreetMap, Scikit-Learn, and Spring Boot.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11094415" cy="1078992"/>
          </a:xfrm>
          <a:prstGeom prst="rect">
            <a:avLst/>
          </a:prstGeom>
          <a:solidFill>
            <a:srgbClr val="132247"/>
          </a:solidFill>
          <a:ln w="12700">
            <a:solidFill>
              <a:srgbClr val="2C4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402336"/>
            <a:ext cx="4389120" cy="256032"/>
          </a:xfrm>
          <a:prstGeom prst="roundRect">
            <a:avLst>
              <a:gd name="adj" fmla="val 20000"/>
            </a:avLst>
          </a:prstGeom>
          <a:solidFill>
            <a:srgbClr val="1B2D5C"/>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950" b="1">
                <a:solidFill>
                  <a:srgbClr val="00E5FF"/>
                </a:solidFill>
                <a:latin typeface="Calibri"/>
              </a:defRPr>
            </a:pPr>
            <a:r>
              <a:t>RUBRIC 4: UPDATED LITERATURE REVIEW</a:t>
            </a:r>
          </a:p>
        </p:txBody>
      </p:sp>
      <p:sp>
        <p:nvSpPr>
          <p:cNvPr id="5" name="TextBox 4"/>
          <p:cNvSpPr txBox="1"/>
          <p:nvPr/>
        </p:nvSpPr>
        <p:spPr>
          <a:xfrm>
            <a:off x="731520" y="667512"/>
            <a:ext cx="10698480" cy="384048"/>
          </a:xfrm>
          <a:prstGeom prst="rect">
            <a:avLst/>
          </a:prstGeom>
          <a:noFill/>
        </p:spPr>
        <p:txBody>
          <a:bodyPr wrap="square" lIns="0" tIns="0" rIns="0" bIns="0">
            <a:spAutoFit/>
          </a:bodyPr>
          <a:lstStyle/>
          <a:p>
            <a:pPr>
              <a:defRPr sz="1900" b="1">
                <a:solidFill>
                  <a:srgbClr val="FFFFFF"/>
                </a:solidFill>
                <a:latin typeface="Calibri"/>
              </a:defRPr>
            </a:pPr>
            <a:r>
              <a:t>Literature Review: Key Insights from Clinical &amp; Technical Research</a:t>
            </a:r>
          </a:p>
        </p:txBody>
      </p:sp>
      <p:sp>
        <p:nvSpPr>
          <p:cNvPr id="6" name="TextBox 5"/>
          <p:cNvSpPr txBox="1"/>
          <p:nvPr/>
        </p:nvSpPr>
        <p:spPr>
          <a:xfrm>
            <a:off x="731520" y="1069848"/>
            <a:ext cx="10698480" cy="274320"/>
          </a:xfrm>
          <a:prstGeom prst="rect">
            <a:avLst/>
          </a:prstGeom>
          <a:noFill/>
        </p:spPr>
        <p:txBody>
          <a:bodyPr wrap="square" lIns="0" tIns="0" rIns="0" bIns="0">
            <a:spAutoFit/>
          </a:bodyPr>
          <a:lstStyle/>
          <a:p>
            <a:pPr>
              <a:defRPr sz="1100">
                <a:solidFill>
                  <a:srgbClr val="00E5FF"/>
                </a:solidFill>
                <a:latin typeface="Calibri"/>
              </a:defRPr>
            </a:pPr>
            <a:r>
              <a:t>How published medical literature and systems research guided our architecture and software design</a:t>
            </a:r>
          </a:p>
        </p:txBody>
      </p:sp>
      <p:sp>
        <p:nvSpPr>
          <p:cNvPr id="7" name="TextBox 6"/>
          <p:cNvSpPr txBox="1"/>
          <p:nvPr/>
        </p:nvSpPr>
        <p:spPr>
          <a:xfrm>
            <a:off x="548640" y="6510528"/>
            <a:ext cx="9601200" cy="256032"/>
          </a:xfrm>
          <a:prstGeom prst="rect">
            <a:avLst/>
          </a:prstGeom>
          <a:noFill/>
        </p:spPr>
        <p:txBody>
          <a:bodyPr wrap="none" lIns="0" tIns="0" rIns="0" bIns="0">
            <a:spAutoFit/>
          </a:bodyPr>
          <a:lstStyle/>
          <a:p>
            <a:pPr>
              <a:defRPr sz="900">
                <a:solidFill>
                  <a:srgbClr val="94A3B8"/>
                </a:solidFill>
                <a:latin typeface="Calibri"/>
              </a:defRPr>
            </a:pPr>
            <a:r>
              <a:t>LifeFlow AI — Predictive Emergency Healthcare Digital Twin Platform  |  Capstone Project-1 Review-2</a:t>
            </a:r>
          </a:p>
        </p:txBody>
      </p:sp>
      <p:sp>
        <p:nvSpPr>
          <p:cNvPr id="8" name="TextBox 7"/>
          <p:cNvSpPr txBox="1"/>
          <p:nvPr/>
        </p:nvSpPr>
        <p:spPr>
          <a:xfrm>
            <a:off x="10515600" y="6510528"/>
            <a:ext cx="1127455" cy="256032"/>
          </a:xfrm>
          <a:prstGeom prst="rect">
            <a:avLst/>
          </a:prstGeom>
          <a:noFill/>
        </p:spPr>
        <p:txBody>
          <a:bodyPr wrap="none" lIns="0" tIns="0" rIns="0" bIns="0">
            <a:spAutoFit/>
          </a:bodyPr>
          <a:lstStyle/>
          <a:p>
            <a:pPr algn="r">
              <a:defRPr sz="950" b="1">
                <a:solidFill>
                  <a:srgbClr val="00E5FF"/>
                </a:solidFill>
                <a:latin typeface="Calibri"/>
              </a:defRPr>
            </a:pPr>
            <a:r>
              <a:t>Slide 5 of 27</a:t>
            </a:r>
          </a:p>
        </p:txBody>
      </p:sp>
      <p:graphicFrame>
        <p:nvGraphicFramePr>
          <p:cNvPr id="9" name="Table 8"/>
          <p:cNvGraphicFramePr>
            <a:graphicFrameLocks noGrp="1"/>
          </p:cNvGraphicFramePr>
          <p:nvPr/>
        </p:nvGraphicFramePr>
        <p:xfrm>
          <a:off x="548640" y="1508760"/>
          <a:ext cx="11094415" cy="3931920"/>
        </p:xfrm>
        <a:graphic>
          <a:graphicData uri="http://schemas.openxmlformats.org/drawingml/2006/table">
            <a:tbl>
              <a:tblPr firstRow="1" bandRow="1">
                <a:tableStyleId>{5C22544A-7EE6-4342-B048-85BDC9FD1C3A}</a:tableStyleId>
              </a:tblPr>
              <a:tblGrid>
                <a:gridCol w="1645920"/>
                <a:gridCol w="2560320"/>
                <a:gridCol w="3474720"/>
                <a:gridCol w="3413455"/>
              </a:tblGrid>
              <a:tr h="655320">
                <a:tc>
                  <a:txBody>
                    <a:bodyPr/>
                    <a:lstStyle/>
                    <a:p>
                      <a:pPr algn="ctr">
                        <a:defRPr sz="1100" b="1">
                          <a:solidFill>
                            <a:srgbClr val="00E5FF"/>
                          </a:solidFill>
                          <a:latin typeface="Calibri"/>
                        </a:defRPr>
                      </a:pPr>
                      <a:r>
                        <a:t>Author &amp; Year</a:t>
                      </a:r>
                    </a:p>
                  </a:txBody>
                  <a:tcPr marT="36576" marB="36576" marL="73152" marR="73152">
                    <a:solidFill>
                      <a:srgbClr val="1B2D5C"/>
                    </a:solidFill>
                  </a:tcPr>
                </a:tc>
                <a:tc>
                  <a:txBody>
                    <a:bodyPr/>
                    <a:lstStyle/>
                    <a:p>
                      <a:pPr algn="ctr">
                        <a:defRPr sz="1100" b="1">
                          <a:solidFill>
                            <a:srgbClr val="00E5FF"/>
                          </a:solidFill>
                          <a:latin typeface="Calibri"/>
                        </a:defRPr>
                      </a:pPr>
                      <a:r>
                        <a:t>Paper Title / Journal</a:t>
                      </a:r>
                    </a:p>
                  </a:txBody>
                  <a:tcPr marT="36576" marB="36576" marL="73152" marR="73152">
                    <a:solidFill>
                      <a:srgbClr val="1B2D5C"/>
                    </a:solidFill>
                  </a:tcPr>
                </a:tc>
                <a:tc>
                  <a:txBody>
                    <a:bodyPr/>
                    <a:lstStyle/>
                    <a:p>
                      <a:pPr algn="ctr">
                        <a:defRPr sz="1100" b="1">
                          <a:solidFill>
                            <a:srgbClr val="00E5FF"/>
                          </a:solidFill>
                          <a:latin typeface="Calibri"/>
                        </a:defRPr>
                      </a:pPr>
                      <a:r>
                        <a:t>Key Findings &amp; Benchmark</a:t>
                      </a:r>
                    </a:p>
                  </a:txBody>
                  <a:tcPr marT="36576" marB="36576" marL="73152" marR="73152">
                    <a:solidFill>
                      <a:srgbClr val="1B2D5C"/>
                    </a:solidFill>
                  </a:tcPr>
                </a:tc>
                <a:tc>
                  <a:txBody>
                    <a:bodyPr/>
                    <a:lstStyle/>
                    <a:p>
                      <a:pPr algn="ctr">
                        <a:defRPr sz="1100" b="1">
                          <a:solidFill>
                            <a:srgbClr val="00E5FF"/>
                          </a:solidFill>
                          <a:latin typeface="Calibri"/>
                        </a:defRPr>
                      </a:pPr>
                      <a:r>
                        <a:t>How It Guided LifeFlow AI Implementation</a:t>
                      </a:r>
                    </a:p>
                  </a:txBody>
                  <a:tcPr marT="36576" marB="36576" marL="73152" marR="73152">
                    <a:solidFill>
                      <a:srgbClr val="1B2D5C"/>
                    </a:solidFill>
                  </a:tcPr>
                </a:tc>
              </a:tr>
              <a:tr h="655320">
                <a:tc>
                  <a:txBody>
                    <a:bodyPr/>
                    <a:lstStyle/>
                    <a:p>
                      <a:pPr algn="l">
                        <a:defRPr sz="1019" b="1">
                          <a:solidFill>
                            <a:srgbClr val="00E5FF"/>
                          </a:solidFill>
                          <a:latin typeface="Calibri"/>
                        </a:defRPr>
                      </a:pPr>
                      <a:r>
                        <a:t>Lerner et al. (2001)</a:t>
                      </a:r>
                    </a:p>
                  </a:txBody>
                  <a:tcPr marT="36576" marB="36576" marL="73152" marR="73152">
                    <a:solidFill>
                      <a:srgbClr val="132247"/>
                    </a:solidFill>
                  </a:tcPr>
                </a:tc>
                <a:tc>
                  <a:txBody>
                    <a:bodyPr/>
                    <a:lstStyle/>
                    <a:p>
                      <a:pPr algn="l">
                        <a:defRPr sz="1019" b="0">
                          <a:solidFill>
                            <a:srgbClr val="E2E8F0"/>
                          </a:solidFill>
                          <a:latin typeface="Calibri"/>
                        </a:defRPr>
                      </a:pPr>
                      <a:r>
                        <a:t>The Golden Hour: Scientific Fact or Legend? (Acad Emerg Med)</a:t>
                      </a:r>
                    </a:p>
                  </a:txBody>
                  <a:tcPr marT="36576" marB="36576" marL="73152" marR="73152">
                    <a:solidFill>
                      <a:srgbClr val="132247"/>
                    </a:solidFill>
                  </a:tcPr>
                </a:tc>
                <a:tc>
                  <a:txBody>
                    <a:bodyPr/>
                    <a:lstStyle/>
                    <a:p>
                      <a:pPr algn="l">
                        <a:defRPr sz="1019" b="0">
                          <a:solidFill>
                            <a:srgbClr val="E2E8F0"/>
                          </a:solidFill>
                          <a:latin typeface="Calibri"/>
                        </a:defRPr>
                      </a:pPr>
                      <a:r>
                        <a:t>Trauma mortality rises sharply if definitive surgical care is delayed past 60 min.</a:t>
                      </a:r>
                    </a:p>
                  </a:txBody>
                  <a:tcPr marT="36576" marB="36576" marL="73152" marR="73152">
                    <a:solidFill>
                      <a:srgbClr val="132247"/>
                    </a:solidFill>
                  </a:tcPr>
                </a:tc>
                <a:tc>
                  <a:txBody>
                    <a:bodyPr/>
                    <a:lstStyle/>
                    <a:p>
                      <a:pPr algn="l">
                        <a:defRPr sz="1019" b="1">
                          <a:solidFill>
                            <a:srgbClr val="00E676"/>
                          </a:solidFill>
                          <a:latin typeface="Calibri"/>
                        </a:defRPr>
                      </a:pPr>
                      <a:r>
                        <a:t>Prioritized surgical capability over geographic proximity in decision engine.</a:t>
                      </a:r>
                    </a:p>
                  </a:txBody>
                  <a:tcPr marT="36576" marB="36576" marL="73152" marR="73152">
                    <a:solidFill>
                      <a:srgbClr val="132247"/>
                    </a:solidFill>
                  </a:tcPr>
                </a:tc>
              </a:tr>
              <a:tr h="655320">
                <a:tc>
                  <a:txBody>
                    <a:bodyPr/>
                    <a:lstStyle/>
                    <a:p>
                      <a:pPr algn="l">
                        <a:defRPr sz="1019" b="1">
                          <a:solidFill>
                            <a:srgbClr val="00E5FF"/>
                          </a:solidFill>
                          <a:latin typeface="Calibri"/>
                        </a:defRPr>
                      </a:pPr>
                      <a:r>
                        <a:t>MacKenzie et al. (2006)</a:t>
                      </a:r>
                    </a:p>
                  </a:txBody>
                  <a:tcPr marT="36576" marB="36576" marL="73152" marR="73152">
                    <a:solidFill>
                      <a:srgbClr val="1B2D5C"/>
                    </a:solidFill>
                  </a:tcPr>
                </a:tc>
                <a:tc>
                  <a:txBody>
                    <a:bodyPr/>
                    <a:lstStyle/>
                    <a:p>
                      <a:pPr algn="l">
                        <a:defRPr sz="1019" b="0">
                          <a:solidFill>
                            <a:srgbClr val="E2E8F0"/>
                          </a:solidFill>
                          <a:latin typeface="Calibri"/>
                        </a:defRPr>
                      </a:pPr>
                      <a:r>
                        <a:t>National Evaluation of Trauma Centers (N Engl J Med)</a:t>
                      </a:r>
                    </a:p>
                  </a:txBody>
                  <a:tcPr marT="36576" marB="36576" marL="73152" marR="73152">
                    <a:solidFill>
                      <a:srgbClr val="1B2D5C"/>
                    </a:solidFill>
                  </a:tcPr>
                </a:tc>
                <a:tc>
                  <a:txBody>
                    <a:bodyPr/>
                    <a:lstStyle/>
                    <a:p>
                      <a:pPr algn="l">
                        <a:defRPr sz="1019" b="0">
                          <a:solidFill>
                            <a:srgbClr val="E2E8F0"/>
                          </a:solidFill>
                          <a:latin typeface="Calibri"/>
                        </a:defRPr>
                      </a:pPr>
                      <a:r>
                        <a:t>Treatment at Level-1 Trauma Centers reduces mortality by 25% vs non-trauma clinics.</a:t>
                      </a:r>
                    </a:p>
                  </a:txBody>
                  <a:tcPr marT="36576" marB="36576" marL="73152" marR="73152">
                    <a:solidFill>
                      <a:srgbClr val="1B2D5C"/>
                    </a:solidFill>
                  </a:tcPr>
                </a:tc>
                <a:tc>
                  <a:txBody>
                    <a:bodyPr/>
                    <a:lstStyle/>
                    <a:p>
                      <a:pPr algn="l">
                        <a:defRPr sz="1019" b="1">
                          <a:solidFill>
                            <a:srgbClr val="00E676"/>
                          </a:solidFill>
                          <a:latin typeface="Calibri"/>
                        </a:defRPr>
                      </a:pPr>
                      <a:r>
                        <a:t>Implemented hard safety gate: severe trauma cannot be sent to unaccredited clinics.</a:t>
                      </a:r>
                    </a:p>
                  </a:txBody>
                  <a:tcPr marT="36576" marB="36576" marL="73152" marR="73152">
                    <a:solidFill>
                      <a:srgbClr val="1B2D5C"/>
                    </a:solidFill>
                  </a:tcPr>
                </a:tc>
              </a:tr>
              <a:tr h="655320">
                <a:tc>
                  <a:txBody>
                    <a:bodyPr/>
                    <a:lstStyle/>
                    <a:p>
                      <a:pPr algn="l">
                        <a:defRPr sz="1019" b="1">
                          <a:solidFill>
                            <a:srgbClr val="00E5FF"/>
                          </a:solidFill>
                          <a:latin typeface="Calibri"/>
                        </a:defRPr>
                      </a:pPr>
                      <a:r>
                        <a:t>Nathens et al. (2003)</a:t>
                      </a:r>
                    </a:p>
                  </a:txBody>
                  <a:tcPr marT="36576" marB="36576" marL="73152" marR="73152">
                    <a:solidFill>
                      <a:srgbClr val="132247"/>
                    </a:solidFill>
                  </a:tcPr>
                </a:tc>
                <a:tc>
                  <a:txBody>
                    <a:bodyPr/>
                    <a:lstStyle/>
                    <a:p>
                      <a:pPr algn="l">
                        <a:defRPr sz="1019" b="0">
                          <a:solidFill>
                            <a:srgbClr val="E2E8F0"/>
                          </a:solidFill>
                          <a:latin typeface="Calibri"/>
                        </a:defRPr>
                      </a:pPr>
                      <a:r>
                        <a:t>Effect of Interfacility Transfer in Trauma (J Trauma)</a:t>
                      </a:r>
                    </a:p>
                  </a:txBody>
                  <a:tcPr marT="36576" marB="36576" marL="73152" marR="73152">
                    <a:solidFill>
                      <a:srgbClr val="132247"/>
                    </a:solidFill>
                  </a:tcPr>
                </a:tc>
                <a:tc>
                  <a:txBody>
                    <a:bodyPr/>
                    <a:lstStyle/>
                    <a:p>
                      <a:pPr algn="l">
                        <a:defRPr sz="1019" b="0">
                          <a:solidFill>
                            <a:srgbClr val="E2E8F0"/>
                          </a:solidFill>
                          <a:latin typeface="Calibri"/>
                        </a:defRPr>
                      </a:pPr>
                      <a:r>
                        <a:t>Secondary inter-hospital transfers waste ~42 minutes and cause 25% higher mortality.</a:t>
                      </a:r>
                    </a:p>
                  </a:txBody>
                  <a:tcPr marT="36576" marB="36576" marL="73152" marR="73152">
                    <a:solidFill>
                      <a:srgbClr val="132247"/>
                    </a:solidFill>
                  </a:tcPr>
                </a:tc>
                <a:tc>
                  <a:txBody>
                    <a:bodyPr/>
                    <a:lstStyle/>
                    <a:p>
                      <a:pPr algn="l">
                        <a:defRPr sz="1019" b="1">
                          <a:solidFill>
                            <a:srgbClr val="00E676"/>
                          </a:solidFill>
                          <a:latin typeface="Calibri"/>
                        </a:defRPr>
                      </a:pPr>
                      <a:r>
                        <a:t>Engineered 5D MCDA algorithm to guarantee patient reaches right hospital first time.</a:t>
                      </a:r>
                    </a:p>
                  </a:txBody>
                  <a:tcPr marT="36576" marB="36576" marL="73152" marR="73152">
                    <a:solidFill>
                      <a:srgbClr val="132247"/>
                    </a:solidFill>
                  </a:tcPr>
                </a:tc>
              </a:tr>
              <a:tr h="655320">
                <a:tc>
                  <a:txBody>
                    <a:bodyPr/>
                    <a:lstStyle/>
                    <a:p>
                      <a:pPr algn="l">
                        <a:defRPr sz="1019" b="1">
                          <a:solidFill>
                            <a:srgbClr val="00E5FF"/>
                          </a:solidFill>
                          <a:latin typeface="Calibri"/>
                        </a:defRPr>
                      </a:pPr>
                      <a:r>
                        <a:t>Elayan et al. (2021)</a:t>
                      </a:r>
                    </a:p>
                  </a:txBody>
                  <a:tcPr marT="36576" marB="36576" marL="73152" marR="73152">
                    <a:solidFill>
                      <a:srgbClr val="1B2D5C"/>
                    </a:solidFill>
                  </a:tcPr>
                </a:tc>
                <a:tc>
                  <a:txBody>
                    <a:bodyPr/>
                    <a:lstStyle/>
                    <a:p>
                      <a:pPr algn="l">
                        <a:defRPr sz="1019" b="0">
                          <a:solidFill>
                            <a:srgbClr val="E2E8F0"/>
                          </a:solidFill>
                          <a:latin typeface="Calibri"/>
                        </a:defRPr>
                      </a:pPr>
                      <a:r>
                        <a:t>Digital Twin for Context-Aware IoT (IEEE IoT J)</a:t>
                      </a:r>
                    </a:p>
                  </a:txBody>
                  <a:tcPr marT="36576" marB="36576" marL="73152" marR="73152">
                    <a:solidFill>
                      <a:srgbClr val="1B2D5C"/>
                    </a:solidFill>
                  </a:tcPr>
                </a:tc>
                <a:tc>
                  <a:txBody>
                    <a:bodyPr/>
                    <a:lstStyle/>
                    <a:p>
                      <a:pPr algn="l">
                        <a:defRPr sz="1019" b="0">
                          <a:solidFill>
                            <a:srgbClr val="E2E8F0"/>
                          </a:solidFill>
                          <a:latin typeface="Calibri"/>
                        </a:defRPr>
                      </a:pPr>
                      <a:r>
                        <a:t>Synchronized digital twins reduce hospital bed wait times and improve triage coordination.</a:t>
                      </a:r>
                    </a:p>
                  </a:txBody>
                  <a:tcPr marT="36576" marB="36576" marL="73152" marR="73152">
                    <a:solidFill>
                      <a:srgbClr val="1B2D5C"/>
                    </a:solidFill>
                  </a:tcPr>
                </a:tc>
                <a:tc>
                  <a:txBody>
                    <a:bodyPr/>
                    <a:lstStyle/>
                    <a:p>
                      <a:pPr algn="l">
                        <a:defRPr sz="1019" b="1">
                          <a:solidFill>
                            <a:srgbClr val="00E676"/>
                          </a:solidFill>
                          <a:latin typeface="Calibri"/>
                        </a:defRPr>
                      </a:pPr>
                      <a:r>
                        <a:t>Built 3 digital twins (Patient, Transport, Hospital) synchronized at 1-Hz frequency.</a:t>
                      </a:r>
                    </a:p>
                  </a:txBody>
                  <a:tcPr marT="36576" marB="36576" marL="73152" marR="73152">
                    <a:solidFill>
                      <a:srgbClr val="1B2D5C"/>
                    </a:solidFill>
                  </a:tcPr>
                </a:tc>
              </a:tr>
              <a:tr h="655320">
                <a:tc>
                  <a:txBody>
                    <a:bodyPr/>
                    <a:lstStyle/>
                    <a:p>
                      <a:pPr algn="l">
                        <a:defRPr sz="1019" b="1">
                          <a:solidFill>
                            <a:srgbClr val="00E5FF"/>
                          </a:solidFill>
                          <a:latin typeface="Calibri"/>
                        </a:defRPr>
                      </a:pPr>
                      <a:r>
                        <a:t>Sasser et al. (2012)</a:t>
                      </a:r>
                    </a:p>
                  </a:txBody>
                  <a:tcPr marT="36576" marB="36576" marL="73152" marR="73152">
                    <a:solidFill>
                      <a:srgbClr val="132247"/>
                    </a:solidFill>
                  </a:tcPr>
                </a:tc>
                <a:tc>
                  <a:txBody>
                    <a:bodyPr/>
                    <a:lstStyle/>
                    <a:p>
                      <a:pPr algn="l">
                        <a:defRPr sz="1019" b="0">
                          <a:solidFill>
                            <a:srgbClr val="E2E8F0"/>
                          </a:solidFill>
                          <a:latin typeface="Calibri"/>
                        </a:defRPr>
                      </a:pPr>
                      <a:r>
                        <a:t>CDC Guidelines for Field Triage (MMWR)</a:t>
                      </a:r>
                    </a:p>
                  </a:txBody>
                  <a:tcPr marT="36576" marB="36576" marL="73152" marR="73152">
                    <a:solidFill>
                      <a:srgbClr val="132247"/>
                    </a:solidFill>
                  </a:tcPr>
                </a:tc>
                <a:tc>
                  <a:txBody>
                    <a:bodyPr/>
                    <a:lstStyle/>
                    <a:p>
                      <a:pPr algn="l">
                        <a:defRPr sz="1019" b="0">
                          <a:solidFill>
                            <a:srgbClr val="E2E8F0"/>
                          </a:solidFill>
                          <a:latin typeface="Calibri"/>
                        </a:defRPr>
                      </a:pPr>
                      <a:r>
                        <a:t>Established physiological vital criteria (HR, BP, SpO2) defining severe trauma.</a:t>
                      </a:r>
                    </a:p>
                  </a:txBody>
                  <a:tcPr marT="36576" marB="36576" marL="73152" marR="73152">
                    <a:solidFill>
                      <a:srgbClr val="132247"/>
                    </a:solidFill>
                  </a:tcPr>
                </a:tc>
                <a:tc>
                  <a:txBody>
                    <a:bodyPr/>
                    <a:lstStyle/>
                    <a:p>
                      <a:pPr algn="l">
                        <a:defRPr sz="1019" b="1">
                          <a:solidFill>
                            <a:srgbClr val="00E676"/>
                          </a:solidFill>
                          <a:latin typeface="Calibri"/>
                        </a:defRPr>
                      </a:pPr>
                      <a:r>
                        <a:t>Integrated CDC triage thresholds into automated patient deterioration risk scoring.</a:t>
                      </a:r>
                    </a:p>
                  </a:txBody>
                  <a:tcPr marT="36576" marB="36576" marL="73152" marR="73152">
                    <a:solidFill>
                      <a:srgbClr val="132247"/>
                    </a:solidFill>
                  </a:tcPr>
                </a:tc>
              </a:tr>
            </a:tbl>
          </a:graphicData>
        </a:graphic>
      </p:graphicFrame>
      <p:sp>
        <p:nvSpPr>
          <p:cNvPr id="10" name="Rounded Rectangle 9"/>
          <p:cNvSpPr/>
          <p:nvPr/>
        </p:nvSpPr>
        <p:spPr>
          <a:xfrm>
            <a:off x="548640" y="5532120"/>
            <a:ext cx="11094415" cy="868680"/>
          </a:xfrm>
          <a:prstGeom prst="roundRect">
            <a:avLst>
              <a:gd name="adj" fmla="val 2000"/>
            </a:avLst>
          </a:prstGeom>
          <a:solidFill>
            <a:srgbClr val="1B2D5C"/>
          </a:solidFill>
          <a:ln w="15240">
            <a:solidFill>
              <a:srgbClr val="FFD700"/>
            </a:solidFill>
          </a:ln>
        </p:spPr>
        <p:style>
          <a:lnRef idx="1">
            <a:schemeClr val="accent1"/>
          </a:lnRef>
          <a:fillRef idx="3">
            <a:schemeClr val="accent1"/>
          </a:fillRef>
          <a:effectRef idx="2">
            <a:schemeClr val="accent1"/>
          </a:effectRef>
          <a:fontRef idx="minor">
            <a:schemeClr val="lt1"/>
          </a:fontRef>
        </p:style>
        <p:txBody>
          <a:bodyPr rtlCol="0" anchor="t" wrap="square" lIns="201168" rIns="201168" tIns="109728"/>
          <a:lstStyle/>
          <a:p>
            <a:pPr algn="ctr">
              <a:spcAft>
                <a:spcPts val="200"/>
              </a:spcAft>
              <a:defRPr b="1" sz="1100">
                <a:solidFill>
                  <a:srgbClr val="FFD700"/>
                </a:solidFill>
              </a:defRPr>
            </a:pPr>
            <a:r>
              <a:t>RESEARCH TAKEAWAY GROUNDING OUR SYSTEM:</a:t>
            </a:r>
          </a:p>
          <a:p>
            <a:pPr>
              <a:defRPr sz="1050">
                <a:solidFill>
                  <a:srgbClr val="FFFFFF"/>
                </a:solidFill>
              </a:defRPr>
            </a:pPr>
            <a:r>
              <a:t>Published emergency research proves that proximity alone does not save lives — capability does. Our code implements clinical safety gating so patients bypass unequipped clinics, while edge buffering guarantees zero vital data is lost in transit.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11094415" cy="1078992"/>
          </a:xfrm>
          <a:prstGeom prst="rect">
            <a:avLst/>
          </a:prstGeom>
          <a:solidFill>
            <a:srgbClr val="132247"/>
          </a:solidFill>
          <a:ln w="12700">
            <a:solidFill>
              <a:srgbClr val="2C4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402336"/>
            <a:ext cx="4389120" cy="256032"/>
          </a:xfrm>
          <a:prstGeom prst="roundRect">
            <a:avLst>
              <a:gd name="adj" fmla="val 20000"/>
            </a:avLst>
          </a:prstGeom>
          <a:solidFill>
            <a:srgbClr val="1B2D5C"/>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950" b="1">
                <a:solidFill>
                  <a:srgbClr val="00E5FF"/>
                </a:solidFill>
                <a:latin typeface="Calibri"/>
              </a:defRPr>
            </a:pPr>
            <a:r>
              <a:t>RUBRIC 5: SYSTEM ARCHITECTURE &amp; DESIGN</a:t>
            </a:r>
          </a:p>
        </p:txBody>
      </p:sp>
      <p:sp>
        <p:nvSpPr>
          <p:cNvPr id="5" name="TextBox 4"/>
          <p:cNvSpPr txBox="1"/>
          <p:nvPr/>
        </p:nvSpPr>
        <p:spPr>
          <a:xfrm>
            <a:off x="731520" y="667512"/>
            <a:ext cx="10698480" cy="384048"/>
          </a:xfrm>
          <a:prstGeom prst="rect">
            <a:avLst/>
          </a:prstGeom>
          <a:noFill/>
        </p:spPr>
        <p:txBody>
          <a:bodyPr wrap="square" lIns="0" tIns="0" rIns="0" bIns="0">
            <a:spAutoFit/>
          </a:bodyPr>
          <a:lstStyle/>
          <a:p>
            <a:pPr>
              <a:defRPr sz="1900" b="1">
                <a:solidFill>
                  <a:srgbClr val="FFFFFF"/>
                </a:solidFill>
                <a:latin typeface="Calibri"/>
              </a:defRPr>
            </a:pPr>
            <a:r>
              <a:t>End-to-End System Architecture: Emergency SOS to Hospital ED</a:t>
            </a:r>
          </a:p>
        </p:txBody>
      </p:sp>
      <p:sp>
        <p:nvSpPr>
          <p:cNvPr id="6" name="TextBox 5"/>
          <p:cNvSpPr txBox="1"/>
          <p:nvPr/>
        </p:nvSpPr>
        <p:spPr>
          <a:xfrm>
            <a:off x="731520" y="1069848"/>
            <a:ext cx="10698480" cy="274320"/>
          </a:xfrm>
          <a:prstGeom prst="rect">
            <a:avLst/>
          </a:prstGeom>
          <a:noFill/>
        </p:spPr>
        <p:txBody>
          <a:bodyPr wrap="square" lIns="0" tIns="0" rIns="0" bIns="0">
            <a:spAutoFit/>
          </a:bodyPr>
          <a:lstStyle/>
          <a:p>
            <a:pPr>
              <a:defRPr sz="1100">
                <a:solidFill>
                  <a:srgbClr val="00E5FF"/>
                </a:solidFill>
                <a:latin typeface="Calibri"/>
              </a:defRPr>
            </a:pPr>
            <a:r>
              <a:t>The 5-tier architecture connecting Citizen Intake, Ambulance Mobile Cabin, Central Core, and Hospital Console</a:t>
            </a:r>
          </a:p>
        </p:txBody>
      </p:sp>
      <p:sp>
        <p:nvSpPr>
          <p:cNvPr id="7" name="TextBox 6"/>
          <p:cNvSpPr txBox="1"/>
          <p:nvPr/>
        </p:nvSpPr>
        <p:spPr>
          <a:xfrm>
            <a:off x="548640" y="6510528"/>
            <a:ext cx="9601200" cy="256032"/>
          </a:xfrm>
          <a:prstGeom prst="rect">
            <a:avLst/>
          </a:prstGeom>
          <a:noFill/>
        </p:spPr>
        <p:txBody>
          <a:bodyPr wrap="none" lIns="0" tIns="0" rIns="0" bIns="0">
            <a:spAutoFit/>
          </a:bodyPr>
          <a:lstStyle/>
          <a:p>
            <a:pPr>
              <a:defRPr sz="900">
                <a:solidFill>
                  <a:srgbClr val="94A3B8"/>
                </a:solidFill>
                <a:latin typeface="Calibri"/>
              </a:defRPr>
            </a:pPr>
            <a:r>
              <a:t>LifeFlow AI — Predictive Emergency Healthcare Digital Twin Platform  |  Capstone Project-1 Review-2</a:t>
            </a:r>
          </a:p>
        </p:txBody>
      </p:sp>
      <p:sp>
        <p:nvSpPr>
          <p:cNvPr id="8" name="TextBox 7"/>
          <p:cNvSpPr txBox="1"/>
          <p:nvPr/>
        </p:nvSpPr>
        <p:spPr>
          <a:xfrm>
            <a:off x="10515600" y="6510528"/>
            <a:ext cx="1127455" cy="256032"/>
          </a:xfrm>
          <a:prstGeom prst="rect">
            <a:avLst/>
          </a:prstGeom>
          <a:noFill/>
        </p:spPr>
        <p:txBody>
          <a:bodyPr wrap="none" lIns="0" tIns="0" rIns="0" bIns="0">
            <a:spAutoFit/>
          </a:bodyPr>
          <a:lstStyle/>
          <a:p>
            <a:pPr algn="r">
              <a:defRPr sz="950" b="1">
                <a:solidFill>
                  <a:srgbClr val="00E5FF"/>
                </a:solidFill>
                <a:latin typeface="Calibri"/>
              </a:defRPr>
            </a:pPr>
            <a:r>
              <a:t>Slide 6 of 27</a:t>
            </a:r>
          </a:p>
        </p:txBody>
      </p:sp>
      <p:sp>
        <p:nvSpPr>
          <p:cNvPr id="9" name="Rounded Rectangle 8"/>
          <p:cNvSpPr/>
          <p:nvPr/>
        </p:nvSpPr>
        <p:spPr>
          <a:xfrm>
            <a:off x="548640" y="1508760"/>
            <a:ext cx="4754880" cy="4754880"/>
          </a:xfrm>
          <a:prstGeom prst="roundRect">
            <a:avLst>
              <a:gd name="adj" fmla="val 2500"/>
            </a:avLst>
          </a:prstGeom>
          <a:solidFill>
            <a:srgbClr val="132247"/>
          </a:solidFill>
          <a:ln w="15240">
            <a:solidFill>
              <a:srgbClr val="2C4A87"/>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46304"/>
          <a:lstStyle/>
          <a:p>
            <a:pPr algn="ctr">
              <a:spcAft>
                <a:spcPts val="700"/>
              </a:spcAft>
              <a:defRPr sz="1550" b="1">
                <a:solidFill>
                  <a:srgbClr val="00E5FF"/>
                </a:solidFill>
                <a:latin typeface="Calibri"/>
              </a:defRPr>
            </a:pPr>
            <a:r>
              <a:t>The 5 Implemented Architectural Tiers</a:t>
            </a:r>
          </a:p>
          <a:p>
            <a:pPr>
              <a:spcAft>
                <a:spcPts val="500"/>
              </a:spcAft>
            </a:pPr>
            <a:r>
              <a:rPr b="1" sz="1200">
                <a:solidFill>
                  <a:srgbClr val="FFFFFF"/>
                </a:solidFill>
                <a:latin typeface="Calibri"/>
              </a:rPr>
              <a:t>Tier 1: Emergency SOS Intake: </a:t>
            </a:r>
            <a:r>
              <a:rPr sz="1150">
                <a:solidFill>
                  <a:srgbClr val="E2E8F0"/>
                </a:solidFill>
                <a:latin typeface="Calibri"/>
              </a:rPr>
              <a:t>Web GPS mapping with canvas photo compression + offline 2G SMS to 7249505296.</a:t>
            </a:r>
          </a:p>
          <a:p>
            <a:pPr>
              <a:spcAft>
                <a:spcPts val="500"/>
              </a:spcAft>
            </a:pPr>
            <a:r>
              <a:rPr b="1" sz="1200">
                <a:solidFill>
                  <a:srgbClr val="FFFFFF"/>
                </a:solidFill>
                <a:latin typeface="Calibri"/>
              </a:rPr>
              <a:t>Tier 2: Ambulance Mobile Cabin: </a:t>
            </a:r>
            <a:r>
              <a:rPr sz="1150">
                <a:solidFill>
                  <a:srgbClr val="E2E8F0"/>
                </a:solidFill>
                <a:latin typeface="Calibri"/>
              </a:rPr>
              <a:t>Android Kotlin app tracks GPS and motion; connects 10 medical feeds in cabin.</a:t>
            </a:r>
          </a:p>
          <a:p>
            <a:pPr>
              <a:spcAft>
                <a:spcPts val="500"/>
              </a:spcAft>
            </a:pPr>
            <a:r>
              <a:rPr b="1" sz="1200">
                <a:solidFill>
                  <a:srgbClr val="FFFFFF"/>
                </a:solidFill>
                <a:latin typeface="Calibri"/>
              </a:rPr>
              <a:t>Tier 3: In-Vehicle Edge Gateway: </a:t>
            </a:r>
            <a:r>
              <a:rPr sz="1150">
                <a:solidFill>
                  <a:srgbClr val="E2E8F0"/>
                </a:solidFill>
                <a:latin typeface="Calibri"/>
              </a:rPr>
              <a:t>FastAPI gateway buffers vitals in SQLite WAL in 0.024 ms; auto-flushes on reconnect.</a:t>
            </a:r>
          </a:p>
          <a:p>
            <a:pPr>
              <a:spcAft>
                <a:spcPts val="500"/>
              </a:spcAft>
            </a:pPr>
            <a:r>
              <a:rPr b="1" sz="1200">
                <a:solidFill>
                  <a:srgbClr val="FFFFFF"/>
                </a:solidFill>
                <a:latin typeface="Calibri"/>
              </a:rPr>
              <a:t>Tier 4: Spring Boot Core &amp; AI: </a:t>
            </a:r>
            <a:r>
              <a:rPr sz="1150">
                <a:solidFill>
                  <a:srgbClr val="E2E8F0"/>
                </a:solidFill>
                <a:latin typeface="Calibri"/>
              </a:rPr>
              <a:t>Mosquitto MQTT ingests 1-Hz stream; Spring Boot runs 5D decision engine; Python forecasts vitals.</a:t>
            </a:r>
          </a:p>
          <a:p>
            <a:pPr>
              <a:spcAft>
                <a:spcPts val="500"/>
              </a:spcAft>
            </a:pPr>
            <a:r>
              <a:rPr b="1" sz="1200">
                <a:solidFill>
                  <a:srgbClr val="FFFFFF"/>
                </a:solidFill>
                <a:latin typeface="Calibri"/>
              </a:rPr>
              <a:t>Tier 5: Tactical Hospital ED Console: </a:t>
            </a:r>
            <a:r>
              <a:rPr sz="1150">
                <a:solidFill>
                  <a:srgbClr val="E2E8F0"/>
                </a:solidFill>
                <a:latin typeface="Calibri"/>
              </a:rPr>
              <a:t>React 18 console plays siren chime; nurse 1-clicks to reserve bay; doctor sends live orders.</a:t>
            </a:r>
          </a:p>
        </p:txBody>
      </p:sp>
      <p:sp>
        <p:nvSpPr>
          <p:cNvPr id="10" name="Rectangle 9"/>
          <p:cNvSpPr/>
          <p:nvPr/>
        </p:nvSpPr>
        <p:spPr>
          <a:xfrm>
            <a:off x="5468112" y="2146096"/>
            <a:ext cx="6193231" cy="3480207"/>
          </a:xfrm>
          <a:prstGeom prst="rect">
            <a:avLst/>
          </a:prstGeom>
          <a:solidFill>
            <a:srgbClr val="1B2D5C"/>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diag1_end_to_end_architecture.png"/>
          <p:cNvPicPr>
            <a:picLocks noChangeAspect="1"/>
          </p:cNvPicPr>
          <p:nvPr/>
        </p:nvPicPr>
        <p:blipFill>
          <a:blip r:embed="rId2"/>
          <a:stretch>
            <a:fillRect/>
          </a:stretch>
        </p:blipFill>
        <p:spPr>
          <a:xfrm>
            <a:off x="5486400" y="2164384"/>
            <a:ext cx="6156655" cy="3443631"/>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11094415" cy="1078992"/>
          </a:xfrm>
          <a:prstGeom prst="rect">
            <a:avLst/>
          </a:prstGeom>
          <a:solidFill>
            <a:srgbClr val="132247"/>
          </a:solidFill>
          <a:ln w="12700">
            <a:solidFill>
              <a:srgbClr val="2C4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402336"/>
            <a:ext cx="4389120" cy="256032"/>
          </a:xfrm>
          <a:prstGeom prst="roundRect">
            <a:avLst>
              <a:gd name="adj" fmla="val 20000"/>
            </a:avLst>
          </a:prstGeom>
          <a:solidFill>
            <a:srgbClr val="1B2D5C"/>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950" b="1">
                <a:solidFill>
                  <a:srgbClr val="00E5FF"/>
                </a:solidFill>
                <a:latin typeface="Calibri"/>
              </a:defRPr>
            </a:pPr>
            <a:r>
              <a:t>RUBRIC 5: END-TO-END DATA FLOW ARCHITECTURE</a:t>
            </a:r>
          </a:p>
        </p:txBody>
      </p:sp>
      <p:sp>
        <p:nvSpPr>
          <p:cNvPr id="5" name="TextBox 4"/>
          <p:cNvSpPr txBox="1"/>
          <p:nvPr/>
        </p:nvSpPr>
        <p:spPr>
          <a:xfrm>
            <a:off x="731520" y="667512"/>
            <a:ext cx="10698480" cy="384048"/>
          </a:xfrm>
          <a:prstGeom prst="rect">
            <a:avLst/>
          </a:prstGeom>
          <a:noFill/>
        </p:spPr>
        <p:txBody>
          <a:bodyPr wrap="square" lIns="0" tIns="0" rIns="0" bIns="0">
            <a:spAutoFit/>
          </a:bodyPr>
          <a:lstStyle/>
          <a:p>
            <a:pPr>
              <a:defRPr sz="1900" b="1">
                <a:solidFill>
                  <a:srgbClr val="FFFFFF"/>
                </a:solidFill>
                <a:latin typeface="Calibri"/>
              </a:defRPr>
            </a:pPr>
            <a:r>
              <a:t>Complete Data Flow: From Incident Scene to Resuscitation Bay</a:t>
            </a:r>
          </a:p>
        </p:txBody>
      </p:sp>
      <p:sp>
        <p:nvSpPr>
          <p:cNvPr id="6" name="TextBox 5"/>
          <p:cNvSpPr txBox="1"/>
          <p:nvPr/>
        </p:nvSpPr>
        <p:spPr>
          <a:xfrm>
            <a:off x="731520" y="1069848"/>
            <a:ext cx="10698480" cy="274320"/>
          </a:xfrm>
          <a:prstGeom prst="rect">
            <a:avLst/>
          </a:prstGeom>
          <a:noFill/>
        </p:spPr>
        <p:txBody>
          <a:bodyPr wrap="square" lIns="0" tIns="0" rIns="0" bIns="0">
            <a:spAutoFit/>
          </a:bodyPr>
          <a:lstStyle/>
          <a:p>
            <a:pPr>
              <a:defRPr sz="1100">
                <a:solidFill>
                  <a:srgbClr val="00E5FF"/>
                </a:solidFill>
                <a:latin typeface="Calibri"/>
              </a:defRPr>
            </a:pPr>
            <a:r>
              <a:t>Step-by-step tracing of how data moves across protocols from emergency trigger to doctor directives</a:t>
            </a:r>
          </a:p>
        </p:txBody>
      </p:sp>
      <p:sp>
        <p:nvSpPr>
          <p:cNvPr id="7" name="TextBox 6"/>
          <p:cNvSpPr txBox="1"/>
          <p:nvPr/>
        </p:nvSpPr>
        <p:spPr>
          <a:xfrm>
            <a:off x="548640" y="6510528"/>
            <a:ext cx="9601200" cy="256032"/>
          </a:xfrm>
          <a:prstGeom prst="rect">
            <a:avLst/>
          </a:prstGeom>
          <a:noFill/>
        </p:spPr>
        <p:txBody>
          <a:bodyPr wrap="none" lIns="0" tIns="0" rIns="0" bIns="0">
            <a:spAutoFit/>
          </a:bodyPr>
          <a:lstStyle/>
          <a:p>
            <a:pPr>
              <a:defRPr sz="900">
                <a:solidFill>
                  <a:srgbClr val="94A3B8"/>
                </a:solidFill>
                <a:latin typeface="Calibri"/>
              </a:defRPr>
            </a:pPr>
            <a:r>
              <a:t>LifeFlow AI — Predictive Emergency Healthcare Digital Twin Platform  |  Capstone Project-1 Review-2</a:t>
            </a:r>
          </a:p>
        </p:txBody>
      </p:sp>
      <p:sp>
        <p:nvSpPr>
          <p:cNvPr id="8" name="TextBox 7"/>
          <p:cNvSpPr txBox="1"/>
          <p:nvPr/>
        </p:nvSpPr>
        <p:spPr>
          <a:xfrm>
            <a:off x="10515600" y="6510528"/>
            <a:ext cx="1127455" cy="256032"/>
          </a:xfrm>
          <a:prstGeom prst="rect">
            <a:avLst/>
          </a:prstGeom>
          <a:noFill/>
        </p:spPr>
        <p:txBody>
          <a:bodyPr wrap="none" lIns="0" tIns="0" rIns="0" bIns="0">
            <a:spAutoFit/>
          </a:bodyPr>
          <a:lstStyle/>
          <a:p>
            <a:pPr algn="r">
              <a:defRPr sz="950" b="1">
                <a:solidFill>
                  <a:srgbClr val="00E5FF"/>
                </a:solidFill>
                <a:latin typeface="Calibri"/>
              </a:defRPr>
            </a:pPr>
            <a:r>
              <a:t>Slide 7 of 27</a:t>
            </a:r>
          </a:p>
        </p:txBody>
      </p:sp>
      <p:sp>
        <p:nvSpPr>
          <p:cNvPr id="9" name="Rounded Rectangle 8"/>
          <p:cNvSpPr/>
          <p:nvPr/>
        </p:nvSpPr>
        <p:spPr>
          <a:xfrm>
            <a:off x="548640" y="1508760"/>
            <a:ext cx="4572000" cy="4754880"/>
          </a:xfrm>
          <a:prstGeom prst="roundRect">
            <a:avLst>
              <a:gd name="adj" fmla="val 2500"/>
            </a:avLst>
          </a:prstGeom>
          <a:solidFill>
            <a:srgbClr val="132247"/>
          </a:solidFill>
          <a:ln w="15240">
            <a:solidFill>
              <a:srgbClr val="2C4A87"/>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46304"/>
          <a:lstStyle/>
          <a:p>
            <a:pPr algn="ctr">
              <a:spcAft>
                <a:spcPts val="700"/>
              </a:spcAft>
              <a:defRPr sz="1550" b="1">
                <a:solidFill>
                  <a:srgbClr val="00E5FF"/>
                </a:solidFill>
                <a:latin typeface="Calibri"/>
              </a:defRPr>
            </a:pPr>
            <a:r>
              <a:t>End-to-End Data Flow (In Simple Words)</a:t>
            </a:r>
          </a:p>
          <a:p>
            <a:pPr>
              <a:spcAft>
                <a:spcPts val="500"/>
              </a:spcAft>
            </a:pPr>
            <a:r>
              <a:rPr b="1" sz="1200">
                <a:solidFill>
                  <a:srgbClr val="FFFFFF"/>
                </a:solidFill>
                <a:latin typeface="Calibri"/>
              </a:rPr>
              <a:t>1. Citizen SOS Intake: </a:t>
            </a:r>
            <a:r>
              <a:rPr sz="1150">
                <a:solidFill>
                  <a:srgbClr val="E2E8F0"/>
                </a:solidFill>
                <a:latin typeface="Calibri"/>
              </a:rPr>
              <a:t>Web GPS pin or 2G SMS (7249505296) triggers incident; Haversine auto-pairs nearest ambulance.</a:t>
            </a:r>
          </a:p>
          <a:p>
            <a:pPr>
              <a:spcAft>
                <a:spcPts val="500"/>
              </a:spcAft>
            </a:pPr>
            <a:r>
              <a:rPr b="1" sz="1200">
                <a:solidFill>
                  <a:srgbClr val="FFFFFF"/>
                </a:solidFill>
                <a:latin typeface="Calibri"/>
              </a:rPr>
              <a:t>2. Ambulance Cabin Telemetry: </a:t>
            </a:r>
            <a:r>
              <a:rPr sz="1150">
                <a:solidFill>
                  <a:srgbClr val="E2E8F0"/>
                </a:solidFill>
                <a:latin typeface="Calibri"/>
              </a:rPr>
              <a:t>1-Hz MQTT stream from Android tablet; buffer.py writes to SQLite WAL in 0.024 ms during blackouts.</a:t>
            </a:r>
          </a:p>
          <a:p>
            <a:pPr>
              <a:spcAft>
                <a:spcPts val="500"/>
              </a:spcAft>
            </a:pPr>
            <a:r>
              <a:rPr b="1" sz="1200">
                <a:solidFill>
                  <a:srgbClr val="FFFFFF"/>
                </a:solidFill>
                <a:latin typeface="Calibri"/>
              </a:rPr>
              <a:t>3. AI &amp; Decision Core: </a:t>
            </a:r>
            <a:r>
              <a:rPr sz="1150">
                <a:solidFill>
                  <a:srgbClr val="E2E8F0"/>
                </a:solidFill>
                <a:latin typeface="Calibri"/>
              </a:rPr>
              <a:t>Mosquitto bridges to Spring Boot; 5D scoring ranks hospitals; Python AI computes 5, 15, 30 min vital trends.</a:t>
            </a:r>
          </a:p>
          <a:p>
            <a:pPr>
              <a:spcAft>
                <a:spcPts val="500"/>
              </a:spcAft>
            </a:pPr>
            <a:r>
              <a:rPr b="1" sz="1200">
                <a:solidFill>
                  <a:srgbClr val="FFFFFF"/>
                </a:solidFill>
                <a:latin typeface="Calibri"/>
              </a:rPr>
              <a:t>4. SBAR Handover Pre-Alert: </a:t>
            </a:r>
            <a:r>
              <a:rPr sz="1150">
                <a:solidFill>
                  <a:srgbClr val="E2E8F0"/>
                </a:solidFill>
                <a:latin typeface="Calibri"/>
              </a:rPr>
              <a:t>Structured SBAR payload generated; paramedic reviews and confirms recommendation on cabin tablet.</a:t>
            </a:r>
          </a:p>
          <a:p>
            <a:pPr>
              <a:spcAft>
                <a:spcPts val="500"/>
              </a:spcAft>
            </a:pPr>
            <a:r>
              <a:rPr b="1" sz="1200">
                <a:solidFill>
                  <a:srgbClr val="FFFFFF"/>
                </a:solidFill>
                <a:latin typeface="Calibri"/>
              </a:rPr>
              <a:t>5. Hospital Resuscitation: </a:t>
            </a:r>
            <a:r>
              <a:rPr sz="1150">
                <a:solidFill>
                  <a:srgbClr val="E2E8F0"/>
                </a:solidFill>
                <a:latin typeface="Calibri"/>
              </a:rPr>
              <a:t>WebSocket STOMP pushes pre-alert; nurse locks Trauma Bay 1 &amp; blood; doctor sends orders to ambulance.</a:t>
            </a:r>
          </a:p>
        </p:txBody>
      </p:sp>
      <p:sp>
        <p:nvSpPr>
          <p:cNvPr id="10" name="Rectangle 9"/>
          <p:cNvSpPr/>
          <p:nvPr/>
        </p:nvSpPr>
        <p:spPr>
          <a:xfrm>
            <a:off x="5285232" y="2094950"/>
            <a:ext cx="6376111" cy="3582498"/>
          </a:xfrm>
          <a:prstGeom prst="rect">
            <a:avLst/>
          </a:prstGeom>
          <a:solidFill>
            <a:srgbClr val="1B2D5C"/>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diag2_data_flow_protocols.png"/>
          <p:cNvPicPr>
            <a:picLocks noChangeAspect="1"/>
          </p:cNvPicPr>
          <p:nvPr/>
        </p:nvPicPr>
        <p:blipFill>
          <a:blip r:embed="rId2"/>
          <a:stretch>
            <a:fillRect/>
          </a:stretch>
        </p:blipFill>
        <p:spPr>
          <a:xfrm>
            <a:off x="5303520" y="2113238"/>
            <a:ext cx="6339535" cy="354592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11094415" cy="1078992"/>
          </a:xfrm>
          <a:prstGeom prst="rect">
            <a:avLst/>
          </a:prstGeom>
          <a:solidFill>
            <a:srgbClr val="132247"/>
          </a:solidFill>
          <a:ln w="12700">
            <a:solidFill>
              <a:srgbClr val="2C4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402336"/>
            <a:ext cx="4389120" cy="256032"/>
          </a:xfrm>
          <a:prstGeom prst="roundRect">
            <a:avLst>
              <a:gd name="adj" fmla="val 20000"/>
            </a:avLst>
          </a:prstGeom>
          <a:solidFill>
            <a:srgbClr val="1B2D5C"/>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950" b="1">
                <a:solidFill>
                  <a:srgbClr val="00E5FF"/>
                </a:solidFill>
                <a:latin typeface="Calibri"/>
              </a:defRPr>
            </a:pPr>
            <a:r>
              <a:t>RUBRIC 5 &amp; 7: HEALTHCARE ROLES &amp; CLINICAL WORKFLOWS</a:t>
            </a:r>
          </a:p>
        </p:txBody>
      </p:sp>
      <p:sp>
        <p:nvSpPr>
          <p:cNvPr id="5" name="TextBox 4"/>
          <p:cNvSpPr txBox="1"/>
          <p:nvPr/>
        </p:nvSpPr>
        <p:spPr>
          <a:xfrm>
            <a:off x="731520" y="667512"/>
            <a:ext cx="10698480" cy="384048"/>
          </a:xfrm>
          <a:prstGeom prst="rect">
            <a:avLst/>
          </a:prstGeom>
          <a:noFill/>
        </p:spPr>
        <p:txBody>
          <a:bodyPr wrap="square" lIns="0" tIns="0" rIns="0" bIns="0">
            <a:spAutoFit/>
          </a:bodyPr>
          <a:lstStyle/>
          <a:p>
            <a:pPr>
              <a:defRPr sz="1900" b="1">
                <a:solidFill>
                  <a:srgbClr val="FFFFFF"/>
                </a:solidFill>
                <a:latin typeface="Calibri"/>
              </a:defRPr>
            </a:pPr>
            <a:r>
              <a:t>Specialized Clinical Roles: Paramedic, Nurse, Doctor &amp; Dispatcher</a:t>
            </a:r>
          </a:p>
        </p:txBody>
      </p:sp>
      <p:sp>
        <p:nvSpPr>
          <p:cNvPr id="6" name="TextBox 5"/>
          <p:cNvSpPr txBox="1"/>
          <p:nvPr/>
        </p:nvSpPr>
        <p:spPr>
          <a:xfrm>
            <a:off x="731520" y="1069848"/>
            <a:ext cx="10698480" cy="274320"/>
          </a:xfrm>
          <a:prstGeom prst="rect">
            <a:avLst/>
          </a:prstGeom>
          <a:noFill/>
        </p:spPr>
        <p:txBody>
          <a:bodyPr wrap="square" lIns="0" tIns="0" rIns="0" bIns="0">
            <a:spAutoFit/>
          </a:bodyPr>
          <a:lstStyle/>
          <a:p>
            <a:pPr>
              <a:defRPr sz="1100">
                <a:solidFill>
                  <a:srgbClr val="00E5FF"/>
                </a:solidFill>
                <a:latin typeface="Calibri"/>
              </a:defRPr>
            </a:pPr>
            <a:r>
              <a:t>How each healthcare professional interacts with LifeFlow AI to coordinate emergency resuscitation</a:t>
            </a:r>
          </a:p>
        </p:txBody>
      </p:sp>
      <p:sp>
        <p:nvSpPr>
          <p:cNvPr id="7" name="TextBox 6"/>
          <p:cNvSpPr txBox="1"/>
          <p:nvPr/>
        </p:nvSpPr>
        <p:spPr>
          <a:xfrm>
            <a:off x="548640" y="6510528"/>
            <a:ext cx="9601200" cy="256032"/>
          </a:xfrm>
          <a:prstGeom prst="rect">
            <a:avLst/>
          </a:prstGeom>
          <a:noFill/>
        </p:spPr>
        <p:txBody>
          <a:bodyPr wrap="none" lIns="0" tIns="0" rIns="0" bIns="0">
            <a:spAutoFit/>
          </a:bodyPr>
          <a:lstStyle/>
          <a:p>
            <a:pPr>
              <a:defRPr sz="900">
                <a:solidFill>
                  <a:srgbClr val="94A3B8"/>
                </a:solidFill>
                <a:latin typeface="Calibri"/>
              </a:defRPr>
            </a:pPr>
            <a:r>
              <a:t>LifeFlow AI — Predictive Emergency Healthcare Digital Twin Platform  |  Capstone Project-1 Review-2</a:t>
            </a:r>
          </a:p>
        </p:txBody>
      </p:sp>
      <p:sp>
        <p:nvSpPr>
          <p:cNvPr id="8" name="TextBox 7"/>
          <p:cNvSpPr txBox="1"/>
          <p:nvPr/>
        </p:nvSpPr>
        <p:spPr>
          <a:xfrm>
            <a:off x="10515600" y="6510528"/>
            <a:ext cx="1127455" cy="256032"/>
          </a:xfrm>
          <a:prstGeom prst="rect">
            <a:avLst/>
          </a:prstGeom>
          <a:noFill/>
        </p:spPr>
        <p:txBody>
          <a:bodyPr wrap="none" lIns="0" tIns="0" rIns="0" bIns="0">
            <a:spAutoFit/>
          </a:bodyPr>
          <a:lstStyle/>
          <a:p>
            <a:pPr algn="r">
              <a:defRPr sz="950" b="1">
                <a:solidFill>
                  <a:srgbClr val="00E5FF"/>
                </a:solidFill>
                <a:latin typeface="Calibri"/>
              </a:defRPr>
            </a:pPr>
            <a:r>
              <a:t>Slide 8 of 27</a:t>
            </a:r>
          </a:p>
        </p:txBody>
      </p:sp>
      <p:sp>
        <p:nvSpPr>
          <p:cNvPr id="9" name="Rounded Rectangle 8"/>
          <p:cNvSpPr/>
          <p:nvPr/>
        </p:nvSpPr>
        <p:spPr>
          <a:xfrm>
            <a:off x="548640" y="1508760"/>
            <a:ext cx="4572000" cy="4754880"/>
          </a:xfrm>
          <a:prstGeom prst="roundRect">
            <a:avLst>
              <a:gd name="adj" fmla="val 2500"/>
            </a:avLst>
          </a:prstGeom>
          <a:solidFill>
            <a:srgbClr val="132247"/>
          </a:solidFill>
          <a:ln w="15240">
            <a:solidFill>
              <a:srgbClr val="2C4A87"/>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46304"/>
          <a:lstStyle/>
          <a:p>
            <a:pPr algn="ctr">
              <a:spcAft>
                <a:spcPts val="700"/>
              </a:spcAft>
              <a:defRPr sz="1550" b="1">
                <a:solidFill>
                  <a:srgbClr val="00E5FF"/>
                </a:solidFill>
                <a:latin typeface="Calibri"/>
              </a:defRPr>
            </a:pPr>
            <a:r>
              <a:t>5 Clinical Roles &amp; Responsibilities</a:t>
            </a:r>
          </a:p>
          <a:p>
            <a:pPr>
              <a:spcAft>
                <a:spcPts val="500"/>
              </a:spcAft>
            </a:pPr>
            <a:r>
              <a:rPr b="1" sz="1200">
                <a:solidFill>
                  <a:srgbClr val="FFFFFF"/>
                </a:solidFill>
                <a:latin typeface="Calibri"/>
              </a:rPr>
              <a:t>Citizen / Bystander: </a:t>
            </a:r>
            <a:r>
              <a:rPr sz="1150">
                <a:solidFill>
                  <a:srgbClr val="E2E8F0"/>
                </a:solidFill>
                <a:latin typeface="Calibri"/>
              </a:rPr>
              <a:t>Reports accident via Web GPS or offline 2G SMS; tracks live ambulance arrival with 4-step stepper.</a:t>
            </a:r>
          </a:p>
          <a:p>
            <a:pPr>
              <a:spcAft>
                <a:spcPts val="500"/>
              </a:spcAft>
            </a:pPr>
            <a:r>
              <a:rPr b="1" sz="1200">
                <a:solidFill>
                  <a:srgbClr val="FFFFFF"/>
                </a:solidFill>
                <a:latin typeface="Calibri"/>
              </a:rPr>
              <a:t>Central Dispatcher: </a:t>
            </a:r>
            <a:r>
              <a:rPr sz="1150">
                <a:solidFill>
                  <a:srgbClr val="E2E8F0"/>
                </a:solidFill>
                <a:latin typeface="Calibri"/>
              </a:rPr>
              <a:t>Operations dashboard monitors regional fleet, reviews casualty counts, and confirms vehicle assignments.</a:t>
            </a:r>
          </a:p>
          <a:p>
            <a:pPr>
              <a:spcAft>
                <a:spcPts val="500"/>
              </a:spcAft>
            </a:pPr>
            <a:r>
              <a:rPr b="1" sz="1200">
                <a:solidFill>
                  <a:srgbClr val="FFFFFF"/>
                </a:solidFill>
                <a:latin typeface="Calibri"/>
              </a:rPr>
              <a:t>Lead Paramedic: </a:t>
            </a:r>
            <a:r>
              <a:rPr sz="1150">
                <a:solidFill>
                  <a:srgbClr val="E2E8F0"/>
                </a:solidFill>
                <a:latin typeface="Calibri"/>
              </a:rPr>
              <a:t>Cabin tablet displays live vitals, approaching route, AI hospital advice; confirms SBAR pre-alert.</a:t>
            </a:r>
          </a:p>
          <a:p>
            <a:pPr>
              <a:spcAft>
                <a:spcPts val="500"/>
              </a:spcAft>
            </a:pPr>
            <a:r>
              <a:rPr b="1" sz="1200">
                <a:solidFill>
                  <a:srgbClr val="FFFFFF"/>
                </a:solidFill>
                <a:latin typeface="Calibri"/>
              </a:rPr>
              <a:t>Triage Nurse: </a:t>
            </a:r>
            <a:r>
              <a:rPr sz="1150">
                <a:solidFill>
                  <a:srgbClr val="E2E8F0"/>
                </a:solidFill>
                <a:latin typeface="Calibri"/>
              </a:rPr>
              <a:t>Hospital console chimes; 1-click accepts case, reserving Trauma Bay 1, 4 units O-Neg blood, and ventilator.</a:t>
            </a:r>
          </a:p>
          <a:p>
            <a:pPr>
              <a:spcAft>
                <a:spcPts val="500"/>
              </a:spcAft>
            </a:pPr>
            <a:r>
              <a:rPr b="1" sz="1200">
                <a:solidFill>
                  <a:srgbClr val="FFFFFF"/>
                </a:solidFill>
                <a:latin typeface="Calibri"/>
              </a:rPr>
              <a:t>Specialist Doctor: </a:t>
            </a:r>
            <a:r>
              <a:rPr sz="1150">
                <a:solidFill>
                  <a:srgbClr val="E2E8F0"/>
                </a:solidFill>
                <a:latin typeface="Calibri"/>
              </a:rPr>
              <a:t>Reviews live telemetry and transmits clinical directives (e.g. 'Administer TXA 1g IV') back to ambulance.</a:t>
            </a:r>
          </a:p>
        </p:txBody>
      </p:sp>
      <p:sp>
        <p:nvSpPr>
          <p:cNvPr id="10" name="Rectangle 9"/>
          <p:cNvSpPr/>
          <p:nvPr/>
        </p:nvSpPr>
        <p:spPr>
          <a:xfrm>
            <a:off x="5285232" y="2094950"/>
            <a:ext cx="6376111" cy="3582498"/>
          </a:xfrm>
          <a:prstGeom prst="rect">
            <a:avLst/>
          </a:prstGeom>
          <a:solidFill>
            <a:srgbClr val="1B2D5C"/>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diag3_role_collaboration.png"/>
          <p:cNvPicPr>
            <a:picLocks noChangeAspect="1"/>
          </p:cNvPicPr>
          <p:nvPr/>
        </p:nvPicPr>
        <p:blipFill>
          <a:blip r:embed="rId2"/>
          <a:stretch>
            <a:fillRect/>
          </a:stretch>
        </p:blipFill>
        <p:spPr>
          <a:xfrm>
            <a:off x="5303520" y="2113238"/>
            <a:ext cx="6339535" cy="354592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11094415" cy="1078992"/>
          </a:xfrm>
          <a:prstGeom prst="rect">
            <a:avLst/>
          </a:prstGeom>
          <a:solidFill>
            <a:srgbClr val="132247"/>
          </a:solidFill>
          <a:ln w="12700">
            <a:solidFill>
              <a:srgbClr val="2C4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402336"/>
            <a:ext cx="4389120" cy="256032"/>
          </a:xfrm>
          <a:prstGeom prst="roundRect">
            <a:avLst>
              <a:gd name="adj" fmla="val 20000"/>
            </a:avLst>
          </a:prstGeom>
          <a:solidFill>
            <a:srgbClr val="1B2D5C"/>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950" b="1">
                <a:solidFill>
                  <a:srgbClr val="00E5FF"/>
                </a:solidFill>
                <a:latin typeface="Calibri"/>
              </a:defRPr>
            </a:pPr>
            <a:r>
              <a:t>RUBRIC 5: SYSTEM ARCHITECTURE (DIGITAL TWINS)</a:t>
            </a:r>
          </a:p>
        </p:txBody>
      </p:sp>
      <p:sp>
        <p:nvSpPr>
          <p:cNvPr id="5" name="TextBox 4"/>
          <p:cNvSpPr txBox="1"/>
          <p:nvPr/>
        </p:nvSpPr>
        <p:spPr>
          <a:xfrm>
            <a:off x="731520" y="667512"/>
            <a:ext cx="10698480" cy="384048"/>
          </a:xfrm>
          <a:prstGeom prst="rect">
            <a:avLst/>
          </a:prstGeom>
          <a:noFill/>
        </p:spPr>
        <p:txBody>
          <a:bodyPr wrap="square" lIns="0" tIns="0" rIns="0" bIns="0">
            <a:spAutoFit/>
          </a:bodyPr>
          <a:lstStyle/>
          <a:p>
            <a:pPr>
              <a:defRPr sz="1900" b="1">
                <a:solidFill>
                  <a:srgbClr val="FFFFFF"/>
                </a:solidFill>
                <a:latin typeface="Calibri"/>
              </a:defRPr>
            </a:pPr>
            <a:r>
              <a:t>The Triple Digital Twin Engine: Explained Simply</a:t>
            </a:r>
          </a:p>
        </p:txBody>
      </p:sp>
      <p:sp>
        <p:nvSpPr>
          <p:cNvPr id="6" name="TextBox 5"/>
          <p:cNvSpPr txBox="1"/>
          <p:nvPr/>
        </p:nvSpPr>
        <p:spPr>
          <a:xfrm>
            <a:off x="731520" y="1069848"/>
            <a:ext cx="10698480" cy="274320"/>
          </a:xfrm>
          <a:prstGeom prst="rect">
            <a:avLst/>
          </a:prstGeom>
          <a:noFill/>
        </p:spPr>
        <p:txBody>
          <a:bodyPr wrap="square" lIns="0" tIns="0" rIns="0" bIns="0">
            <a:spAutoFit/>
          </a:bodyPr>
          <a:lstStyle/>
          <a:p>
            <a:pPr>
              <a:defRPr sz="1100">
                <a:solidFill>
                  <a:srgbClr val="00E5FF"/>
                </a:solidFill>
                <a:latin typeface="Calibri"/>
              </a:defRPr>
            </a:pPr>
            <a:r>
              <a:t>Three software models synchronized every second to keep track of the patient, vehicle, and hospital</a:t>
            </a:r>
          </a:p>
        </p:txBody>
      </p:sp>
      <p:sp>
        <p:nvSpPr>
          <p:cNvPr id="7" name="TextBox 6"/>
          <p:cNvSpPr txBox="1"/>
          <p:nvPr/>
        </p:nvSpPr>
        <p:spPr>
          <a:xfrm>
            <a:off x="548640" y="6510528"/>
            <a:ext cx="9601200" cy="256032"/>
          </a:xfrm>
          <a:prstGeom prst="rect">
            <a:avLst/>
          </a:prstGeom>
          <a:noFill/>
        </p:spPr>
        <p:txBody>
          <a:bodyPr wrap="none" lIns="0" tIns="0" rIns="0" bIns="0">
            <a:spAutoFit/>
          </a:bodyPr>
          <a:lstStyle/>
          <a:p>
            <a:pPr>
              <a:defRPr sz="900">
                <a:solidFill>
                  <a:srgbClr val="94A3B8"/>
                </a:solidFill>
                <a:latin typeface="Calibri"/>
              </a:defRPr>
            </a:pPr>
            <a:r>
              <a:t>LifeFlow AI — Predictive Emergency Healthcare Digital Twin Platform  |  Capstone Project-1 Review-2</a:t>
            </a:r>
          </a:p>
        </p:txBody>
      </p:sp>
      <p:sp>
        <p:nvSpPr>
          <p:cNvPr id="8" name="TextBox 7"/>
          <p:cNvSpPr txBox="1"/>
          <p:nvPr/>
        </p:nvSpPr>
        <p:spPr>
          <a:xfrm>
            <a:off x="10515600" y="6510528"/>
            <a:ext cx="1127455" cy="256032"/>
          </a:xfrm>
          <a:prstGeom prst="rect">
            <a:avLst/>
          </a:prstGeom>
          <a:noFill/>
        </p:spPr>
        <p:txBody>
          <a:bodyPr wrap="none" lIns="0" tIns="0" rIns="0" bIns="0">
            <a:spAutoFit/>
          </a:bodyPr>
          <a:lstStyle/>
          <a:p>
            <a:pPr algn="r">
              <a:defRPr sz="950" b="1">
                <a:solidFill>
                  <a:srgbClr val="00E5FF"/>
                </a:solidFill>
                <a:latin typeface="Calibri"/>
              </a:defRPr>
            </a:pPr>
            <a:r>
              <a:t>Slide 9 of 27</a:t>
            </a:r>
          </a:p>
        </p:txBody>
      </p:sp>
      <p:sp>
        <p:nvSpPr>
          <p:cNvPr id="9" name="Rounded Rectangle 8"/>
          <p:cNvSpPr/>
          <p:nvPr/>
        </p:nvSpPr>
        <p:spPr>
          <a:xfrm>
            <a:off x="548640" y="1508760"/>
            <a:ext cx="4754880" cy="4754880"/>
          </a:xfrm>
          <a:prstGeom prst="roundRect">
            <a:avLst>
              <a:gd name="adj" fmla="val 2500"/>
            </a:avLst>
          </a:prstGeom>
          <a:solidFill>
            <a:srgbClr val="132247"/>
          </a:solidFill>
          <a:ln w="15240">
            <a:solidFill>
              <a:srgbClr val="2C4A87"/>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46304"/>
          <a:lstStyle/>
          <a:p>
            <a:pPr algn="ctr">
              <a:spcAft>
                <a:spcPts val="700"/>
              </a:spcAft>
              <a:defRPr sz="1550" b="1">
                <a:solidFill>
                  <a:srgbClr val="00E5FF"/>
                </a:solidFill>
                <a:latin typeface="Calibri"/>
              </a:defRPr>
            </a:pPr>
            <a:r>
              <a:t>The 3 Digital Twins in Our Code</a:t>
            </a:r>
          </a:p>
          <a:p>
            <a:pPr>
              <a:spcAft>
                <a:spcPts val="500"/>
              </a:spcAft>
            </a:pPr>
            <a:r>
              <a:rPr b="1" sz="1200">
                <a:solidFill>
                  <a:srgbClr val="FFFFFF"/>
                </a:solidFill>
                <a:latin typeface="Calibri"/>
              </a:rPr>
              <a:t>1. Patient Digital Twin (TP): </a:t>
            </a:r>
            <a:r>
              <a:rPr sz="1150">
                <a:solidFill>
                  <a:srgbClr val="E2E8F0"/>
                </a:solidFill>
                <a:latin typeface="Calibri"/>
              </a:rPr>
              <a:t>Models patient physiology (HR, BP, SpO2, EtCO2) at 1-Hz; calculates 0 to 1 deterioration score. Sharp drops force instant hospital re-evaluation.</a:t>
            </a:r>
          </a:p>
          <a:p>
            <a:pPr>
              <a:spcAft>
                <a:spcPts val="500"/>
              </a:spcAft>
            </a:pPr>
            <a:r>
              <a:rPr b="1" sz="1200">
                <a:solidFill>
                  <a:srgbClr val="FFFFFF"/>
                </a:solidFill>
                <a:latin typeface="Calibri"/>
              </a:rPr>
              <a:t>2. Transport Digital Twin (TV): </a:t>
            </a:r>
            <a:r>
              <a:rPr sz="1150">
                <a:solidFill>
                  <a:srgbClr val="E2E8F0"/>
                </a:solidFill>
                <a:latin typeface="Calibri"/>
              </a:rPr>
              <a:t>Models vehicle kinematics (Android GPS, speed, bearing). Applies Haversine formula + 25% urban road curvature + traffic congestion for ETA.</a:t>
            </a:r>
          </a:p>
          <a:p>
            <a:pPr>
              <a:spcAft>
                <a:spcPts val="500"/>
              </a:spcAft>
            </a:pPr>
            <a:r>
              <a:rPr b="1" sz="1200">
                <a:solidFill>
                  <a:srgbClr val="FFFFFF"/>
                </a:solidFill>
                <a:latin typeface="Calibri"/>
              </a:rPr>
              <a:t>3. Hospital Digital Twin (TH): </a:t>
            </a:r>
            <a:r>
              <a:rPr sz="1150">
                <a:solidFill>
                  <a:srgbClr val="E2E8F0"/>
                </a:solidFill>
                <a:latin typeface="Calibri"/>
              </a:rPr>
              <a:t>Models regional ED capacity (ICU beds, trauma bays, ventilators). Flags telemetry as stale if older than 15 minutes, deducting score.</a:t>
            </a:r>
          </a:p>
          <a:p>
            <a:pPr>
              <a:spcAft>
                <a:spcPts val="500"/>
              </a:spcAft>
            </a:pPr>
            <a:r>
              <a:rPr b="1" sz="1200">
                <a:solidFill>
                  <a:srgbClr val="FFFFFF"/>
                </a:solidFill>
                <a:latin typeface="Calibri"/>
              </a:rPr>
              <a:t>Closed-Loop Synergy: </a:t>
            </a:r>
            <a:r>
              <a:rPr sz="1150">
                <a:solidFill>
                  <a:srgbClr val="E2E8F0"/>
                </a:solidFill>
                <a:latin typeface="Calibri"/>
              </a:rPr>
              <a:t>Combines patient condition, road transit time, and live hospital bed capacity every second to make optimal clinical routing decisions.</a:t>
            </a:r>
          </a:p>
        </p:txBody>
      </p:sp>
      <p:sp>
        <p:nvSpPr>
          <p:cNvPr id="10" name="Rectangle 9"/>
          <p:cNvSpPr/>
          <p:nvPr/>
        </p:nvSpPr>
        <p:spPr>
          <a:xfrm>
            <a:off x="5468112" y="2146096"/>
            <a:ext cx="6193231" cy="3480207"/>
          </a:xfrm>
          <a:prstGeom prst="rect">
            <a:avLst/>
          </a:prstGeom>
          <a:solidFill>
            <a:srgbClr val="1B2D5C"/>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diag5_triple_digital_twin.png"/>
          <p:cNvPicPr>
            <a:picLocks noChangeAspect="1"/>
          </p:cNvPicPr>
          <p:nvPr/>
        </p:nvPicPr>
        <p:blipFill>
          <a:blip r:embed="rId2"/>
          <a:stretch>
            <a:fillRect/>
          </a:stretch>
        </p:blipFill>
        <p:spPr>
          <a:xfrm>
            <a:off x="5486400" y="2164384"/>
            <a:ext cx="6156655" cy="3443631"/>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11094415" cy="1078992"/>
          </a:xfrm>
          <a:prstGeom prst="rect">
            <a:avLst/>
          </a:prstGeom>
          <a:solidFill>
            <a:srgbClr val="132247"/>
          </a:solidFill>
          <a:ln w="12700">
            <a:solidFill>
              <a:srgbClr val="2C4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402336"/>
            <a:ext cx="4389120" cy="256032"/>
          </a:xfrm>
          <a:prstGeom prst="roundRect">
            <a:avLst>
              <a:gd name="adj" fmla="val 20000"/>
            </a:avLst>
          </a:prstGeom>
          <a:solidFill>
            <a:srgbClr val="1B2D5C"/>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950" b="1">
                <a:solidFill>
                  <a:srgbClr val="00E5FF"/>
                </a:solidFill>
                <a:latin typeface="Calibri"/>
              </a:defRPr>
            </a:pPr>
            <a:r>
              <a:t>RUBRIC 6: TECHNOLOGIES / TOOLS USED</a:t>
            </a:r>
          </a:p>
        </p:txBody>
      </p:sp>
      <p:sp>
        <p:nvSpPr>
          <p:cNvPr id="5" name="TextBox 4"/>
          <p:cNvSpPr txBox="1"/>
          <p:nvPr/>
        </p:nvSpPr>
        <p:spPr>
          <a:xfrm>
            <a:off x="731520" y="667512"/>
            <a:ext cx="10698480" cy="384048"/>
          </a:xfrm>
          <a:prstGeom prst="rect">
            <a:avLst/>
          </a:prstGeom>
          <a:noFill/>
        </p:spPr>
        <p:txBody>
          <a:bodyPr wrap="square" lIns="0" tIns="0" rIns="0" bIns="0">
            <a:spAutoFit/>
          </a:bodyPr>
          <a:lstStyle/>
          <a:p>
            <a:pPr>
              <a:defRPr sz="1900" b="1">
                <a:solidFill>
                  <a:srgbClr val="FFFFFF"/>
                </a:solidFill>
                <a:latin typeface="Calibri"/>
              </a:defRPr>
            </a:pPr>
            <a:r>
              <a:t>Technologies &amp; Tools Used: Complete Software Stack</a:t>
            </a:r>
          </a:p>
        </p:txBody>
      </p:sp>
      <p:sp>
        <p:nvSpPr>
          <p:cNvPr id="6" name="TextBox 5"/>
          <p:cNvSpPr txBox="1"/>
          <p:nvPr/>
        </p:nvSpPr>
        <p:spPr>
          <a:xfrm>
            <a:off x="731520" y="1069848"/>
            <a:ext cx="10698480" cy="274320"/>
          </a:xfrm>
          <a:prstGeom prst="rect">
            <a:avLst/>
          </a:prstGeom>
          <a:noFill/>
        </p:spPr>
        <p:txBody>
          <a:bodyPr wrap="square" lIns="0" tIns="0" rIns="0" bIns="0">
            <a:spAutoFit/>
          </a:bodyPr>
          <a:lstStyle/>
          <a:p>
            <a:pPr>
              <a:defRPr sz="1100">
                <a:solidFill>
                  <a:srgbClr val="00E5FF"/>
                </a:solidFill>
                <a:latin typeface="Calibri"/>
              </a:defRPr>
            </a:pPr>
            <a:r>
              <a:t>Built with production-grade, 100% free open-source technologies with zero cloud subscription costs</a:t>
            </a:r>
          </a:p>
        </p:txBody>
      </p:sp>
      <p:sp>
        <p:nvSpPr>
          <p:cNvPr id="7" name="TextBox 6"/>
          <p:cNvSpPr txBox="1"/>
          <p:nvPr/>
        </p:nvSpPr>
        <p:spPr>
          <a:xfrm>
            <a:off x="548640" y="6510528"/>
            <a:ext cx="9601200" cy="256032"/>
          </a:xfrm>
          <a:prstGeom prst="rect">
            <a:avLst/>
          </a:prstGeom>
          <a:noFill/>
        </p:spPr>
        <p:txBody>
          <a:bodyPr wrap="none" lIns="0" tIns="0" rIns="0" bIns="0">
            <a:spAutoFit/>
          </a:bodyPr>
          <a:lstStyle/>
          <a:p>
            <a:pPr>
              <a:defRPr sz="900">
                <a:solidFill>
                  <a:srgbClr val="94A3B8"/>
                </a:solidFill>
                <a:latin typeface="Calibri"/>
              </a:defRPr>
            </a:pPr>
            <a:r>
              <a:t>LifeFlow AI — Predictive Emergency Healthcare Digital Twin Platform  |  Capstone Project-1 Review-2</a:t>
            </a:r>
          </a:p>
        </p:txBody>
      </p:sp>
      <p:sp>
        <p:nvSpPr>
          <p:cNvPr id="8" name="TextBox 7"/>
          <p:cNvSpPr txBox="1"/>
          <p:nvPr/>
        </p:nvSpPr>
        <p:spPr>
          <a:xfrm>
            <a:off x="10515600" y="6510528"/>
            <a:ext cx="1127455" cy="256032"/>
          </a:xfrm>
          <a:prstGeom prst="rect">
            <a:avLst/>
          </a:prstGeom>
          <a:noFill/>
        </p:spPr>
        <p:txBody>
          <a:bodyPr wrap="none" lIns="0" tIns="0" rIns="0" bIns="0">
            <a:spAutoFit/>
          </a:bodyPr>
          <a:lstStyle/>
          <a:p>
            <a:pPr algn="r">
              <a:defRPr sz="950" b="1">
                <a:solidFill>
                  <a:srgbClr val="00E5FF"/>
                </a:solidFill>
                <a:latin typeface="Calibri"/>
              </a:defRPr>
            </a:pPr>
            <a:r>
              <a:t>Slide 10 of 27</a:t>
            </a:r>
          </a:p>
        </p:txBody>
      </p:sp>
      <p:graphicFrame>
        <p:nvGraphicFramePr>
          <p:cNvPr id="9" name="Table 8"/>
          <p:cNvGraphicFramePr>
            <a:graphicFrameLocks noGrp="1"/>
          </p:cNvGraphicFramePr>
          <p:nvPr/>
        </p:nvGraphicFramePr>
        <p:xfrm>
          <a:off x="548640" y="1508760"/>
          <a:ext cx="11094415" cy="3931920"/>
        </p:xfrm>
        <a:graphic>
          <a:graphicData uri="http://schemas.openxmlformats.org/drawingml/2006/table">
            <a:tbl>
              <a:tblPr firstRow="1" bandRow="1">
                <a:tableStyleId>{5C22544A-7EE6-4342-B048-85BDC9FD1C3A}</a:tableStyleId>
              </a:tblPr>
              <a:tblGrid>
                <a:gridCol w="2011680"/>
                <a:gridCol w="2560320"/>
                <a:gridCol w="3291840"/>
                <a:gridCol w="3230575"/>
              </a:tblGrid>
              <a:tr h="561702">
                <a:tc>
                  <a:txBody>
                    <a:bodyPr/>
                    <a:lstStyle/>
                    <a:p>
                      <a:pPr algn="ctr">
                        <a:defRPr sz="1100" b="1">
                          <a:solidFill>
                            <a:srgbClr val="00E5FF"/>
                          </a:solidFill>
                          <a:latin typeface="Calibri"/>
                        </a:defRPr>
                      </a:pPr>
                      <a:r>
                        <a:t>Software Layer</a:t>
                      </a:r>
                    </a:p>
                  </a:txBody>
                  <a:tcPr marT="36576" marB="36576" marL="73152" marR="73152">
                    <a:solidFill>
                      <a:srgbClr val="1B2D5C"/>
                    </a:solidFill>
                  </a:tcPr>
                </a:tc>
                <a:tc>
                  <a:txBody>
                    <a:bodyPr/>
                    <a:lstStyle/>
                    <a:p>
                      <a:pPr algn="ctr">
                        <a:defRPr sz="1100" b="1">
                          <a:solidFill>
                            <a:srgbClr val="00E5FF"/>
                          </a:solidFill>
                          <a:latin typeface="Calibri"/>
                        </a:defRPr>
                      </a:pPr>
                      <a:r>
                        <a:t>Framework / Language</a:t>
                      </a:r>
                    </a:p>
                  </a:txBody>
                  <a:tcPr marT="36576" marB="36576" marL="73152" marR="73152">
                    <a:solidFill>
                      <a:srgbClr val="1B2D5C"/>
                    </a:solidFill>
                  </a:tcPr>
                </a:tc>
                <a:tc>
                  <a:txBody>
                    <a:bodyPr/>
                    <a:lstStyle/>
                    <a:p>
                      <a:pPr algn="ctr">
                        <a:defRPr sz="1100" b="1">
                          <a:solidFill>
                            <a:srgbClr val="00E5FF"/>
                          </a:solidFill>
                          <a:latin typeface="Calibri"/>
                        </a:defRPr>
                      </a:pPr>
                      <a:r>
                        <a:t>Key Libraries &amp; Protocols</a:t>
                      </a:r>
                    </a:p>
                  </a:txBody>
                  <a:tcPr marT="36576" marB="36576" marL="73152" marR="73152">
                    <a:solidFill>
                      <a:srgbClr val="1B2D5C"/>
                    </a:solidFill>
                  </a:tcPr>
                </a:tc>
                <a:tc>
                  <a:txBody>
                    <a:bodyPr/>
                    <a:lstStyle/>
                    <a:p>
                      <a:pPr algn="ctr">
                        <a:defRPr sz="1100" b="1">
                          <a:solidFill>
                            <a:srgbClr val="00E5FF"/>
                          </a:solidFill>
                          <a:latin typeface="Calibri"/>
                        </a:defRPr>
                      </a:pPr>
                      <a:r>
                        <a:t>Why We Picked This Technology</a:t>
                      </a:r>
                    </a:p>
                  </a:txBody>
                  <a:tcPr marT="36576" marB="36576" marL="73152" marR="73152">
                    <a:solidFill>
                      <a:srgbClr val="1B2D5C"/>
                    </a:solidFill>
                  </a:tcPr>
                </a:tc>
              </a:tr>
              <a:tr h="561702">
                <a:tc>
                  <a:txBody>
                    <a:bodyPr/>
                    <a:lstStyle/>
                    <a:p>
                      <a:pPr algn="l">
                        <a:defRPr sz="1050" b="1">
                          <a:solidFill>
                            <a:srgbClr val="00E5FF"/>
                          </a:solidFill>
                          <a:latin typeface="Calibri"/>
                        </a:defRPr>
                      </a:pPr>
                      <a:r>
                        <a:t>Android Telemetry App</a:t>
                      </a:r>
                    </a:p>
                  </a:txBody>
                  <a:tcPr marT="36576" marB="36576" marL="73152" marR="73152">
                    <a:solidFill>
                      <a:srgbClr val="132247"/>
                    </a:solidFill>
                  </a:tcPr>
                </a:tc>
                <a:tc>
                  <a:txBody>
                    <a:bodyPr/>
                    <a:lstStyle/>
                    <a:p>
                      <a:pPr algn="l">
                        <a:defRPr sz="1050" b="1">
                          <a:solidFill>
                            <a:srgbClr val="FFFFFF"/>
                          </a:solidFill>
                          <a:latin typeface="Calibri"/>
                        </a:defRPr>
                      </a:pPr>
                      <a:r>
                        <a:t>Kotlin, Android SDK, Jetpack Compose</a:t>
                      </a:r>
                    </a:p>
                  </a:txBody>
                  <a:tcPr marT="36576" marB="36576" marL="73152" marR="73152">
                    <a:solidFill>
                      <a:srgbClr val="132247"/>
                    </a:solidFill>
                  </a:tcPr>
                </a:tc>
                <a:tc>
                  <a:txBody>
                    <a:bodyPr/>
                    <a:lstStyle/>
                    <a:p>
                      <a:pPr algn="l">
                        <a:defRPr sz="1050" b="0">
                          <a:solidFill>
                            <a:srgbClr val="E2E8F0"/>
                          </a:solidFill>
                          <a:latin typeface="Calibri"/>
                        </a:defRPr>
                      </a:pPr>
                      <a:r>
                        <a:t>FusedLocationProvider, SensorManager, Paho MQTT</a:t>
                      </a:r>
                    </a:p>
                  </a:txBody>
                  <a:tcPr marT="36576" marB="36576" marL="73152" marR="73152">
                    <a:solidFill>
                      <a:srgbClr val="132247"/>
                    </a:solidFill>
                  </a:tcPr>
                </a:tc>
                <a:tc>
                  <a:txBody>
                    <a:bodyPr/>
                    <a:lstStyle/>
                    <a:p>
                      <a:pPr algn="l">
                        <a:defRPr sz="1050" b="0">
                          <a:solidFill>
                            <a:srgbClr val="E2E8F0"/>
                          </a:solidFill>
                          <a:latin typeface="Calibri"/>
                        </a:defRPr>
                      </a:pPr>
                      <a:r>
                        <a:t>Direct access to device GPS, 3-axis accelerometer, and battery telemetry; lightweight UI.</a:t>
                      </a:r>
                    </a:p>
                  </a:txBody>
                  <a:tcPr marT="36576" marB="36576" marL="73152" marR="73152">
                    <a:solidFill>
                      <a:srgbClr val="132247"/>
                    </a:solidFill>
                  </a:tcPr>
                </a:tc>
              </a:tr>
              <a:tr h="561702">
                <a:tc>
                  <a:txBody>
                    <a:bodyPr/>
                    <a:lstStyle/>
                    <a:p>
                      <a:pPr algn="l">
                        <a:defRPr sz="1050" b="1">
                          <a:solidFill>
                            <a:srgbClr val="00E5FF"/>
                          </a:solidFill>
                          <a:latin typeface="Calibri"/>
                        </a:defRPr>
                      </a:pPr>
                      <a:r>
                        <a:t>Edge Gateway &amp; Buffer</a:t>
                      </a:r>
                    </a:p>
                  </a:txBody>
                  <a:tcPr marT="36576" marB="36576" marL="73152" marR="73152">
                    <a:solidFill>
                      <a:srgbClr val="1B2D5C"/>
                    </a:solidFill>
                  </a:tcPr>
                </a:tc>
                <a:tc>
                  <a:txBody>
                    <a:bodyPr/>
                    <a:lstStyle/>
                    <a:p>
                      <a:pPr algn="l">
                        <a:defRPr sz="1050" b="1">
                          <a:solidFill>
                            <a:srgbClr val="FFFFFF"/>
                          </a:solidFill>
                          <a:latin typeface="Calibri"/>
                        </a:defRPr>
                      </a:pPr>
                      <a:r>
                        <a:t>Python 3.11, FastAPI, SQLite 3</a:t>
                      </a:r>
                    </a:p>
                  </a:txBody>
                  <a:tcPr marT="36576" marB="36576" marL="73152" marR="73152">
                    <a:solidFill>
                      <a:srgbClr val="1B2D5C"/>
                    </a:solidFill>
                  </a:tcPr>
                </a:tc>
                <a:tc>
                  <a:txBody>
                    <a:bodyPr/>
                    <a:lstStyle/>
                    <a:p>
                      <a:pPr algn="l">
                        <a:defRPr sz="1050" b="0">
                          <a:solidFill>
                            <a:srgbClr val="E2E8F0"/>
                          </a:solidFill>
                          <a:latin typeface="Calibri"/>
                        </a:defRPr>
                      </a:pPr>
                      <a:r>
                        <a:t>SQLite WAL Mode, Uvicorn, AsyncIO</a:t>
                      </a:r>
                    </a:p>
                  </a:txBody>
                  <a:tcPr marT="36576" marB="36576" marL="73152" marR="73152">
                    <a:solidFill>
                      <a:srgbClr val="1B2D5C"/>
                    </a:solidFill>
                  </a:tcPr>
                </a:tc>
                <a:tc>
                  <a:txBody>
                    <a:bodyPr/>
                    <a:lstStyle/>
                    <a:p>
                      <a:pPr algn="l">
                        <a:defRPr sz="1050" b="0">
                          <a:solidFill>
                            <a:srgbClr val="E2E8F0"/>
                          </a:solidFill>
                          <a:latin typeface="Calibri"/>
                        </a:defRPr>
                      </a:pPr>
                      <a:r>
                        <a:t>Sub-millisecond local storage (0.024 ms per write); keeps saving vitals even in cellular dead zones.</a:t>
                      </a:r>
                    </a:p>
                  </a:txBody>
                  <a:tcPr marT="36576" marB="36576" marL="73152" marR="73152">
                    <a:solidFill>
                      <a:srgbClr val="1B2D5C"/>
                    </a:solidFill>
                  </a:tcPr>
                </a:tc>
              </a:tr>
              <a:tr h="561702">
                <a:tc>
                  <a:txBody>
                    <a:bodyPr/>
                    <a:lstStyle/>
                    <a:p>
                      <a:pPr algn="l">
                        <a:defRPr sz="1050" b="1">
                          <a:solidFill>
                            <a:srgbClr val="00E5FF"/>
                          </a:solidFill>
                          <a:latin typeface="Calibri"/>
                        </a:defRPr>
                      </a:pPr>
                      <a:r>
                        <a:t>Messaging &amp; Real-Time</a:t>
                      </a:r>
                    </a:p>
                  </a:txBody>
                  <a:tcPr marT="36576" marB="36576" marL="73152" marR="73152">
                    <a:solidFill>
                      <a:srgbClr val="132247"/>
                    </a:solidFill>
                  </a:tcPr>
                </a:tc>
                <a:tc>
                  <a:txBody>
                    <a:bodyPr/>
                    <a:lstStyle/>
                    <a:p>
                      <a:pPr algn="l">
                        <a:defRPr sz="1050" b="1">
                          <a:solidFill>
                            <a:srgbClr val="FFFFFF"/>
                          </a:solidFill>
                          <a:latin typeface="Calibri"/>
                        </a:defRPr>
                      </a:pPr>
                      <a:r>
                        <a:t>Eclipse Mosquitto, WebSocket STOMP, Redis</a:t>
                      </a:r>
                    </a:p>
                  </a:txBody>
                  <a:tcPr marT="36576" marB="36576" marL="73152" marR="73152">
                    <a:solidFill>
                      <a:srgbClr val="132247"/>
                    </a:solidFill>
                  </a:tcPr>
                </a:tc>
                <a:tc>
                  <a:txBody>
                    <a:bodyPr/>
                    <a:lstStyle/>
                    <a:p>
                      <a:pPr algn="l">
                        <a:defRPr sz="1050" b="0">
                          <a:solidFill>
                            <a:srgbClr val="E2E8F0"/>
                          </a:solidFill>
                          <a:latin typeface="Calibri"/>
                        </a:defRPr>
                      </a:pPr>
                      <a:r>
                        <a:t>MQTT 3.1.1 protocol, SockJS client</a:t>
                      </a:r>
                    </a:p>
                  </a:txBody>
                  <a:tcPr marT="36576" marB="36576" marL="73152" marR="73152">
                    <a:solidFill>
                      <a:srgbClr val="132247"/>
                    </a:solidFill>
                  </a:tcPr>
                </a:tc>
                <a:tc>
                  <a:txBody>
                    <a:bodyPr/>
                    <a:lstStyle/>
                    <a:p>
                      <a:pPr algn="l">
                        <a:defRPr sz="1050" b="0">
                          <a:solidFill>
                            <a:srgbClr val="E2E8F0"/>
                          </a:solidFill>
                          <a:latin typeface="Calibri"/>
                        </a:defRPr>
                      </a:pPr>
                      <a:r>
                        <a:t>Lightweight message broker; handles 1-second vital streaming smoothly without lagging screens.</a:t>
                      </a:r>
                    </a:p>
                  </a:txBody>
                  <a:tcPr marT="36576" marB="36576" marL="73152" marR="73152">
                    <a:solidFill>
                      <a:srgbClr val="132247"/>
                    </a:solidFill>
                  </a:tcPr>
                </a:tc>
              </a:tr>
              <a:tr h="561702">
                <a:tc>
                  <a:txBody>
                    <a:bodyPr/>
                    <a:lstStyle/>
                    <a:p>
                      <a:pPr algn="l">
                        <a:defRPr sz="1050" b="1">
                          <a:solidFill>
                            <a:srgbClr val="00E5FF"/>
                          </a:solidFill>
                          <a:latin typeface="Calibri"/>
                        </a:defRPr>
                      </a:pPr>
                      <a:r>
                        <a:t>Core Backend Platform</a:t>
                      </a:r>
                    </a:p>
                  </a:txBody>
                  <a:tcPr marT="36576" marB="36576" marL="73152" marR="73152">
                    <a:solidFill>
                      <a:srgbClr val="1B2D5C"/>
                    </a:solidFill>
                  </a:tcPr>
                </a:tc>
                <a:tc>
                  <a:txBody>
                    <a:bodyPr/>
                    <a:lstStyle/>
                    <a:p>
                      <a:pPr algn="l">
                        <a:defRPr sz="1050" b="1">
                          <a:solidFill>
                            <a:srgbClr val="FFFFFF"/>
                          </a:solidFill>
                          <a:latin typeface="Calibri"/>
                        </a:defRPr>
                      </a:pPr>
                      <a:r>
                        <a:t>Spring Boot 3.4.3, Java 21 LTS</a:t>
                      </a:r>
                    </a:p>
                  </a:txBody>
                  <a:tcPr marT="36576" marB="36576" marL="73152" marR="73152">
                    <a:solidFill>
                      <a:srgbClr val="1B2D5C"/>
                    </a:solidFill>
                  </a:tcPr>
                </a:tc>
                <a:tc>
                  <a:txBody>
                    <a:bodyPr/>
                    <a:lstStyle/>
                    <a:p>
                      <a:pPr algn="l">
                        <a:defRPr sz="1050" b="0">
                          <a:solidFill>
                            <a:srgbClr val="E2E8F0"/>
                          </a:solidFill>
                          <a:latin typeface="Calibri"/>
                        </a:defRPr>
                      </a:pPr>
                      <a:r>
                        <a:t>Spring Security (JWT), Spring Data JPA, Hibernate</a:t>
                      </a:r>
                    </a:p>
                  </a:txBody>
                  <a:tcPr marT="36576" marB="36576" marL="73152" marR="73152">
                    <a:solidFill>
                      <a:srgbClr val="1B2D5C"/>
                    </a:solidFill>
                  </a:tcPr>
                </a:tc>
                <a:tc>
                  <a:txBody>
                    <a:bodyPr/>
                    <a:lstStyle/>
                    <a:p>
                      <a:pPr algn="l">
                        <a:defRPr sz="1050" b="0">
                          <a:solidFill>
                            <a:srgbClr val="E2E8F0"/>
                          </a:solidFill>
                          <a:latin typeface="Calibri"/>
                        </a:defRPr>
                      </a:pPr>
                      <a:r>
                        <a:t>Enterprise reliability, handles hospital logic safely, and manages multi-role database transactions.</a:t>
                      </a:r>
                    </a:p>
                  </a:txBody>
                  <a:tcPr marT="36576" marB="36576" marL="73152" marR="73152">
                    <a:solidFill>
                      <a:srgbClr val="1B2D5C"/>
                    </a:solidFill>
                  </a:tcPr>
                </a:tc>
              </a:tr>
              <a:tr h="561702">
                <a:tc>
                  <a:txBody>
                    <a:bodyPr/>
                    <a:lstStyle/>
                    <a:p>
                      <a:pPr algn="l">
                        <a:defRPr sz="1050" b="1">
                          <a:solidFill>
                            <a:srgbClr val="00E5FF"/>
                          </a:solidFill>
                          <a:latin typeface="Calibri"/>
                        </a:defRPr>
                      </a:pPr>
                      <a:r>
                        <a:t>Relational Database</a:t>
                      </a:r>
                    </a:p>
                  </a:txBody>
                  <a:tcPr marT="36576" marB="36576" marL="73152" marR="73152">
                    <a:solidFill>
                      <a:srgbClr val="132247"/>
                    </a:solidFill>
                  </a:tcPr>
                </a:tc>
                <a:tc>
                  <a:txBody>
                    <a:bodyPr/>
                    <a:lstStyle/>
                    <a:p>
                      <a:pPr algn="l">
                        <a:defRPr sz="1050" b="1">
                          <a:solidFill>
                            <a:srgbClr val="FFFFFF"/>
                          </a:solidFill>
                          <a:latin typeface="Calibri"/>
                        </a:defRPr>
                      </a:pPr>
                      <a:r>
                        <a:t>MySQL 8.0 Community Server</a:t>
                      </a:r>
                    </a:p>
                  </a:txBody>
                  <a:tcPr marT="36576" marB="36576" marL="73152" marR="73152">
                    <a:solidFill>
                      <a:srgbClr val="132247"/>
                    </a:solidFill>
                  </a:tcPr>
                </a:tc>
                <a:tc>
                  <a:txBody>
                    <a:bodyPr/>
                    <a:lstStyle/>
                    <a:p>
                      <a:pPr algn="l">
                        <a:defRPr sz="1050" b="0">
                          <a:solidFill>
                            <a:srgbClr val="E2E8F0"/>
                          </a:solidFill>
                          <a:latin typeface="Calibri"/>
                        </a:defRPr>
                      </a:pPr>
                      <a:r>
                        <a:t>Flyway Migration Engine (V1-V9), InnoDB</a:t>
                      </a:r>
                    </a:p>
                  </a:txBody>
                  <a:tcPr marT="36576" marB="36576" marL="73152" marR="73152">
                    <a:solidFill>
                      <a:srgbClr val="132247"/>
                    </a:solidFill>
                  </a:tcPr>
                </a:tc>
                <a:tc>
                  <a:txBody>
                    <a:bodyPr/>
                    <a:lstStyle/>
                    <a:p>
                      <a:pPr algn="l">
                        <a:defRPr sz="1050" b="0">
                          <a:solidFill>
                            <a:srgbClr val="E2E8F0"/>
                          </a:solidFill>
                          <a:latin typeface="Calibri"/>
                        </a:defRPr>
                      </a:pPr>
                      <a:r>
                        <a:t>Structured tables with foreign keys; guarantees immutable audit records can never be deleted.</a:t>
                      </a:r>
                    </a:p>
                  </a:txBody>
                  <a:tcPr marT="36576" marB="36576" marL="73152" marR="73152">
                    <a:solidFill>
                      <a:srgbClr val="132247"/>
                    </a:solidFill>
                  </a:tcPr>
                </a:tc>
              </a:tr>
              <a:tr h="561708">
                <a:tc>
                  <a:txBody>
                    <a:bodyPr/>
                    <a:lstStyle/>
                    <a:p>
                      <a:pPr algn="l">
                        <a:defRPr sz="1050" b="1">
                          <a:solidFill>
                            <a:srgbClr val="00E5FF"/>
                          </a:solidFill>
                          <a:latin typeface="Calibri"/>
                        </a:defRPr>
                      </a:pPr>
                      <a:r>
                        <a:t>Tactical Operations SPA</a:t>
                      </a:r>
                    </a:p>
                  </a:txBody>
                  <a:tcPr marT="36576" marB="36576" marL="73152" marR="73152">
                    <a:solidFill>
                      <a:srgbClr val="1B2D5C"/>
                    </a:solidFill>
                  </a:tcPr>
                </a:tc>
                <a:tc>
                  <a:txBody>
                    <a:bodyPr/>
                    <a:lstStyle/>
                    <a:p>
                      <a:pPr algn="l">
                        <a:defRPr sz="1050" b="1">
                          <a:solidFill>
                            <a:srgbClr val="FFFFFF"/>
                          </a:solidFill>
                          <a:latin typeface="Calibri"/>
                        </a:defRPr>
                      </a:pPr>
                      <a:r>
                        <a:t>React 18, TypeScript, Vite</a:t>
                      </a:r>
                    </a:p>
                  </a:txBody>
                  <a:tcPr marT="36576" marB="36576" marL="73152" marR="73152">
                    <a:solidFill>
                      <a:srgbClr val="1B2D5C"/>
                    </a:solidFill>
                  </a:tcPr>
                </a:tc>
                <a:tc>
                  <a:txBody>
                    <a:bodyPr/>
                    <a:lstStyle/>
                    <a:p>
                      <a:pPr algn="l">
                        <a:defRPr sz="1050" b="0">
                          <a:solidFill>
                            <a:srgbClr val="E2E8F0"/>
                          </a:solidFill>
                          <a:latin typeface="Calibri"/>
                        </a:defRPr>
                      </a:pPr>
                      <a:r>
                        <a:t>Material-UI (MUI v5), Leaflet, OpenStreetMap</a:t>
                      </a:r>
                    </a:p>
                  </a:txBody>
                  <a:tcPr marT="36576" marB="36576" marL="73152" marR="73152">
                    <a:solidFill>
                      <a:srgbClr val="1B2D5C"/>
                    </a:solidFill>
                  </a:tcPr>
                </a:tc>
                <a:tc>
                  <a:txBody>
                    <a:bodyPr/>
                    <a:lstStyle/>
                    <a:p>
                      <a:pPr algn="l">
                        <a:defRPr sz="1050" b="0">
                          <a:solidFill>
                            <a:srgbClr val="E2E8F0"/>
                          </a:solidFill>
                          <a:latin typeface="Calibri"/>
                        </a:defRPr>
                      </a:pPr>
                      <a:r>
                        <a:t>Completely free interactive mapping (no Google Maps API fees) and clear, responsive medical UI.</a:t>
                      </a:r>
                    </a:p>
                  </a:txBody>
                  <a:tcPr marT="36576" marB="36576" marL="73152" marR="73152">
                    <a:solidFill>
                      <a:srgbClr val="1B2D5C"/>
                    </a:solidFill>
                  </a:tcPr>
                </a:tc>
              </a:tr>
            </a:tbl>
          </a:graphicData>
        </a:graphic>
      </p:graphicFrame>
      <p:sp>
        <p:nvSpPr>
          <p:cNvPr id="10" name="Rounded Rectangle 9"/>
          <p:cNvSpPr/>
          <p:nvPr/>
        </p:nvSpPr>
        <p:spPr>
          <a:xfrm>
            <a:off x="548640" y="5532120"/>
            <a:ext cx="11094415" cy="868680"/>
          </a:xfrm>
          <a:prstGeom prst="roundRect">
            <a:avLst>
              <a:gd name="adj" fmla="val 2000"/>
            </a:avLst>
          </a:prstGeom>
          <a:solidFill>
            <a:srgbClr val="1B2D5C"/>
          </a:solidFill>
          <a:ln w="15240">
            <a:solidFill>
              <a:srgbClr val="00E676"/>
            </a:solidFill>
          </a:ln>
        </p:spPr>
        <p:style>
          <a:lnRef idx="1">
            <a:schemeClr val="accent1"/>
          </a:lnRef>
          <a:fillRef idx="3">
            <a:schemeClr val="accent1"/>
          </a:fillRef>
          <a:effectRef idx="2">
            <a:schemeClr val="accent1"/>
          </a:effectRef>
          <a:fontRef idx="minor">
            <a:schemeClr val="lt1"/>
          </a:fontRef>
        </p:style>
        <p:txBody>
          <a:bodyPr rtlCol="0" anchor="t" wrap="square" lIns="201168" rIns="201168" tIns="109728"/>
          <a:lstStyle/>
          <a:p>
            <a:pPr algn="ctr">
              <a:spcAft>
                <a:spcPts val="200"/>
              </a:spcAft>
              <a:defRPr b="1" sz="1100">
                <a:solidFill>
                  <a:srgbClr val="00E676"/>
                </a:solidFill>
              </a:defRPr>
            </a:pPr>
            <a:r>
              <a:t>ZERO RECURRING COSTS — 100% SELF-CONTAINED:</a:t>
            </a:r>
          </a:p>
          <a:p>
            <a:pPr>
              <a:defRPr sz="1050">
                <a:solidFill>
                  <a:srgbClr val="FFFFFF"/>
                </a:solidFill>
              </a:defRPr>
            </a:pPr>
            <a:r>
              <a:t>Commercial emergency CAD systems charge heavy monthly fees for Google Maps and cloud AI subscriptions. LifeFlow AI runs completely on free tools: OpenStreetMap replaces Google Maps, local Scikit-Learn replaces cloud AI, and local MySQL/Mosquitto replace expensive cloud databases.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11094415" cy="1078992"/>
          </a:xfrm>
          <a:prstGeom prst="rect">
            <a:avLst/>
          </a:prstGeom>
          <a:solidFill>
            <a:srgbClr val="132247"/>
          </a:solidFill>
          <a:ln w="12700">
            <a:solidFill>
              <a:srgbClr val="2C4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402336"/>
            <a:ext cx="4389120" cy="256032"/>
          </a:xfrm>
          <a:prstGeom prst="roundRect">
            <a:avLst>
              <a:gd name="adj" fmla="val 20000"/>
            </a:avLst>
          </a:prstGeom>
          <a:solidFill>
            <a:srgbClr val="1B2D5C"/>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950" b="1">
                <a:solidFill>
                  <a:srgbClr val="00E5FF"/>
                </a:solidFill>
                <a:latin typeface="Calibri"/>
              </a:defRPr>
            </a:pPr>
            <a:r>
              <a:t>RUBRIC 7: MODULE IMPLEMENTATION SCORECARD</a:t>
            </a:r>
          </a:p>
        </p:txBody>
      </p:sp>
      <p:sp>
        <p:nvSpPr>
          <p:cNvPr id="5" name="TextBox 4"/>
          <p:cNvSpPr txBox="1"/>
          <p:nvPr/>
        </p:nvSpPr>
        <p:spPr>
          <a:xfrm>
            <a:off x="731520" y="667512"/>
            <a:ext cx="10698480" cy="384048"/>
          </a:xfrm>
          <a:prstGeom prst="rect">
            <a:avLst/>
          </a:prstGeom>
          <a:noFill/>
        </p:spPr>
        <p:txBody>
          <a:bodyPr wrap="square" lIns="0" tIns="0" rIns="0" bIns="0">
            <a:spAutoFit/>
          </a:bodyPr>
          <a:lstStyle/>
          <a:p>
            <a:pPr>
              <a:defRPr sz="1900" b="1">
                <a:solidFill>
                  <a:srgbClr val="FFFFFF"/>
                </a:solidFill>
                <a:latin typeface="Calibri"/>
              </a:defRPr>
            </a:pPr>
            <a:r>
              <a:t>Module Implementation Progress: 100% Completed</a:t>
            </a:r>
          </a:p>
        </p:txBody>
      </p:sp>
      <p:sp>
        <p:nvSpPr>
          <p:cNvPr id="6" name="TextBox 5"/>
          <p:cNvSpPr txBox="1"/>
          <p:nvPr/>
        </p:nvSpPr>
        <p:spPr>
          <a:xfrm>
            <a:off x="731520" y="1069848"/>
            <a:ext cx="10698480" cy="274320"/>
          </a:xfrm>
          <a:prstGeom prst="rect">
            <a:avLst/>
          </a:prstGeom>
          <a:noFill/>
        </p:spPr>
        <p:txBody>
          <a:bodyPr wrap="square" lIns="0" tIns="0" rIns="0" bIns="0">
            <a:spAutoFit/>
          </a:bodyPr>
          <a:lstStyle/>
          <a:p>
            <a:pPr>
              <a:defRPr sz="1100">
                <a:solidFill>
                  <a:srgbClr val="00E5FF"/>
                </a:solidFill>
                <a:latin typeface="Calibri"/>
              </a:defRPr>
            </a:pPr>
            <a:r>
              <a:t>Status audit of all 10 core software modules built and verified in the codebase</a:t>
            </a:r>
          </a:p>
        </p:txBody>
      </p:sp>
      <p:sp>
        <p:nvSpPr>
          <p:cNvPr id="7" name="TextBox 6"/>
          <p:cNvSpPr txBox="1"/>
          <p:nvPr/>
        </p:nvSpPr>
        <p:spPr>
          <a:xfrm>
            <a:off x="548640" y="6510528"/>
            <a:ext cx="9601200" cy="256032"/>
          </a:xfrm>
          <a:prstGeom prst="rect">
            <a:avLst/>
          </a:prstGeom>
          <a:noFill/>
        </p:spPr>
        <p:txBody>
          <a:bodyPr wrap="none" lIns="0" tIns="0" rIns="0" bIns="0">
            <a:spAutoFit/>
          </a:bodyPr>
          <a:lstStyle/>
          <a:p>
            <a:pPr>
              <a:defRPr sz="900">
                <a:solidFill>
                  <a:srgbClr val="94A3B8"/>
                </a:solidFill>
                <a:latin typeface="Calibri"/>
              </a:defRPr>
            </a:pPr>
            <a:r>
              <a:t>LifeFlow AI — Predictive Emergency Healthcare Digital Twin Platform  |  Capstone Project-1 Review-2</a:t>
            </a:r>
          </a:p>
        </p:txBody>
      </p:sp>
      <p:sp>
        <p:nvSpPr>
          <p:cNvPr id="8" name="TextBox 7"/>
          <p:cNvSpPr txBox="1"/>
          <p:nvPr/>
        </p:nvSpPr>
        <p:spPr>
          <a:xfrm>
            <a:off x="10515600" y="6510528"/>
            <a:ext cx="1127455" cy="256032"/>
          </a:xfrm>
          <a:prstGeom prst="rect">
            <a:avLst/>
          </a:prstGeom>
          <a:noFill/>
        </p:spPr>
        <p:txBody>
          <a:bodyPr wrap="none" lIns="0" tIns="0" rIns="0" bIns="0">
            <a:spAutoFit/>
          </a:bodyPr>
          <a:lstStyle/>
          <a:p>
            <a:pPr algn="r">
              <a:defRPr sz="950" b="1">
                <a:solidFill>
                  <a:srgbClr val="00E5FF"/>
                </a:solidFill>
                <a:latin typeface="Calibri"/>
              </a:defRPr>
            </a:pPr>
            <a:r>
              <a:t>Slide 11 of 27</a:t>
            </a:r>
          </a:p>
        </p:txBody>
      </p:sp>
      <p:graphicFrame>
        <p:nvGraphicFramePr>
          <p:cNvPr id="9" name="Table 8"/>
          <p:cNvGraphicFramePr>
            <a:graphicFrameLocks noGrp="1"/>
          </p:cNvGraphicFramePr>
          <p:nvPr/>
        </p:nvGraphicFramePr>
        <p:xfrm>
          <a:off x="548640" y="1508760"/>
          <a:ext cx="11094415" cy="4754880"/>
        </p:xfrm>
        <a:graphic>
          <a:graphicData uri="http://schemas.openxmlformats.org/drawingml/2006/table">
            <a:tbl>
              <a:tblPr firstRow="1" bandRow="1">
                <a:tableStyleId>{5C22544A-7EE6-4342-B048-85BDC9FD1C3A}</a:tableStyleId>
              </a:tblPr>
              <a:tblGrid>
                <a:gridCol w="1005840"/>
                <a:gridCol w="2926080"/>
                <a:gridCol w="3840480"/>
                <a:gridCol w="1280160"/>
                <a:gridCol w="2041855"/>
              </a:tblGrid>
              <a:tr h="432261">
                <a:tc>
                  <a:txBody>
                    <a:bodyPr/>
                    <a:lstStyle/>
                    <a:p>
                      <a:pPr algn="ctr">
                        <a:defRPr sz="1100" b="1">
                          <a:solidFill>
                            <a:srgbClr val="00E5FF"/>
                          </a:solidFill>
                          <a:latin typeface="Calibri"/>
                        </a:defRPr>
                      </a:pPr>
                      <a:r>
                        <a:t>Module</a:t>
                      </a:r>
                    </a:p>
                  </a:txBody>
                  <a:tcPr marT="36576" marB="36576" marL="73152" marR="73152">
                    <a:solidFill>
                      <a:srgbClr val="1B2D5C"/>
                    </a:solidFill>
                  </a:tcPr>
                </a:tc>
                <a:tc>
                  <a:txBody>
                    <a:bodyPr/>
                    <a:lstStyle/>
                    <a:p>
                      <a:pPr algn="ctr">
                        <a:defRPr sz="1100" b="1">
                          <a:solidFill>
                            <a:srgbClr val="00E5FF"/>
                          </a:solidFill>
                          <a:latin typeface="Calibri"/>
                        </a:defRPr>
                      </a:pPr>
                      <a:r>
                        <a:t>Module Name in Code</a:t>
                      </a:r>
                    </a:p>
                  </a:txBody>
                  <a:tcPr marT="36576" marB="36576" marL="73152" marR="73152">
                    <a:solidFill>
                      <a:srgbClr val="1B2D5C"/>
                    </a:solidFill>
                  </a:tcPr>
                </a:tc>
                <a:tc>
                  <a:txBody>
                    <a:bodyPr/>
                    <a:lstStyle/>
                    <a:p>
                      <a:pPr algn="ctr">
                        <a:defRPr sz="1100" b="1">
                          <a:solidFill>
                            <a:srgbClr val="00E5FF"/>
                          </a:solidFill>
                          <a:latin typeface="Calibri"/>
                        </a:defRPr>
                      </a:pPr>
                      <a:r>
                        <a:t>Key Source Files Implemented</a:t>
                      </a:r>
                    </a:p>
                  </a:txBody>
                  <a:tcPr marT="36576" marB="36576" marL="73152" marR="73152">
                    <a:solidFill>
                      <a:srgbClr val="1B2D5C"/>
                    </a:solidFill>
                  </a:tcPr>
                </a:tc>
                <a:tc>
                  <a:txBody>
                    <a:bodyPr/>
                    <a:lstStyle/>
                    <a:p>
                      <a:pPr algn="ctr">
                        <a:defRPr sz="1100" b="1">
                          <a:solidFill>
                            <a:srgbClr val="00E5FF"/>
                          </a:solidFill>
                          <a:latin typeface="Calibri"/>
                        </a:defRPr>
                      </a:pPr>
                      <a:r>
                        <a:t>Progress</a:t>
                      </a:r>
                    </a:p>
                  </a:txBody>
                  <a:tcPr marT="36576" marB="36576" marL="73152" marR="73152">
                    <a:solidFill>
                      <a:srgbClr val="1B2D5C"/>
                    </a:solidFill>
                  </a:tcPr>
                </a:tc>
                <a:tc>
                  <a:txBody>
                    <a:bodyPr/>
                    <a:lstStyle/>
                    <a:p>
                      <a:pPr algn="ctr">
                        <a:defRPr sz="1100" b="1">
                          <a:solidFill>
                            <a:srgbClr val="00E5FF"/>
                          </a:solidFill>
                          <a:latin typeface="Calibri"/>
                        </a:defRPr>
                      </a:pPr>
                      <a:r>
                        <a:t>Review-2 Status</a:t>
                      </a:r>
                    </a:p>
                  </a:txBody>
                  <a:tcPr marT="36576" marB="36576" marL="73152" marR="73152">
                    <a:solidFill>
                      <a:srgbClr val="1B2D5C"/>
                    </a:solidFill>
                  </a:tcPr>
                </a:tc>
              </a:tr>
              <a:tr h="432261">
                <a:tc>
                  <a:txBody>
                    <a:bodyPr/>
                    <a:lstStyle/>
                    <a:p>
                      <a:pPr algn="ctr">
                        <a:defRPr sz="1000" b="1">
                          <a:solidFill>
                            <a:srgbClr val="00E5FF"/>
                          </a:solidFill>
                          <a:latin typeface="Calibri"/>
                        </a:defRPr>
                      </a:pPr>
                      <a:r>
                        <a:t>M01</a:t>
                      </a:r>
                    </a:p>
                  </a:txBody>
                  <a:tcPr marT="36576" marB="36576" marL="73152" marR="73152">
                    <a:solidFill>
                      <a:srgbClr val="132247"/>
                    </a:solidFill>
                  </a:tcPr>
                </a:tc>
                <a:tc>
                  <a:txBody>
                    <a:bodyPr/>
                    <a:lstStyle/>
                    <a:p>
                      <a:pPr algn="l">
                        <a:defRPr sz="1000" b="1">
                          <a:solidFill>
                            <a:srgbClr val="FFFFFF"/>
                          </a:solidFill>
                          <a:latin typeface="Calibri"/>
                        </a:defRPr>
                      </a:pPr>
                      <a:r>
                        <a:t>Citizen SOS &amp; SMS Webhook</a:t>
                      </a:r>
                    </a:p>
                  </a:txBody>
                  <a:tcPr marT="36576" marB="36576" marL="73152" marR="73152">
                    <a:solidFill>
                      <a:srgbClr val="132247"/>
                    </a:solidFill>
                  </a:tcPr>
                </a:tc>
                <a:tc>
                  <a:txBody>
                    <a:bodyPr/>
                    <a:lstStyle/>
                    <a:p>
                      <a:pPr algn="l">
                        <a:defRPr sz="1000" b="0">
                          <a:solidFill>
                            <a:srgbClr val="E2E8F0"/>
                          </a:solidFill>
                          <a:latin typeface="Calibri"/>
                        </a:defRPr>
                      </a:pPr>
                      <a:r>
                        <a:t>CitizenSosPage.tsx, IncidentController.java (Online &amp; SMS 7249505296)</a:t>
                      </a:r>
                    </a:p>
                  </a:txBody>
                  <a:tcPr marT="36576" marB="36576" marL="73152" marR="73152">
                    <a:solidFill>
                      <a:srgbClr val="132247"/>
                    </a:solidFill>
                  </a:tcPr>
                </a:tc>
                <a:tc>
                  <a:txBody>
                    <a:bodyPr/>
                    <a:lstStyle/>
                    <a:p>
                      <a:pPr algn="ctr">
                        <a:defRPr sz="1000" b="1">
                          <a:solidFill>
                            <a:srgbClr val="00E676"/>
                          </a:solidFill>
                          <a:latin typeface="Calibri"/>
                        </a:defRPr>
                      </a:pPr>
                      <a:r>
                        <a:t>100%</a:t>
                      </a:r>
                    </a:p>
                  </a:txBody>
                  <a:tcPr marT="36576" marB="36576" marL="73152" marR="73152">
                    <a:solidFill>
                      <a:srgbClr val="132247"/>
                    </a:solidFill>
                  </a:tcPr>
                </a:tc>
                <a:tc>
                  <a:txBody>
                    <a:bodyPr/>
                    <a:lstStyle/>
                    <a:p>
                      <a:pPr algn="ctr">
                        <a:defRPr sz="1000" b="1">
                          <a:solidFill>
                            <a:srgbClr val="00E676"/>
                          </a:solidFill>
                          <a:latin typeface="Calibri"/>
                        </a:defRPr>
                      </a:pPr>
                      <a:r>
                        <a:t>IMPLEMENTED &amp; TESTED</a:t>
                      </a:r>
                    </a:p>
                  </a:txBody>
                  <a:tcPr marT="36576" marB="36576" marL="73152" marR="73152">
                    <a:solidFill>
                      <a:srgbClr val="132247"/>
                    </a:solidFill>
                  </a:tcPr>
                </a:tc>
              </a:tr>
              <a:tr h="432261">
                <a:tc>
                  <a:txBody>
                    <a:bodyPr/>
                    <a:lstStyle/>
                    <a:p>
                      <a:pPr algn="ctr">
                        <a:defRPr sz="1000" b="1">
                          <a:solidFill>
                            <a:srgbClr val="00E5FF"/>
                          </a:solidFill>
                          <a:latin typeface="Calibri"/>
                        </a:defRPr>
                      </a:pPr>
                      <a:r>
                        <a:t>M02</a:t>
                      </a:r>
                    </a:p>
                  </a:txBody>
                  <a:tcPr marT="36576" marB="36576" marL="73152" marR="73152">
                    <a:solidFill>
                      <a:srgbClr val="1B2D5C"/>
                    </a:solidFill>
                  </a:tcPr>
                </a:tc>
                <a:tc>
                  <a:txBody>
                    <a:bodyPr/>
                    <a:lstStyle/>
                    <a:p>
                      <a:pPr algn="l">
                        <a:defRPr sz="1000" b="1">
                          <a:solidFill>
                            <a:srgbClr val="FFFFFF"/>
                          </a:solidFill>
                          <a:latin typeface="Calibri"/>
                        </a:defRPr>
                      </a:pPr>
                      <a:r>
                        <a:t>Android Telemetry App</a:t>
                      </a:r>
                    </a:p>
                  </a:txBody>
                  <a:tcPr marT="36576" marB="36576" marL="73152" marR="73152">
                    <a:solidFill>
                      <a:srgbClr val="1B2D5C"/>
                    </a:solidFill>
                  </a:tcPr>
                </a:tc>
                <a:tc>
                  <a:txBody>
                    <a:bodyPr/>
                    <a:lstStyle/>
                    <a:p>
                      <a:pPr algn="l">
                        <a:defRPr sz="1000" b="0">
                          <a:solidFill>
                            <a:srgbClr val="E2E8F0"/>
                          </a:solidFill>
                          <a:latin typeface="Calibri"/>
                        </a:defRPr>
                      </a:pPr>
                      <a:r>
                        <a:t>android/app/ (MainActivity.kt, LocationTracker, SensorManager)</a:t>
                      </a:r>
                    </a:p>
                  </a:txBody>
                  <a:tcPr marT="36576" marB="36576" marL="73152" marR="73152">
                    <a:solidFill>
                      <a:srgbClr val="1B2D5C"/>
                    </a:solidFill>
                  </a:tcPr>
                </a:tc>
                <a:tc>
                  <a:txBody>
                    <a:bodyPr/>
                    <a:lstStyle/>
                    <a:p>
                      <a:pPr algn="ctr">
                        <a:defRPr sz="1000" b="1">
                          <a:solidFill>
                            <a:srgbClr val="00E676"/>
                          </a:solidFill>
                          <a:latin typeface="Calibri"/>
                        </a:defRPr>
                      </a:pPr>
                      <a:r>
                        <a:t>100%</a:t>
                      </a:r>
                    </a:p>
                  </a:txBody>
                  <a:tcPr marT="36576" marB="36576" marL="73152" marR="73152">
                    <a:solidFill>
                      <a:srgbClr val="1B2D5C"/>
                    </a:solidFill>
                  </a:tcPr>
                </a:tc>
                <a:tc>
                  <a:txBody>
                    <a:bodyPr/>
                    <a:lstStyle/>
                    <a:p>
                      <a:pPr algn="ctr">
                        <a:defRPr sz="1000" b="1">
                          <a:solidFill>
                            <a:srgbClr val="00E676"/>
                          </a:solidFill>
                          <a:latin typeface="Calibri"/>
                        </a:defRPr>
                      </a:pPr>
                      <a:r>
                        <a:t>IMPLEMENTED &amp; TESTED</a:t>
                      </a:r>
                    </a:p>
                  </a:txBody>
                  <a:tcPr marT="36576" marB="36576" marL="73152" marR="73152">
                    <a:solidFill>
                      <a:srgbClr val="1B2D5C"/>
                    </a:solidFill>
                  </a:tcPr>
                </a:tc>
              </a:tr>
              <a:tr h="432261">
                <a:tc>
                  <a:txBody>
                    <a:bodyPr/>
                    <a:lstStyle/>
                    <a:p>
                      <a:pPr algn="ctr">
                        <a:defRPr sz="1000" b="1">
                          <a:solidFill>
                            <a:srgbClr val="00E5FF"/>
                          </a:solidFill>
                          <a:latin typeface="Calibri"/>
                        </a:defRPr>
                      </a:pPr>
                      <a:r>
                        <a:t>M03</a:t>
                      </a:r>
                    </a:p>
                  </a:txBody>
                  <a:tcPr marT="36576" marB="36576" marL="73152" marR="73152">
                    <a:solidFill>
                      <a:srgbClr val="132247"/>
                    </a:solidFill>
                  </a:tcPr>
                </a:tc>
                <a:tc>
                  <a:txBody>
                    <a:bodyPr/>
                    <a:lstStyle/>
                    <a:p>
                      <a:pPr algn="l">
                        <a:defRPr sz="1000" b="1">
                          <a:solidFill>
                            <a:srgbClr val="FFFFFF"/>
                          </a:solidFill>
                          <a:latin typeface="Calibri"/>
                        </a:defRPr>
                      </a:pPr>
                      <a:r>
                        <a:t>Medical Device Ingestion &amp; Buffer</a:t>
                      </a:r>
                    </a:p>
                  </a:txBody>
                  <a:tcPr marT="36576" marB="36576" marL="73152" marR="73152">
                    <a:solidFill>
                      <a:srgbClr val="132247"/>
                    </a:solidFill>
                  </a:tcPr>
                </a:tc>
                <a:tc>
                  <a:txBody>
                    <a:bodyPr/>
                    <a:lstStyle/>
                    <a:p>
                      <a:pPr algn="l">
                        <a:defRPr sz="1000" b="0">
                          <a:solidFill>
                            <a:srgbClr val="E2E8F0"/>
                          </a:solidFill>
                          <a:latin typeface="Calibri"/>
                        </a:defRPr>
                      </a:pPr>
                      <a:r>
                        <a:t>DeviceAdapter.java, edge-gateway/app/buffer.py (10 Devices, WAL)</a:t>
                      </a:r>
                    </a:p>
                  </a:txBody>
                  <a:tcPr marT="36576" marB="36576" marL="73152" marR="73152">
                    <a:solidFill>
                      <a:srgbClr val="132247"/>
                    </a:solidFill>
                  </a:tcPr>
                </a:tc>
                <a:tc>
                  <a:txBody>
                    <a:bodyPr/>
                    <a:lstStyle/>
                    <a:p>
                      <a:pPr algn="ctr">
                        <a:defRPr sz="1000" b="1">
                          <a:solidFill>
                            <a:srgbClr val="00E676"/>
                          </a:solidFill>
                          <a:latin typeface="Calibri"/>
                        </a:defRPr>
                      </a:pPr>
                      <a:r>
                        <a:t>100%</a:t>
                      </a:r>
                    </a:p>
                  </a:txBody>
                  <a:tcPr marT="36576" marB="36576" marL="73152" marR="73152">
                    <a:solidFill>
                      <a:srgbClr val="132247"/>
                    </a:solidFill>
                  </a:tcPr>
                </a:tc>
                <a:tc>
                  <a:txBody>
                    <a:bodyPr/>
                    <a:lstStyle/>
                    <a:p>
                      <a:pPr algn="ctr">
                        <a:defRPr sz="1000" b="1">
                          <a:solidFill>
                            <a:srgbClr val="00E676"/>
                          </a:solidFill>
                          <a:latin typeface="Calibri"/>
                        </a:defRPr>
                      </a:pPr>
                      <a:r>
                        <a:t>IMPLEMENTED &amp; TESTED</a:t>
                      </a:r>
                    </a:p>
                  </a:txBody>
                  <a:tcPr marT="36576" marB="36576" marL="73152" marR="73152">
                    <a:solidFill>
                      <a:srgbClr val="132247"/>
                    </a:solidFill>
                  </a:tcPr>
                </a:tc>
              </a:tr>
              <a:tr h="432261">
                <a:tc>
                  <a:txBody>
                    <a:bodyPr/>
                    <a:lstStyle/>
                    <a:p>
                      <a:pPr algn="ctr">
                        <a:defRPr sz="1000" b="1">
                          <a:solidFill>
                            <a:srgbClr val="00E5FF"/>
                          </a:solidFill>
                          <a:latin typeface="Calibri"/>
                        </a:defRPr>
                      </a:pPr>
                      <a:r>
                        <a:t>M04</a:t>
                      </a:r>
                    </a:p>
                  </a:txBody>
                  <a:tcPr marT="36576" marB="36576" marL="73152" marR="73152">
                    <a:solidFill>
                      <a:srgbClr val="1B2D5C"/>
                    </a:solidFill>
                  </a:tcPr>
                </a:tc>
                <a:tc>
                  <a:txBody>
                    <a:bodyPr/>
                    <a:lstStyle/>
                    <a:p>
                      <a:pPr algn="l">
                        <a:defRPr sz="1000" b="1">
                          <a:solidFill>
                            <a:srgbClr val="FFFFFF"/>
                          </a:solidFill>
                          <a:latin typeface="Calibri"/>
                        </a:defRPr>
                      </a:pPr>
                      <a:r>
                        <a:t>Spring Boot Backend &amp; Security</a:t>
                      </a:r>
                    </a:p>
                  </a:txBody>
                  <a:tcPr marT="36576" marB="36576" marL="73152" marR="73152">
                    <a:solidFill>
                      <a:srgbClr val="1B2D5C"/>
                    </a:solidFill>
                  </a:tcPr>
                </a:tc>
                <a:tc>
                  <a:txBody>
                    <a:bodyPr/>
                    <a:lstStyle/>
                    <a:p>
                      <a:pPr algn="l">
                        <a:defRPr sz="1000" b="0">
                          <a:solidFill>
                            <a:srgbClr val="E2E8F0"/>
                          </a:solidFill>
                          <a:latin typeface="Calibri"/>
                        </a:defRPr>
                      </a:pPr>
                      <a:r>
                        <a:t>backend/src/main/java/com/lifeflow/ (Auth, JPA, Controllers)</a:t>
                      </a:r>
                    </a:p>
                  </a:txBody>
                  <a:tcPr marT="36576" marB="36576" marL="73152" marR="73152">
                    <a:solidFill>
                      <a:srgbClr val="1B2D5C"/>
                    </a:solidFill>
                  </a:tcPr>
                </a:tc>
                <a:tc>
                  <a:txBody>
                    <a:bodyPr/>
                    <a:lstStyle/>
                    <a:p>
                      <a:pPr algn="ctr">
                        <a:defRPr sz="1000" b="1">
                          <a:solidFill>
                            <a:srgbClr val="00E676"/>
                          </a:solidFill>
                          <a:latin typeface="Calibri"/>
                        </a:defRPr>
                      </a:pPr>
                      <a:r>
                        <a:t>100%</a:t>
                      </a:r>
                    </a:p>
                  </a:txBody>
                  <a:tcPr marT="36576" marB="36576" marL="73152" marR="73152">
                    <a:solidFill>
                      <a:srgbClr val="1B2D5C"/>
                    </a:solidFill>
                  </a:tcPr>
                </a:tc>
                <a:tc>
                  <a:txBody>
                    <a:bodyPr/>
                    <a:lstStyle/>
                    <a:p>
                      <a:pPr algn="ctr">
                        <a:defRPr sz="1000" b="1">
                          <a:solidFill>
                            <a:srgbClr val="00E676"/>
                          </a:solidFill>
                          <a:latin typeface="Calibri"/>
                        </a:defRPr>
                      </a:pPr>
                      <a:r>
                        <a:t>IMPLEMENTED &amp; TESTED</a:t>
                      </a:r>
                    </a:p>
                  </a:txBody>
                  <a:tcPr marT="36576" marB="36576" marL="73152" marR="73152">
                    <a:solidFill>
                      <a:srgbClr val="1B2D5C"/>
                    </a:solidFill>
                  </a:tcPr>
                </a:tc>
              </a:tr>
              <a:tr h="432261">
                <a:tc>
                  <a:txBody>
                    <a:bodyPr/>
                    <a:lstStyle/>
                    <a:p>
                      <a:pPr algn="ctr">
                        <a:defRPr sz="1000" b="1">
                          <a:solidFill>
                            <a:srgbClr val="00E5FF"/>
                          </a:solidFill>
                          <a:latin typeface="Calibri"/>
                        </a:defRPr>
                      </a:pPr>
                      <a:r>
                        <a:t>M05</a:t>
                      </a:r>
                    </a:p>
                  </a:txBody>
                  <a:tcPr marT="36576" marB="36576" marL="73152" marR="73152">
                    <a:solidFill>
                      <a:srgbClr val="132247"/>
                    </a:solidFill>
                  </a:tcPr>
                </a:tc>
                <a:tc>
                  <a:txBody>
                    <a:bodyPr/>
                    <a:lstStyle/>
                    <a:p>
                      <a:pPr algn="l">
                        <a:defRPr sz="1000" b="1">
                          <a:solidFill>
                            <a:srgbClr val="FFFFFF"/>
                          </a:solidFill>
                          <a:latin typeface="Calibri"/>
                        </a:defRPr>
                      </a:pPr>
                      <a:r>
                        <a:t>Triple Digital Twin Engine</a:t>
                      </a:r>
                    </a:p>
                  </a:txBody>
                  <a:tcPr marT="36576" marB="36576" marL="73152" marR="73152">
                    <a:solidFill>
                      <a:srgbClr val="132247"/>
                    </a:solidFill>
                  </a:tcPr>
                </a:tc>
                <a:tc>
                  <a:txBody>
                    <a:bodyPr/>
                    <a:lstStyle/>
                    <a:p>
                      <a:pPr algn="l">
                        <a:defRPr sz="1000" b="0">
                          <a:solidFill>
                            <a:srgbClr val="E2E8F0"/>
                          </a:solidFill>
                          <a:latin typeface="Calibri"/>
                        </a:defRPr>
                      </a:pPr>
                      <a:r>
                        <a:t>PatientTwinService.java, TransportTwinService.java, HospitalTwin</a:t>
                      </a:r>
                    </a:p>
                  </a:txBody>
                  <a:tcPr marT="36576" marB="36576" marL="73152" marR="73152">
                    <a:solidFill>
                      <a:srgbClr val="132247"/>
                    </a:solidFill>
                  </a:tcPr>
                </a:tc>
                <a:tc>
                  <a:txBody>
                    <a:bodyPr/>
                    <a:lstStyle/>
                    <a:p>
                      <a:pPr algn="ctr">
                        <a:defRPr sz="1000" b="1">
                          <a:solidFill>
                            <a:srgbClr val="00E676"/>
                          </a:solidFill>
                          <a:latin typeface="Calibri"/>
                        </a:defRPr>
                      </a:pPr>
                      <a:r>
                        <a:t>100%</a:t>
                      </a:r>
                    </a:p>
                  </a:txBody>
                  <a:tcPr marT="36576" marB="36576" marL="73152" marR="73152">
                    <a:solidFill>
                      <a:srgbClr val="132247"/>
                    </a:solidFill>
                  </a:tcPr>
                </a:tc>
                <a:tc>
                  <a:txBody>
                    <a:bodyPr/>
                    <a:lstStyle/>
                    <a:p>
                      <a:pPr algn="ctr">
                        <a:defRPr sz="1000" b="1">
                          <a:solidFill>
                            <a:srgbClr val="00E676"/>
                          </a:solidFill>
                          <a:latin typeface="Calibri"/>
                        </a:defRPr>
                      </a:pPr>
                      <a:r>
                        <a:t>IMPLEMENTED &amp; TESTED</a:t>
                      </a:r>
                    </a:p>
                  </a:txBody>
                  <a:tcPr marT="36576" marB="36576" marL="73152" marR="73152">
                    <a:solidFill>
                      <a:srgbClr val="132247"/>
                    </a:solidFill>
                  </a:tcPr>
                </a:tc>
              </a:tr>
              <a:tr h="432261">
                <a:tc>
                  <a:txBody>
                    <a:bodyPr/>
                    <a:lstStyle/>
                    <a:p>
                      <a:pPr algn="ctr">
                        <a:defRPr sz="1000" b="1">
                          <a:solidFill>
                            <a:srgbClr val="00E5FF"/>
                          </a:solidFill>
                          <a:latin typeface="Calibri"/>
                        </a:defRPr>
                      </a:pPr>
                      <a:r>
                        <a:t>M06</a:t>
                      </a:r>
                    </a:p>
                  </a:txBody>
                  <a:tcPr marT="36576" marB="36576" marL="73152" marR="73152">
                    <a:solidFill>
                      <a:srgbClr val="1B2D5C"/>
                    </a:solidFill>
                  </a:tcPr>
                </a:tc>
                <a:tc>
                  <a:txBody>
                    <a:bodyPr/>
                    <a:lstStyle/>
                    <a:p>
                      <a:pPr algn="l">
                        <a:defRPr sz="1000" b="1">
                          <a:solidFill>
                            <a:srgbClr val="FFFFFF"/>
                          </a:solidFill>
                          <a:latin typeface="Calibri"/>
                        </a:defRPr>
                      </a:pPr>
                      <a:r>
                        <a:t>MCDA Hospital Decision Engine</a:t>
                      </a:r>
                    </a:p>
                  </a:txBody>
                  <a:tcPr marT="36576" marB="36576" marL="73152" marR="73152">
                    <a:solidFill>
                      <a:srgbClr val="1B2D5C"/>
                    </a:solidFill>
                  </a:tcPr>
                </a:tc>
                <a:tc>
                  <a:txBody>
                    <a:bodyPr/>
                    <a:lstStyle/>
                    <a:p>
                      <a:pPr algn="l">
                        <a:defRPr sz="1000" b="0">
                          <a:solidFill>
                            <a:srgbClr val="E2E8F0"/>
                          </a:solidFill>
                          <a:latin typeface="Calibri"/>
                        </a:defRPr>
                      </a:pPr>
                      <a:r>
                        <a:t>DestinationDecisionEngine.java, HaversineRouter.java</a:t>
                      </a:r>
                    </a:p>
                  </a:txBody>
                  <a:tcPr marT="36576" marB="36576" marL="73152" marR="73152">
                    <a:solidFill>
                      <a:srgbClr val="1B2D5C"/>
                    </a:solidFill>
                  </a:tcPr>
                </a:tc>
                <a:tc>
                  <a:txBody>
                    <a:bodyPr/>
                    <a:lstStyle/>
                    <a:p>
                      <a:pPr algn="ctr">
                        <a:defRPr sz="1000" b="1">
                          <a:solidFill>
                            <a:srgbClr val="00E676"/>
                          </a:solidFill>
                          <a:latin typeface="Calibri"/>
                        </a:defRPr>
                      </a:pPr>
                      <a:r>
                        <a:t>100%</a:t>
                      </a:r>
                    </a:p>
                  </a:txBody>
                  <a:tcPr marT="36576" marB="36576" marL="73152" marR="73152">
                    <a:solidFill>
                      <a:srgbClr val="1B2D5C"/>
                    </a:solidFill>
                  </a:tcPr>
                </a:tc>
                <a:tc>
                  <a:txBody>
                    <a:bodyPr/>
                    <a:lstStyle/>
                    <a:p>
                      <a:pPr algn="ctr">
                        <a:defRPr sz="1000" b="1">
                          <a:solidFill>
                            <a:srgbClr val="00E676"/>
                          </a:solidFill>
                          <a:latin typeface="Calibri"/>
                        </a:defRPr>
                      </a:pPr>
                      <a:r>
                        <a:t>IMPLEMENTED &amp; TESTED</a:t>
                      </a:r>
                    </a:p>
                  </a:txBody>
                  <a:tcPr marT="36576" marB="36576" marL="73152" marR="73152">
                    <a:solidFill>
                      <a:srgbClr val="1B2D5C"/>
                    </a:solidFill>
                  </a:tcPr>
                </a:tc>
              </a:tr>
              <a:tr h="432261">
                <a:tc>
                  <a:txBody>
                    <a:bodyPr/>
                    <a:lstStyle/>
                    <a:p>
                      <a:pPr algn="ctr">
                        <a:defRPr sz="1000" b="1">
                          <a:solidFill>
                            <a:srgbClr val="00E5FF"/>
                          </a:solidFill>
                          <a:latin typeface="Calibri"/>
                        </a:defRPr>
                      </a:pPr>
                      <a:r>
                        <a:t>M07</a:t>
                      </a:r>
                    </a:p>
                  </a:txBody>
                  <a:tcPr marT="36576" marB="36576" marL="73152" marR="73152">
                    <a:solidFill>
                      <a:srgbClr val="132247"/>
                    </a:solidFill>
                  </a:tcPr>
                </a:tc>
                <a:tc>
                  <a:txBody>
                    <a:bodyPr/>
                    <a:lstStyle/>
                    <a:p>
                      <a:pPr algn="l">
                        <a:defRPr sz="1000" b="1">
                          <a:solidFill>
                            <a:srgbClr val="FFFFFF"/>
                          </a:solidFill>
                          <a:latin typeface="Calibri"/>
                        </a:defRPr>
                      </a:pPr>
                      <a:r>
                        <a:t>AI Forecasting &amp; Image Analysis</a:t>
                      </a:r>
                    </a:p>
                  </a:txBody>
                  <a:tcPr marT="36576" marB="36576" marL="73152" marR="73152">
                    <a:solidFill>
                      <a:srgbClr val="132247"/>
                    </a:solidFill>
                  </a:tcPr>
                </a:tc>
                <a:tc>
                  <a:txBody>
                    <a:bodyPr/>
                    <a:lstStyle/>
                    <a:p>
                      <a:pPr algn="l">
                        <a:defRPr sz="1000" b="0">
                          <a:solidFill>
                            <a:srgbClr val="E2E8F0"/>
                          </a:solidFill>
                          <a:latin typeface="Calibri"/>
                        </a:defRPr>
                      </a:pPr>
                      <a:r>
                        <a:t>ai-service/app/forecasting.py, vision.py, assistant.py</a:t>
                      </a:r>
                    </a:p>
                  </a:txBody>
                  <a:tcPr marT="36576" marB="36576" marL="73152" marR="73152">
                    <a:solidFill>
                      <a:srgbClr val="132247"/>
                    </a:solidFill>
                  </a:tcPr>
                </a:tc>
                <a:tc>
                  <a:txBody>
                    <a:bodyPr/>
                    <a:lstStyle/>
                    <a:p>
                      <a:pPr algn="ctr">
                        <a:defRPr sz="1000" b="1">
                          <a:solidFill>
                            <a:srgbClr val="00E676"/>
                          </a:solidFill>
                          <a:latin typeface="Calibri"/>
                        </a:defRPr>
                      </a:pPr>
                      <a:r>
                        <a:t>100%</a:t>
                      </a:r>
                    </a:p>
                  </a:txBody>
                  <a:tcPr marT="36576" marB="36576" marL="73152" marR="73152">
                    <a:solidFill>
                      <a:srgbClr val="132247"/>
                    </a:solidFill>
                  </a:tcPr>
                </a:tc>
                <a:tc>
                  <a:txBody>
                    <a:bodyPr/>
                    <a:lstStyle/>
                    <a:p>
                      <a:pPr algn="ctr">
                        <a:defRPr sz="1000" b="1">
                          <a:solidFill>
                            <a:srgbClr val="00E676"/>
                          </a:solidFill>
                          <a:latin typeface="Calibri"/>
                        </a:defRPr>
                      </a:pPr>
                      <a:r>
                        <a:t>IMPLEMENTED &amp; TESTED</a:t>
                      </a:r>
                    </a:p>
                  </a:txBody>
                  <a:tcPr marT="36576" marB="36576" marL="73152" marR="73152">
                    <a:solidFill>
                      <a:srgbClr val="132247"/>
                    </a:solidFill>
                  </a:tcPr>
                </a:tc>
              </a:tr>
              <a:tr h="432261">
                <a:tc>
                  <a:txBody>
                    <a:bodyPr/>
                    <a:lstStyle/>
                    <a:p>
                      <a:pPr algn="ctr">
                        <a:defRPr sz="1000" b="1">
                          <a:solidFill>
                            <a:srgbClr val="00E5FF"/>
                          </a:solidFill>
                          <a:latin typeface="Calibri"/>
                        </a:defRPr>
                      </a:pPr>
                      <a:r>
                        <a:t>M08</a:t>
                      </a:r>
                    </a:p>
                  </a:txBody>
                  <a:tcPr marT="36576" marB="36576" marL="73152" marR="73152">
                    <a:solidFill>
                      <a:srgbClr val="1B2D5C"/>
                    </a:solidFill>
                  </a:tcPr>
                </a:tc>
                <a:tc>
                  <a:txBody>
                    <a:bodyPr/>
                    <a:lstStyle/>
                    <a:p>
                      <a:pPr algn="l">
                        <a:defRPr sz="1000" b="1">
                          <a:solidFill>
                            <a:srgbClr val="FFFFFF"/>
                          </a:solidFill>
                          <a:latin typeface="Calibri"/>
                        </a:defRPr>
                      </a:pPr>
                      <a:r>
                        <a:t>Hospital Console &amp; Nurse Orders</a:t>
                      </a:r>
                    </a:p>
                  </a:txBody>
                  <a:tcPr marT="36576" marB="36576" marL="73152" marR="73152">
                    <a:solidFill>
                      <a:srgbClr val="1B2D5C"/>
                    </a:solidFill>
                  </a:tcPr>
                </a:tc>
                <a:tc>
                  <a:txBody>
                    <a:bodyPr/>
                    <a:lstStyle/>
                    <a:p>
                      <a:pPr algn="l">
                        <a:defRPr sz="1000" b="0">
                          <a:solidFill>
                            <a:srgbClr val="E2E8F0"/>
                          </a:solidFill>
                          <a:latin typeface="Calibri"/>
                        </a:defRPr>
                      </a:pPr>
                      <a:r>
                        <a:t>HospitalConsolePage.tsx, PreAlertService.java (Bay, Blood, Vents)</a:t>
                      </a:r>
                    </a:p>
                  </a:txBody>
                  <a:tcPr marT="36576" marB="36576" marL="73152" marR="73152">
                    <a:solidFill>
                      <a:srgbClr val="1B2D5C"/>
                    </a:solidFill>
                  </a:tcPr>
                </a:tc>
                <a:tc>
                  <a:txBody>
                    <a:bodyPr/>
                    <a:lstStyle/>
                    <a:p>
                      <a:pPr algn="ctr">
                        <a:defRPr sz="1000" b="1">
                          <a:solidFill>
                            <a:srgbClr val="00E676"/>
                          </a:solidFill>
                          <a:latin typeface="Calibri"/>
                        </a:defRPr>
                      </a:pPr>
                      <a:r>
                        <a:t>100%</a:t>
                      </a:r>
                    </a:p>
                  </a:txBody>
                  <a:tcPr marT="36576" marB="36576" marL="73152" marR="73152">
                    <a:solidFill>
                      <a:srgbClr val="1B2D5C"/>
                    </a:solidFill>
                  </a:tcPr>
                </a:tc>
                <a:tc>
                  <a:txBody>
                    <a:bodyPr/>
                    <a:lstStyle/>
                    <a:p>
                      <a:pPr algn="ctr">
                        <a:defRPr sz="1000" b="1">
                          <a:solidFill>
                            <a:srgbClr val="00E676"/>
                          </a:solidFill>
                          <a:latin typeface="Calibri"/>
                        </a:defRPr>
                      </a:pPr>
                      <a:r>
                        <a:t>IMPLEMENTED &amp; TESTED</a:t>
                      </a:r>
                    </a:p>
                  </a:txBody>
                  <a:tcPr marT="36576" marB="36576" marL="73152" marR="73152">
                    <a:solidFill>
                      <a:srgbClr val="1B2D5C"/>
                    </a:solidFill>
                  </a:tcPr>
                </a:tc>
              </a:tr>
              <a:tr h="432261">
                <a:tc>
                  <a:txBody>
                    <a:bodyPr/>
                    <a:lstStyle/>
                    <a:p>
                      <a:pPr algn="ctr">
                        <a:defRPr sz="1000" b="1">
                          <a:solidFill>
                            <a:srgbClr val="00E5FF"/>
                          </a:solidFill>
                          <a:latin typeface="Calibri"/>
                        </a:defRPr>
                      </a:pPr>
                      <a:r>
                        <a:t>M09</a:t>
                      </a:r>
                    </a:p>
                  </a:txBody>
                  <a:tcPr marT="36576" marB="36576" marL="73152" marR="73152">
                    <a:solidFill>
                      <a:srgbClr val="132247"/>
                    </a:solidFill>
                  </a:tcPr>
                </a:tc>
                <a:tc>
                  <a:txBody>
                    <a:bodyPr/>
                    <a:lstStyle/>
                    <a:p>
                      <a:pPr algn="l">
                        <a:defRPr sz="1000" b="1">
                          <a:solidFill>
                            <a:srgbClr val="FFFFFF"/>
                          </a:solidFill>
                          <a:latin typeface="Calibri"/>
                        </a:defRPr>
                      </a:pPr>
                      <a:r>
                        <a:t>Doctor Directives &amp; Intercom</a:t>
                      </a:r>
                    </a:p>
                  </a:txBody>
                  <a:tcPr marT="36576" marB="36576" marL="73152" marR="73152">
                    <a:solidFill>
                      <a:srgbClr val="132247"/>
                    </a:solidFill>
                  </a:tcPr>
                </a:tc>
                <a:tc>
                  <a:txBody>
                    <a:bodyPr/>
                    <a:lstStyle/>
                    <a:p>
                      <a:pPr algn="l">
                        <a:defRPr sz="1000" b="0">
                          <a:solidFill>
                            <a:srgbClr val="E2E8F0"/>
                          </a:solidFill>
                          <a:latin typeface="Calibri"/>
                        </a:defRPr>
                      </a:pPr>
                      <a:r>
                        <a:t>CommunicationCenterPage.tsx, MessageController.java, AlertsPage</a:t>
                      </a:r>
                    </a:p>
                  </a:txBody>
                  <a:tcPr marT="36576" marB="36576" marL="73152" marR="73152">
                    <a:solidFill>
                      <a:srgbClr val="132247"/>
                    </a:solidFill>
                  </a:tcPr>
                </a:tc>
                <a:tc>
                  <a:txBody>
                    <a:bodyPr/>
                    <a:lstStyle/>
                    <a:p>
                      <a:pPr algn="ctr">
                        <a:defRPr sz="1000" b="1">
                          <a:solidFill>
                            <a:srgbClr val="00E676"/>
                          </a:solidFill>
                          <a:latin typeface="Calibri"/>
                        </a:defRPr>
                      </a:pPr>
                      <a:r>
                        <a:t>100%</a:t>
                      </a:r>
                    </a:p>
                  </a:txBody>
                  <a:tcPr marT="36576" marB="36576" marL="73152" marR="73152">
                    <a:solidFill>
                      <a:srgbClr val="132247"/>
                    </a:solidFill>
                  </a:tcPr>
                </a:tc>
                <a:tc>
                  <a:txBody>
                    <a:bodyPr/>
                    <a:lstStyle/>
                    <a:p>
                      <a:pPr algn="ctr">
                        <a:defRPr sz="1000" b="1">
                          <a:solidFill>
                            <a:srgbClr val="00E676"/>
                          </a:solidFill>
                          <a:latin typeface="Calibri"/>
                        </a:defRPr>
                      </a:pPr>
                      <a:r>
                        <a:t>IMPLEMENTED &amp; TESTED</a:t>
                      </a:r>
                    </a:p>
                  </a:txBody>
                  <a:tcPr marT="36576" marB="36576" marL="73152" marR="73152">
                    <a:solidFill>
                      <a:srgbClr val="132247"/>
                    </a:solidFill>
                  </a:tcPr>
                </a:tc>
              </a:tr>
              <a:tr h="432270">
                <a:tc>
                  <a:txBody>
                    <a:bodyPr/>
                    <a:lstStyle/>
                    <a:p>
                      <a:pPr algn="ctr">
                        <a:defRPr sz="1000" b="1">
                          <a:solidFill>
                            <a:srgbClr val="00E5FF"/>
                          </a:solidFill>
                          <a:latin typeface="Calibri"/>
                        </a:defRPr>
                      </a:pPr>
                      <a:r>
                        <a:t>M10</a:t>
                      </a:r>
                    </a:p>
                  </a:txBody>
                  <a:tcPr marT="36576" marB="36576" marL="73152" marR="73152">
                    <a:solidFill>
                      <a:srgbClr val="1B2D5C"/>
                    </a:solidFill>
                  </a:tcPr>
                </a:tc>
                <a:tc>
                  <a:txBody>
                    <a:bodyPr/>
                    <a:lstStyle/>
                    <a:p>
                      <a:pPr algn="l">
                        <a:defRPr sz="1000" b="1">
                          <a:solidFill>
                            <a:srgbClr val="FFFFFF"/>
                          </a:solidFill>
                          <a:latin typeface="Calibri"/>
                        </a:defRPr>
                      </a:pPr>
                      <a:r>
                        <a:t>Golden Hour Simulation Runner</a:t>
                      </a:r>
                    </a:p>
                  </a:txBody>
                  <a:tcPr marT="36576" marB="36576" marL="73152" marR="73152">
                    <a:solidFill>
                      <a:srgbClr val="1B2D5C"/>
                    </a:solidFill>
                  </a:tcPr>
                </a:tc>
                <a:tc>
                  <a:txBody>
                    <a:bodyPr/>
                    <a:lstStyle/>
                    <a:p>
                      <a:pPr algn="l">
                        <a:defRPr sz="1000" b="0">
                          <a:solidFill>
                            <a:srgbClr val="E2E8F0"/>
                          </a:solidFill>
                          <a:latin typeface="Calibri"/>
                        </a:defRPr>
                      </a:pPr>
                      <a:r>
                        <a:t>simulator/runner.py, SimulationService.java (4-Phase Demo)</a:t>
                      </a:r>
                    </a:p>
                  </a:txBody>
                  <a:tcPr marT="36576" marB="36576" marL="73152" marR="73152">
                    <a:solidFill>
                      <a:srgbClr val="1B2D5C"/>
                    </a:solidFill>
                  </a:tcPr>
                </a:tc>
                <a:tc>
                  <a:txBody>
                    <a:bodyPr/>
                    <a:lstStyle/>
                    <a:p>
                      <a:pPr algn="ctr">
                        <a:defRPr sz="1000" b="1">
                          <a:solidFill>
                            <a:srgbClr val="00E676"/>
                          </a:solidFill>
                          <a:latin typeface="Calibri"/>
                        </a:defRPr>
                      </a:pPr>
                      <a:r>
                        <a:t>100%</a:t>
                      </a:r>
                    </a:p>
                  </a:txBody>
                  <a:tcPr marT="36576" marB="36576" marL="73152" marR="73152">
                    <a:solidFill>
                      <a:srgbClr val="1B2D5C"/>
                    </a:solidFill>
                  </a:tcPr>
                </a:tc>
                <a:tc>
                  <a:txBody>
                    <a:bodyPr/>
                    <a:lstStyle/>
                    <a:p>
                      <a:pPr algn="ctr">
                        <a:defRPr sz="1000" b="1">
                          <a:solidFill>
                            <a:srgbClr val="00E676"/>
                          </a:solidFill>
                          <a:latin typeface="Calibri"/>
                        </a:defRPr>
                      </a:pPr>
                      <a:r>
                        <a:t>IMPLEMENTED &amp; DEMO READY</a:t>
                      </a:r>
                    </a:p>
                  </a:txBody>
                  <a:tcPr marT="36576" marB="36576" marL="73152" marR="73152">
                    <a:solidFill>
                      <a:srgbClr val="1B2D5C"/>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11094415" cy="1078992"/>
          </a:xfrm>
          <a:prstGeom prst="rect">
            <a:avLst/>
          </a:prstGeom>
          <a:solidFill>
            <a:srgbClr val="132247"/>
          </a:solidFill>
          <a:ln w="12700">
            <a:solidFill>
              <a:srgbClr val="2C4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402336"/>
            <a:ext cx="4389120" cy="256032"/>
          </a:xfrm>
          <a:prstGeom prst="roundRect">
            <a:avLst>
              <a:gd name="adj" fmla="val 20000"/>
            </a:avLst>
          </a:prstGeom>
          <a:solidFill>
            <a:srgbClr val="1B2D5C"/>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950" b="1">
                <a:solidFill>
                  <a:srgbClr val="00E5FF"/>
                </a:solidFill>
                <a:latin typeface="Calibri"/>
              </a:defRPr>
            </a:pPr>
            <a:r>
              <a:t>RUBRIC 7: MODULE DEEP-DIVE (EMERGENCY SOS)</a:t>
            </a:r>
          </a:p>
        </p:txBody>
      </p:sp>
      <p:sp>
        <p:nvSpPr>
          <p:cNvPr id="5" name="TextBox 4"/>
          <p:cNvSpPr txBox="1"/>
          <p:nvPr/>
        </p:nvSpPr>
        <p:spPr>
          <a:xfrm>
            <a:off x="731520" y="667512"/>
            <a:ext cx="10698480" cy="384048"/>
          </a:xfrm>
          <a:prstGeom prst="rect">
            <a:avLst/>
          </a:prstGeom>
          <a:noFill/>
        </p:spPr>
        <p:txBody>
          <a:bodyPr wrap="square" lIns="0" tIns="0" rIns="0" bIns="0">
            <a:spAutoFit/>
          </a:bodyPr>
          <a:lstStyle/>
          <a:p>
            <a:pPr>
              <a:defRPr sz="1900" b="1">
                <a:solidFill>
                  <a:srgbClr val="FFFFFF"/>
                </a:solidFill>
                <a:latin typeface="Calibri"/>
              </a:defRPr>
            </a:pPr>
            <a:r>
              <a:t>Implemented Step 1: Emergency SOS Intake (Web &amp; Offline SMS)</a:t>
            </a:r>
          </a:p>
        </p:txBody>
      </p:sp>
      <p:sp>
        <p:nvSpPr>
          <p:cNvPr id="6" name="TextBox 5"/>
          <p:cNvSpPr txBox="1"/>
          <p:nvPr/>
        </p:nvSpPr>
        <p:spPr>
          <a:xfrm>
            <a:off x="731520" y="1069848"/>
            <a:ext cx="10698480" cy="274320"/>
          </a:xfrm>
          <a:prstGeom prst="rect">
            <a:avLst/>
          </a:prstGeom>
          <a:noFill/>
        </p:spPr>
        <p:txBody>
          <a:bodyPr wrap="square" lIns="0" tIns="0" rIns="0" bIns="0">
            <a:spAutoFit/>
          </a:bodyPr>
          <a:lstStyle/>
          <a:p>
            <a:pPr>
              <a:defRPr sz="1100">
                <a:solidFill>
                  <a:srgbClr val="00E5FF"/>
                </a:solidFill>
                <a:latin typeface="Calibri"/>
              </a:defRPr>
            </a:pPr>
            <a:r>
              <a:t>Ensuring citizens can summon emergency help whether they have 5G internet or zero mobile data</a:t>
            </a:r>
          </a:p>
        </p:txBody>
      </p:sp>
      <p:sp>
        <p:nvSpPr>
          <p:cNvPr id="7" name="TextBox 6"/>
          <p:cNvSpPr txBox="1"/>
          <p:nvPr/>
        </p:nvSpPr>
        <p:spPr>
          <a:xfrm>
            <a:off x="548640" y="6510528"/>
            <a:ext cx="9601200" cy="256032"/>
          </a:xfrm>
          <a:prstGeom prst="rect">
            <a:avLst/>
          </a:prstGeom>
          <a:noFill/>
        </p:spPr>
        <p:txBody>
          <a:bodyPr wrap="none" lIns="0" tIns="0" rIns="0" bIns="0">
            <a:spAutoFit/>
          </a:bodyPr>
          <a:lstStyle/>
          <a:p>
            <a:pPr>
              <a:defRPr sz="900">
                <a:solidFill>
                  <a:srgbClr val="94A3B8"/>
                </a:solidFill>
                <a:latin typeface="Calibri"/>
              </a:defRPr>
            </a:pPr>
            <a:r>
              <a:t>LifeFlow AI — Predictive Emergency Healthcare Digital Twin Platform  |  Capstone Project-1 Review-2</a:t>
            </a:r>
          </a:p>
        </p:txBody>
      </p:sp>
      <p:sp>
        <p:nvSpPr>
          <p:cNvPr id="8" name="TextBox 7"/>
          <p:cNvSpPr txBox="1"/>
          <p:nvPr/>
        </p:nvSpPr>
        <p:spPr>
          <a:xfrm>
            <a:off x="10515600" y="6510528"/>
            <a:ext cx="1127455" cy="256032"/>
          </a:xfrm>
          <a:prstGeom prst="rect">
            <a:avLst/>
          </a:prstGeom>
          <a:noFill/>
        </p:spPr>
        <p:txBody>
          <a:bodyPr wrap="none" lIns="0" tIns="0" rIns="0" bIns="0">
            <a:spAutoFit/>
          </a:bodyPr>
          <a:lstStyle/>
          <a:p>
            <a:pPr algn="r">
              <a:defRPr sz="950" b="1">
                <a:solidFill>
                  <a:srgbClr val="00E5FF"/>
                </a:solidFill>
                <a:latin typeface="Calibri"/>
              </a:defRPr>
            </a:pPr>
            <a:r>
              <a:t>Slide 12 of 27</a:t>
            </a:r>
          </a:p>
        </p:txBody>
      </p:sp>
      <p:sp>
        <p:nvSpPr>
          <p:cNvPr id="9" name="Rounded Rectangle 8"/>
          <p:cNvSpPr/>
          <p:nvPr/>
        </p:nvSpPr>
        <p:spPr>
          <a:xfrm>
            <a:off x="548640" y="1508760"/>
            <a:ext cx="4754880" cy="4754880"/>
          </a:xfrm>
          <a:prstGeom prst="roundRect">
            <a:avLst>
              <a:gd name="adj" fmla="val 2500"/>
            </a:avLst>
          </a:prstGeom>
          <a:solidFill>
            <a:srgbClr val="132247"/>
          </a:solidFill>
          <a:ln w="15240">
            <a:solidFill>
              <a:srgbClr val="2C4A87"/>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46304"/>
          <a:lstStyle/>
          <a:p>
            <a:pPr algn="ctr">
              <a:spcAft>
                <a:spcPts val="800"/>
              </a:spcAft>
              <a:defRPr sz="1550" b="1">
                <a:solidFill>
                  <a:srgbClr val="00E5FF"/>
                </a:solidFill>
                <a:latin typeface="Calibri"/>
              </a:defRPr>
            </a:pPr>
            <a:r>
              <a:t>Dual-Channel SOS Architecture</a:t>
            </a:r>
          </a:p>
          <a:p>
            <a:pPr>
              <a:spcAft>
                <a:spcPts val="600"/>
              </a:spcAft>
            </a:pPr>
            <a:r>
              <a:rPr b="1" sz="1200">
                <a:solidFill>
                  <a:srgbClr val="FFFFFF"/>
                </a:solidFill>
                <a:latin typeface="Calibri"/>
              </a:rPr>
              <a:t>Channel 1: Online Web SOS: </a:t>
            </a:r>
            <a:r>
              <a:rPr sz="1150">
                <a:solidFill>
                  <a:srgbClr val="E2E8F0"/>
                </a:solidFill>
                <a:latin typeface="Calibri"/>
              </a:rPr>
              <a:t>CitizenSosPage.tsx with browser satellite GPS pin, HTML5 canvas image auto-compression (&lt;50KB), and OpenCV vision triage analysis.</a:t>
            </a:r>
          </a:p>
          <a:p>
            <a:pPr>
              <a:spcAft>
                <a:spcPts val="600"/>
              </a:spcAft>
            </a:pPr>
            <a:r>
              <a:rPr b="1" sz="1200">
                <a:solidFill>
                  <a:srgbClr val="FFFFFF"/>
                </a:solidFill>
                <a:latin typeface="Calibri"/>
              </a:rPr>
              <a:t>Channel 2: Offline 2G/GSM SMS: </a:t>
            </a:r>
            <a:r>
              <a:rPr sz="1150">
                <a:solidFill>
                  <a:srgbClr val="E2E8F0"/>
                </a:solidFill>
                <a:latin typeface="Calibri"/>
              </a:rPr>
              <a:t>Single-tap pre-filled SMS to emergency hotline 7249505296; transmits GPS coordinates and casualty count over cellular 2G/GSM.</a:t>
            </a:r>
          </a:p>
          <a:p>
            <a:pPr>
              <a:spcAft>
                <a:spcPts val="600"/>
              </a:spcAft>
            </a:pPr>
            <a:r>
              <a:rPr b="1" sz="1200">
                <a:solidFill>
                  <a:srgbClr val="FFFFFF"/>
                </a:solidFill>
                <a:latin typeface="Calibri"/>
              </a:rPr>
              <a:t>Spring Boot Regex Webhook: </a:t>
            </a:r>
            <a:r>
              <a:rPr sz="1150">
                <a:solidFill>
                  <a:srgbClr val="E2E8F0"/>
                </a:solidFill>
                <a:latin typeface="Calibri"/>
              </a:rPr>
              <a:t>IncidentController.java parses incoming SMS payload via regex, creates PatientCase entity, and pairs nearest ambulance via Haversine distance.</a:t>
            </a:r>
          </a:p>
          <a:p>
            <a:pPr>
              <a:spcAft>
                <a:spcPts val="600"/>
              </a:spcAft>
            </a:pPr>
            <a:r>
              <a:rPr b="1" sz="1200">
                <a:solidFill>
                  <a:srgbClr val="FFFFFF"/>
                </a:solidFill>
                <a:latin typeface="Calibri"/>
              </a:rPr>
              <a:t>Live 4-Step Stepper: </a:t>
            </a:r>
            <a:r>
              <a:rPr sz="1150">
                <a:solidFill>
                  <a:srgbClr val="E2E8F0"/>
                </a:solidFill>
                <a:latin typeface="Calibri"/>
              </a:rPr>
              <a:t>Citizen mobile screen displays live real-time dispatch progress: Dispatched -&gt; En Route -&gt; On Scene -&gt; Patient Boarded.</a:t>
            </a:r>
          </a:p>
        </p:txBody>
      </p:sp>
      <p:sp>
        <p:nvSpPr>
          <p:cNvPr id="10" name="Rectangle 9"/>
          <p:cNvSpPr/>
          <p:nvPr/>
        </p:nvSpPr>
        <p:spPr>
          <a:xfrm>
            <a:off x="5468112" y="2146096"/>
            <a:ext cx="6193231" cy="3480207"/>
          </a:xfrm>
          <a:prstGeom prst="rect">
            <a:avLst/>
          </a:prstGeom>
          <a:solidFill>
            <a:srgbClr val="1B2D5C"/>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diag6_dual_channel_sos.png"/>
          <p:cNvPicPr>
            <a:picLocks noChangeAspect="1"/>
          </p:cNvPicPr>
          <p:nvPr/>
        </p:nvPicPr>
        <p:blipFill>
          <a:blip r:embed="rId2"/>
          <a:stretch>
            <a:fillRect/>
          </a:stretch>
        </p:blipFill>
        <p:spPr>
          <a:xfrm>
            <a:off x="5486400" y="2164384"/>
            <a:ext cx="6156655" cy="3443631"/>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11094415" cy="1078992"/>
          </a:xfrm>
          <a:prstGeom prst="rect">
            <a:avLst/>
          </a:prstGeom>
          <a:solidFill>
            <a:srgbClr val="132247"/>
          </a:solidFill>
          <a:ln w="12700">
            <a:solidFill>
              <a:srgbClr val="2C4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402336"/>
            <a:ext cx="4389120" cy="256032"/>
          </a:xfrm>
          <a:prstGeom prst="roundRect">
            <a:avLst>
              <a:gd name="adj" fmla="val 20000"/>
            </a:avLst>
          </a:prstGeom>
          <a:solidFill>
            <a:srgbClr val="1B2D5C"/>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950" b="1">
                <a:solidFill>
                  <a:srgbClr val="00E5FF"/>
                </a:solidFill>
                <a:latin typeface="Calibri"/>
              </a:defRPr>
            </a:pPr>
            <a:r>
              <a:t>RUBRIC 7: MODULE DEEP-DIVE (AMBULANCE TELEMETRY)</a:t>
            </a:r>
          </a:p>
        </p:txBody>
      </p:sp>
      <p:sp>
        <p:nvSpPr>
          <p:cNvPr id="5" name="TextBox 4"/>
          <p:cNvSpPr txBox="1"/>
          <p:nvPr/>
        </p:nvSpPr>
        <p:spPr>
          <a:xfrm>
            <a:off x="731520" y="667512"/>
            <a:ext cx="10698480" cy="384048"/>
          </a:xfrm>
          <a:prstGeom prst="rect">
            <a:avLst/>
          </a:prstGeom>
          <a:noFill/>
        </p:spPr>
        <p:txBody>
          <a:bodyPr wrap="square" lIns="0" tIns="0" rIns="0" bIns="0">
            <a:spAutoFit/>
          </a:bodyPr>
          <a:lstStyle/>
          <a:p>
            <a:pPr>
              <a:defRPr sz="1900" b="1">
                <a:solidFill>
                  <a:srgbClr val="FFFFFF"/>
                </a:solidFill>
                <a:latin typeface="Calibri"/>
              </a:defRPr>
            </a:pPr>
            <a:r>
              <a:t>Implemented Step 2: Ambulance Cabin Telemetry &amp; Android Sensing Hub</a:t>
            </a:r>
          </a:p>
        </p:txBody>
      </p:sp>
      <p:sp>
        <p:nvSpPr>
          <p:cNvPr id="6" name="TextBox 5"/>
          <p:cNvSpPr txBox="1"/>
          <p:nvPr/>
        </p:nvSpPr>
        <p:spPr>
          <a:xfrm>
            <a:off x="731520" y="1069848"/>
            <a:ext cx="10698480" cy="274320"/>
          </a:xfrm>
          <a:prstGeom prst="rect">
            <a:avLst/>
          </a:prstGeom>
          <a:noFill/>
        </p:spPr>
        <p:txBody>
          <a:bodyPr wrap="square" lIns="0" tIns="0" rIns="0" bIns="0">
            <a:spAutoFit/>
          </a:bodyPr>
          <a:lstStyle/>
          <a:p>
            <a:pPr>
              <a:defRPr sz="1100">
                <a:solidFill>
                  <a:srgbClr val="00E5FF"/>
                </a:solidFill>
                <a:latin typeface="Calibri"/>
              </a:defRPr>
            </a:pPr>
            <a:r>
              <a:t>Native Android sensor tracking and multi-device telemetry streaming inside the ambulance</a:t>
            </a:r>
          </a:p>
        </p:txBody>
      </p:sp>
      <p:sp>
        <p:nvSpPr>
          <p:cNvPr id="7" name="TextBox 6"/>
          <p:cNvSpPr txBox="1"/>
          <p:nvPr/>
        </p:nvSpPr>
        <p:spPr>
          <a:xfrm>
            <a:off x="548640" y="6510528"/>
            <a:ext cx="9601200" cy="256032"/>
          </a:xfrm>
          <a:prstGeom prst="rect">
            <a:avLst/>
          </a:prstGeom>
          <a:noFill/>
        </p:spPr>
        <p:txBody>
          <a:bodyPr wrap="none" lIns="0" tIns="0" rIns="0" bIns="0">
            <a:spAutoFit/>
          </a:bodyPr>
          <a:lstStyle/>
          <a:p>
            <a:pPr>
              <a:defRPr sz="900">
                <a:solidFill>
                  <a:srgbClr val="94A3B8"/>
                </a:solidFill>
                <a:latin typeface="Calibri"/>
              </a:defRPr>
            </a:pPr>
            <a:r>
              <a:t>LifeFlow AI — Predictive Emergency Healthcare Digital Twin Platform  |  Capstone Project-1 Review-2</a:t>
            </a:r>
          </a:p>
        </p:txBody>
      </p:sp>
      <p:sp>
        <p:nvSpPr>
          <p:cNvPr id="8" name="TextBox 7"/>
          <p:cNvSpPr txBox="1"/>
          <p:nvPr/>
        </p:nvSpPr>
        <p:spPr>
          <a:xfrm>
            <a:off x="10515600" y="6510528"/>
            <a:ext cx="1127455" cy="256032"/>
          </a:xfrm>
          <a:prstGeom prst="rect">
            <a:avLst/>
          </a:prstGeom>
          <a:noFill/>
        </p:spPr>
        <p:txBody>
          <a:bodyPr wrap="none" lIns="0" tIns="0" rIns="0" bIns="0">
            <a:spAutoFit/>
          </a:bodyPr>
          <a:lstStyle/>
          <a:p>
            <a:pPr algn="r">
              <a:defRPr sz="950" b="1">
                <a:solidFill>
                  <a:srgbClr val="00E5FF"/>
                </a:solidFill>
                <a:latin typeface="Calibri"/>
              </a:defRPr>
            </a:pPr>
            <a:r>
              <a:t>Slide 13 of 27</a:t>
            </a:r>
          </a:p>
        </p:txBody>
      </p:sp>
      <p:sp>
        <p:nvSpPr>
          <p:cNvPr id="9" name="Rounded Rectangle 8"/>
          <p:cNvSpPr/>
          <p:nvPr/>
        </p:nvSpPr>
        <p:spPr>
          <a:xfrm>
            <a:off x="548640" y="1508760"/>
            <a:ext cx="5394960" cy="4754880"/>
          </a:xfrm>
          <a:prstGeom prst="roundRect">
            <a:avLst>
              <a:gd name="adj" fmla="val 2500"/>
            </a:avLst>
          </a:prstGeom>
          <a:solidFill>
            <a:srgbClr val="132247"/>
          </a:solidFill>
          <a:ln w="15240">
            <a:solidFill>
              <a:srgbClr val="2C4A87"/>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46304"/>
          <a:lstStyle/>
          <a:p>
            <a:pPr algn="ctr">
              <a:spcAft>
                <a:spcPts val="800"/>
              </a:spcAft>
              <a:defRPr sz="1550" b="1">
                <a:solidFill>
                  <a:srgbClr val="00E5FF"/>
                </a:solidFill>
                <a:latin typeface="Calibri"/>
              </a:defRPr>
            </a:pPr>
            <a:r>
              <a:t>Native Android Telemetry App (MainActivity.kt)</a:t>
            </a:r>
          </a:p>
          <a:p>
            <a:pPr>
              <a:spcAft>
                <a:spcPts val="600"/>
              </a:spcAft>
            </a:pPr>
            <a:r>
              <a:rPr b="1" sz="1200">
                <a:solidFill>
                  <a:srgbClr val="FFFFFF"/>
                </a:solidFill>
                <a:latin typeface="Calibri"/>
              </a:rPr>
              <a:t>Jetpack Compose UI: </a:t>
            </a:r>
            <a:r>
              <a:rPr sz="1150">
                <a:solidFill>
                  <a:srgbClr val="E2E8F0"/>
                </a:solidFill>
                <a:latin typeface="Calibri"/>
              </a:rPr>
              <a:t>Modern, lightweight user interface running continuously on the paramedic's ambulance tablet.</a:t>
            </a:r>
          </a:p>
          <a:p>
            <a:pPr>
              <a:spcAft>
                <a:spcPts val="600"/>
              </a:spcAft>
            </a:pPr>
            <a:r>
              <a:rPr b="1" sz="1200">
                <a:solidFill>
                  <a:srgbClr val="FFFFFF"/>
                </a:solidFill>
                <a:latin typeface="Calibri"/>
              </a:rPr>
              <a:t>Fused GPS Location Tracker: </a:t>
            </a:r>
            <a:r>
              <a:rPr sz="1150">
                <a:solidFill>
                  <a:srgbClr val="E2E8F0"/>
                </a:solidFill>
                <a:latin typeface="Calibri"/>
              </a:rPr>
              <a:t>LocationTracker.kt captures high-accuracy GPS coordinates, vehicle speed (km/h), and heading in real time.</a:t>
            </a:r>
          </a:p>
          <a:p>
            <a:pPr>
              <a:spcAft>
                <a:spcPts val="600"/>
              </a:spcAft>
            </a:pPr>
            <a:r>
              <a:rPr b="1" sz="1200">
                <a:solidFill>
                  <a:srgbClr val="FFFFFF"/>
                </a:solidFill>
                <a:latin typeface="Calibri"/>
              </a:rPr>
              <a:t>3-Axis Accelerometer Motion: </a:t>
            </a:r>
            <a:r>
              <a:rPr sz="1150">
                <a:solidFill>
                  <a:srgbClr val="E2E8F0"/>
                </a:solidFill>
                <a:latin typeface="Calibri"/>
              </a:rPr>
              <a:t>AndroidSensorManager.kt measures acceleration and road vibration magnitude to detect emergency braking.</a:t>
            </a:r>
          </a:p>
          <a:p>
            <a:pPr>
              <a:spcAft>
                <a:spcPts val="600"/>
              </a:spcAft>
            </a:pPr>
            <a:r>
              <a:rPr b="1" sz="1200">
                <a:solidFill>
                  <a:srgbClr val="FFFFFF"/>
                </a:solidFill>
                <a:latin typeface="Calibri"/>
              </a:rPr>
              <a:t>1-Hz MQTT Publisher: </a:t>
            </a:r>
            <a:r>
              <a:rPr sz="1150">
                <a:solidFill>
                  <a:srgbClr val="E2E8F0"/>
                </a:solidFill>
                <a:latin typeface="Calibri"/>
              </a:rPr>
              <a:t>MqttGatewayPublisher.kt publishes GPS and motion telemetry every second to Mosquitto broker topics.</a:t>
            </a:r>
          </a:p>
        </p:txBody>
      </p:sp>
      <p:sp>
        <p:nvSpPr>
          <p:cNvPr id="10" name="Rounded Rectangle 9"/>
          <p:cNvSpPr/>
          <p:nvPr/>
        </p:nvSpPr>
        <p:spPr>
          <a:xfrm>
            <a:off x="6126480" y="1508760"/>
            <a:ext cx="5516575" cy="4754880"/>
          </a:xfrm>
          <a:prstGeom prst="roundRect">
            <a:avLst>
              <a:gd name="adj" fmla="val 2500"/>
            </a:avLst>
          </a:prstGeom>
          <a:solidFill>
            <a:srgbClr val="132247"/>
          </a:solidFill>
          <a:ln w="15240">
            <a:solidFill>
              <a:srgbClr val="2C4A87"/>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46304"/>
          <a:lstStyle/>
          <a:p>
            <a:pPr algn="ctr">
              <a:spcAft>
                <a:spcPts val="800"/>
              </a:spcAft>
              <a:defRPr sz="1550" b="1">
                <a:solidFill>
                  <a:srgbClr val="00E676"/>
                </a:solidFill>
                <a:latin typeface="Calibri"/>
              </a:defRPr>
            </a:pPr>
            <a:r>
              <a:t>Medical Device Ingestion (DeviceAdapter.java)</a:t>
            </a:r>
          </a:p>
          <a:p>
            <a:pPr>
              <a:spcAft>
                <a:spcPts val="600"/>
              </a:spcAft>
            </a:pPr>
            <a:r>
              <a:rPr b="1" sz="1200">
                <a:solidFill>
                  <a:srgbClr val="FFFFFF"/>
                </a:solidFill>
                <a:latin typeface="Calibri"/>
              </a:rPr>
              <a:t>10 Supported Devices: </a:t>
            </a:r>
            <a:r>
              <a:rPr sz="1150">
                <a:solidFill>
                  <a:srgbClr val="E2E8F0"/>
                </a:solidFill>
                <a:latin typeface="Calibri"/>
              </a:rPr>
              <a:t>Patient Monitor, Defibrillator, Ventilator, Infusion Pump, Capnography, Ultrasound, Glucometer, BP Cuff, Oximeter.</a:t>
            </a:r>
          </a:p>
          <a:p>
            <a:pPr>
              <a:spcAft>
                <a:spcPts val="600"/>
              </a:spcAft>
            </a:pPr>
            <a:r>
              <a:rPr b="1" sz="1200">
                <a:solidFill>
                  <a:srgbClr val="FFFFFF"/>
                </a:solidFill>
                <a:latin typeface="Calibri"/>
              </a:rPr>
              <a:t>Unit Normalization: </a:t>
            </a:r>
            <a:r>
              <a:rPr sz="1150">
                <a:solidFill>
                  <a:srgbClr val="E2E8F0"/>
                </a:solidFill>
                <a:latin typeface="Calibri"/>
              </a:rPr>
              <a:t>Converts units automatically: Fahrenheit to Celsius, glucose mmol/L to mg/dL, and pressure kPa to mmHg.</a:t>
            </a:r>
          </a:p>
          <a:p>
            <a:pPr>
              <a:spcAft>
                <a:spcPts val="600"/>
              </a:spcAft>
            </a:pPr>
            <a:r>
              <a:rPr b="1" sz="1200">
                <a:solidFill>
                  <a:srgbClr val="FFFFFF"/>
                </a:solidFill>
                <a:latin typeface="Calibri"/>
              </a:rPr>
              <a:t>Artifact Validation: </a:t>
            </a:r>
            <a:r>
              <a:rPr sz="1150">
                <a:solidFill>
                  <a:srgbClr val="E2E8F0"/>
                </a:solidFill>
                <a:latin typeface="Calibri"/>
              </a:rPr>
              <a:t>Rejects impossible artifact readings (e.g. Heart Rate &gt; 300 bpm or SpO2 &gt; 100%) to prevent false clinical alarms.</a:t>
            </a:r>
          </a:p>
          <a:p>
            <a:pPr>
              <a:spcAft>
                <a:spcPts val="600"/>
              </a:spcAft>
            </a:pPr>
            <a:r>
              <a:rPr b="1" sz="1200">
                <a:solidFill>
                  <a:srgbClr val="FFFFFF"/>
                </a:solidFill>
                <a:latin typeface="Calibri"/>
              </a:rPr>
              <a:t>Local Cabin Connection: </a:t>
            </a:r>
            <a:r>
              <a:rPr sz="1150">
                <a:solidFill>
                  <a:srgbClr val="E2E8F0"/>
                </a:solidFill>
                <a:latin typeface="Calibri"/>
              </a:rPr>
              <a:t>Connects via local USB/Bluetooth/Serial to edge gateway, keeping vitals updated regardless of cloud connectivity.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11094415" cy="1078992"/>
          </a:xfrm>
          <a:prstGeom prst="rect">
            <a:avLst/>
          </a:prstGeom>
          <a:solidFill>
            <a:srgbClr val="132247"/>
          </a:solidFill>
          <a:ln w="12700">
            <a:solidFill>
              <a:srgbClr val="2C4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402336"/>
            <a:ext cx="4389120" cy="256032"/>
          </a:xfrm>
          <a:prstGeom prst="roundRect">
            <a:avLst>
              <a:gd name="adj" fmla="val 20000"/>
            </a:avLst>
          </a:prstGeom>
          <a:solidFill>
            <a:srgbClr val="1B2D5C"/>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950" b="1">
                <a:solidFill>
                  <a:srgbClr val="00E5FF"/>
                </a:solidFill>
                <a:latin typeface="Calibri"/>
              </a:defRPr>
            </a:pPr>
            <a:r>
              <a:t>RUBRIC 7: MODULE DEEP-DIVE (EDGE OFFLINE BUFFER)</a:t>
            </a:r>
          </a:p>
        </p:txBody>
      </p:sp>
      <p:sp>
        <p:nvSpPr>
          <p:cNvPr id="5" name="TextBox 4"/>
          <p:cNvSpPr txBox="1"/>
          <p:nvPr/>
        </p:nvSpPr>
        <p:spPr>
          <a:xfrm>
            <a:off x="731520" y="667512"/>
            <a:ext cx="10698480" cy="384048"/>
          </a:xfrm>
          <a:prstGeom prst="rect">
            <a:avLst/>
          </a:prstGeom>
          <a:noFill/>
        </p:spPr>
        <p:txBody>
          <a:bodyPr wrap="square" lIns="0" tIns="0" rIns="0" bIns="0">
            <a:spAutoFit/>
          </a:bodyPr>
          <a:lstStyle/>
          <a:p>
            <a:pPr>
              <a:defRPr sz="1900" b="1">
                <a:solidFill>
                  <a:srgbClr val="FFFFFF"/>
                </a:solidFill>
                <a:latin typeface="Calibri"/>
              </a:defRPr>
            </a:pPr>
            <a:r>
              <a:t>Implemented Step 3: Edge Gateway &amp; Offline SQLite Buffer</a:t>
            </a:r>
          </a:p>
        </p:txBody>
      </p:sp>
      <p:sp>
        <p:nvSpPr>
          <p:cNvPr id="6" name="TextBox 5"/>
          <p:cNvSpPr txBox="1"/>
          <p:nvPr/>
        </p:nvSpPr>
        <p:spPr>
          <a:xfrm>
            <a:off x="731520" y="1069848"/>
            <a:ext cx="10698480" cy="274320"/>
          </a:xfrm>
          <a:prstGeom prst="rect">
            <a:avLst/>
          </a:prstGeom>
          <a:noFill/>
        </p:spPr>
        <p:txBody>
          <a:bodyPr wrap="square" lIns="0" tIns="0" rIns="0" bIns="0">
            <a:spAutoFit/>
          </a:bodyPr>
          <a:lstStyle/>
          <a:p>
            <a:pPr>
              <a:defRPr sz="1100">
                <a:solidFill>
                  <a:srgbClr val="00E5FF"/>
                </a:solidFill>
                <a:latin typeface="Calibri"/>
              </a:defRPr>
            </a:pPr>
            <a:r>
              <a:t>Sub-millisecond local SQLite buffering guaranteeing zero data loss during cellular dead zones</a:t>
            </a:r>
          </a:p>
        </p:txBody>
      </p:sp>
      <p:sp>
        <p:nvSpPr>
          <p:cNvPr id="7" name="TextBox 6"/>
          <p:cNvSpPr txBox="1"/>
          <p:nvPr/>
        </p:nvSpPr>
        <p:spPr>
          <a:xfrm>
            <a:off x="548640" y="6510528"/>
            <a:ext cx="9601200" cy="256032"/>
          </a:xfrm>
          <a:prstGeom prst="rect">
            <a:avLst/>
          </a:prstGeom>
          <a:noFill/>
        </p:spPr>
        <p:txBody>
          <a:bodyPr wrap="none" lIns="0" tIns="0" rIns="0" bIns="0">
            <a:spAutoFit/>
          </a:bodyPr>
          <a:lstStyle/>
          <a:p>
            <a:pPr>
              <a:defRPr sz="900">
                <a:solidFill>
                  <a:srgbClr val="94A3B8"/>
                </a:solidFill>
                <a:latin typeface="Calibri"/>
              </a:defRPr>
            </a:pPr>
            <a:r>
              <a:t>LifeFlow AI — Predictive Emergency Healthcare Digital Twin Platform  |  Capstone Project-1 Review-2</a:t>
            </a:r>
          </a:p>
        </p:txBody>
      </p:sp>
      <p:sp>
        <p:nvSpPr>
          <p:cNvPr id="8" name="TextBox 7"/>
          <p:cNvSpPr txBox="1"/>
          <p:nvPr/>
        </p:nvSpPr>
        <p:spPr>
          <a:xfrm>
            <a:off x="10515600" y="6510528"/>
            <a:ext cx="1127455" cy="256032"/>
          </a:xfrm>
          <a:prstGeom prst="rect">
            <a:avLst/>
          </a:prstGeom>
          <a:noFill/>
        </p:spPr>
        <p:txBody>
          <a:bodyPr wrap="none" lIns="0" tIns="0" rIns="0" bIns="0">
            <a:spAutoFit/>
          </a:bodyPr>
          <a:lstStyle/>
          <a:p>
            <a:pPr algn="r">
              <a:defRPr sz="950" b="1">
                <a:solidFill>
                  <a:srgbClr val="00E5FF"/>
                </a:solidFill>
                <a:latin typeface="Calibri"/>
              </a:defRPr>
            </a:pPr>
            <a:r>
              <a:t>Slide 14 of 27</a:t>
            </a:r>
          </a:p>
        </p:txBody>
      </p:sp>
      <p:sp>
        <p:nvSpPr>
          <p:cNvPr id="9" name="Rounded Rectangle 8"/>
          <p:cNvSpPr/>
          <p:nvPr/>
        </p:nvSpPr>
        <p:spPr>
          <a:xfrm>
            <a:off x="548640" y="1508760"/>
            <a:ext cx="4754880" cy="4754880"/>
          </a:xfrm>
          <a:prstGeom prst="roundRect">
            <a:avLst>
              <a:gd name="adj" fmla="val 2500"/>
            </a:avLst>
          </a:prstGeom>
          <a:solidFill>
            <a:srgbClr val="132247"/>
          </a:solidFill>
          <a:ln w="15240">
            <a:solidFill>
              <a:srgbClr val="2C4A87"/>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46304"/>
          <a:lstStyle/>
          <a:p>
            <a:pPr algn="ctr">
              <a:spcAft>
                <a:spcPts val="700"/>
              </a:spcAft>
              <a:defRPr sz="1550" b="1">
                <a:solidFill>
                  <a:srgbClr val="00E5FF"/>
                </a:solidFill>
                <a:latin typeface="Calibri"/>
              </a:defRPr>
            </a:pPr>
            <a:r>
              <a:t>How the Edge Offline Buffer Works in Code</a:t>
            </a:r>
          </a:p>
          <a:p>
            <a:pPr>
              <a:spcAft>
                <a:spcPts val="500"/>
              </a:spcAft>
            </a:pPr>
            <a:r>
              <a:rPr b="1" sz="1200">
                <a:solidFill>
                  <a:srgbClr val="FFFFFF"/>
                </a:solidFill>
                <a:latin typeface="Calibri"/>
              </a:rPr>
              <a:t>Python FastAPI Gateway: </a:t>
            </a:r>
            <a:r>
              <a:rPr sz="1150">
                <a:solidFill>
                  <a:srgbClr val="E2E8F0"/>
                </a:solidFill>
                <a:latin typeface="Calibri"/>
              </a:rPr>
              <a:t>Lightweight edge server running inside ambulance vehicle, communicating directly with medical devices and tablet.</a:t>
            </a:r>
          </a:p>
          <a:p>
            <a:pPr>
              <a:spcAft>
                <a:spcPts val="500"/>
              </a:spcAft>
            </a:pPr>
            <a:r>
              <a:rPr b="1" sz="1200">
                <a:solidFill>
                  <a:srgbClr val="FFFFFF"/>
                </a:solidFill>
                <a:latin typeface="Calibri"/>
              </a:rPr>
              <a:t>SQLite WAL Mode (buffer.py): </a:t>
            </a:r>
            <a:r>
              <a:rPr sz="1150">
                <a:solidFill>
                  <a:srgbClr val="E2E8F0"/>
                </a:solidFill>
                <a:latin typeface="Calibri"/>
              </a:rPr>
              <a:t>Local SQLite database configured with PRAGMA journal_mode=WAL and PRAGMA synchronous=NORMAL.</a:t>
            </a:r>
          </a:p>
          <a:p>
            <a:pPr>
              <a:spcAft>
                <a:spcPts val="500"/>
              </a:spcAft>
            </a:pPr>
            <a:r>
              <a:rPr b="1" sz="1200">
                <a:solidFill>
                  <a:srgbClr val="FFFFFF"/>
                </a:solidFill>
                <a:latin typeface="Calibri"/>
              </a:rPr>
              <a:t>Sub-Millisecond Write (0.024 ms): </a:t>
            </a:r>
            <a:r>
              <a:rPr sz="1150">
                <a:solidFill>
                  <a:srgbClr val="E2E8F0"/>
                </a:solidFill>
                <a:latin typeface="Calibri"/>
              </a:rPr>
              <a:t>Each telemetry frame is written to the local FIFO database queue in 0.024 ms, never stalling vital streams.</a:t>
            </a:r>
          </a:p>
          <a:p>
            <a:pPr>
              <a:spcAft>
                <a:spcPts val="500"/>
              </a:spcAft>
            </a:pPr>
            <a:r>
              <a:rPr b="1" sz="1200">
                <a:solidFill>
                  <a:srgbClr val="FFFFFF"/>
                </a:solidFill>
                <a:latin typeface="Calibri"/>
              </a:rPr>
              <a:t>100% Telemetry Survival: </a:t>
            </a:r>
            <a:r>
              <a:rPr sz="1150">
                <a:solidFill>
                  <a:srgbClr val="E2E8F0"/>
                </a:solidFill>
                <a:latin typeface="Calibri"/>
              </a:rPr>
              <a:t>Tested across 5-minute simulated network blackouts: 100% of telemetry frames survived without dropping a single reading.</a:t>
            </a:r>
          </a:p>
          <a:p>
            <a:pPr>
              <a:spcAft>
                <a:spcPts val="500"/>
              </a:spcAft>
            </a:pPr>
            <a:r>
              <a:rPr b="1" sz="1200">
                <a:solidFill>
                  <a:srgbClr val="FFFFFF"/>
                </a:solidFill>
                <a:latin typeface="Calibri"/>
              </a:rPr>
              <a:t>Automatic Catch-Up Drain: </a:t>
            </a:r>
            <a:r>
              <a:rPr sz="1150">
                <a:solidFill>
                  <a:srgbClr val="E2E8F0"/>
                </a:solidFill>
                <a:latin typeface="Calibri"/>
              </a:rPr>
              <a:t>Background daemon monitors connectivity; upon network return, it flushes 300 queued frames to cloud in &lt; 2 ms.</a:t>
            </a:r>
          </a:p>
        </p:txBody>
      </p:sp>
      <p:sp>
        <p:nvSpPr>
          <p:cNvPr id="10" name="Rectangle 9"/>
          <p:cNvSpPr/>
          <p:nvPr/>
        </p:nvSpPr>
        <p:spPr>
          <a:xfrm>
            <a:off x="5468112" y="2146096"/>
            <a:ext cx="6193231" cy="3480207"/>
          </a:xfrm>
          <a:prstGeom prst="rect">
            <a:avLst/>
          </a:prstGeom>
          <a:solidFill>
            <a:srgbClr val="1B2D5C"/>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diag7_edge_buffer.png"/>
          <p:cNvPicPr>
            <a:picLocks noChangeAspect="1"/>
          </p:cNvPicPr>
          <p:nvPr/>
        </p:nvPicPr>
        <p:blipFill>
          <a:blip r:embed="rId2"/>
          <a:stretch>
            <a:fillRect/>
          </a:stretch>
        </p:blipFill>
        <p:spPr>
          <a:xfrm>
            <a:off x="5486400" y="2164384"/>
            <a:ext cx="6156655" cy="3443631"/>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11094415" cy="1078992"/>
          </a:xfrm>
          <a:prstGeom prst="rect">
            <a:avLst/>
          </a:prstGeom>
          <a:solidFill>
            <a:srgbClr val="132247"/>
          </a:solidFill>
          <a:ln w="12700">
            <a:solidFill>
              <a:srgbClr val="2C4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402336"/>
            <a:ext cx="4389120" cy="256032"/>
          </a:xfrm>
          <a:prstGeom prst="roundRect">
            <a:avLst>
              <a:gd name="adj" fmla="val 20000"/>
            </a:avLst>
          </a:prstGeom>
          <a:solidFill>
            <a:srgbClr val="1B2D5C"/>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950" b="1">
                <a:solidFill>
                  <a:srgbClr val="00E5FF"/>
                </a:solidFill>
                <a:latin typeface="Calibri"/>
              </a:defRPr>
            </a:pPr>
            <a:r>
              <a:t>RUBRIC 7: MODULE DEEP-DIVE (DECISION ENGINE)</a:t>
            </a:r>
          </a:p>
        </p:txBody>
      </p:sp>
      <p:sp>
        <p:nvSpPr>
          <p:cNvPr id="5" name="TextBox 4"/>
          <p:cNvSpPr txBox="1"/>
          <p:nvPr/>
        </p:nvSpPr>
        <p:spPr>
          <a:xfrm>
            <a:off x="731520" y="667512"/>
            <a:ext cx="10698480" cy="384048"/>
          </a:xfrm>
          <a:prstGeom prst="rect">
            <a:avLst/>
          </a:prstGeom>
          <a:noFill/>
        </p:spPr>
        <p:txBody>
          <a:bodyPr wrap="square" lIns="0" tIns="0" rIns="0" bIns="0">
            <a:spAutoFit/>
          </a:bodyPr>
          <a:lstStyle/>
          <a:p>
            <a:pPr>
              <a:defRPr sz="1900" b="1">
                <a:solidFill>
                  <a:srgbClr val="FFFFFF"/>
                </a:solidFill>
                <a:latin typeface="Calibri"/>
              </a:defRPr>
            </a:pPr>
            <a:r>
              <a:t>Implemented Step 4: Decision Engine Logic in Code</a:t>
            </a:r>
          </a:p>
        </p:txBody>
      </p:sp>
      <p:sp>
        <p:nvSpPr>
          <p:cNvPr id="6" name="TextBox 5"/>
          <p:cNvSpPr txBox="1"/>
          <p:nvPr/>
        </p:nvSpPr>
        <p:spPr>
          <a:xfrm>
            <a:off x="731520" y="1069848"/>
            <a:ext cx="10698480" cy="274320"/>
          </a:xfrm>
          <a:prstGeom prst="rect">
            <a:avLst/>
          </a:prstGeom>
          <a:noFill/>
        </p:spPr>
        <p:txBody>
          <a:bodyPr wrap="square" lIns="0" tIns="0" rIns="0" bIns="0">
            <a:spAutoFit/>
          </a:bodyPr>
          <a:lstStyle/>
          <a:p>
            <a:pPr>
              <a:defRPr sz="1100">
                <a:solidFill>
                  <a:srgbClr val="00E5FF"/>
                </a:solidFill>
                <a:latin typeface="Calibri"/>
              </a:defRPr>
            </a:pPr>
            <a:r>
              <a:t>Clinical safety checks, 5-part scoring formula, and anti-flip-flop routing in DestinationDecisionEngine.java</a:t>
            </a:r>
          </a:p>
        </p:txBody>
      </p:sp>
      <p:sp>
        <p:nvSpPr>
          <p:cNvPr id="7" name="TextBox 6"/>
          <p:cNvSpPr txBox="1"/>
          <p:nvPr/>
        </p:nvSpPr>
        <p:spPr>
          <a:xfrm>
            <a:off x="548640" y="6510528"/>
            <a:ext cx="9601200" cy="256032"/>
          </a:xfrm>
          <a:prstGeom prst="rect">
            <a:avLst/>
          </a:prstGeom>
          <a:noFill/>
        </p:spPr>
        <p:txBody>
          <a:bodyPr wrap="none" lIns="0" tIns="0" rIns="0" bIns="0">
            <a:spAutoFit/>
          </a:bodyPr>
          <a:lstStyle/>
          <a:p>
            <a:pPr>
              <a:defRPr sz="900">
                <a:solidFill>
                  <a:srgbClr val="94A3B8"/>
                </a:solidFill>
                <a:latin typeface="Calibri"/>
              </a:defRPr>
            </a:pPr>
            <a:r>
              <a:t>LifeFlow AI — Predictive Emergency Healthcare Digital Twin Platform  |  Capstone Project-1 Review-2</a:t>
            </a:r>
          </a:p>
        </p:txBody>
      </p:sp>
      <p:sp>
        <p:nvSpPr>
          <p:cNvPr id="8" name="TextBox 7"/>
          <p:cNvSpPr txBox="1"/>
          <p:nvPr/>
        </p:nvSpPr>
        <p:spPr>
          <a:xfrm>
            <a:off x="10515600" y="6510528"/>
            <a:ext cx="1127455" cy="256032"/>
          </a:xfrm>
          <a:prstGeom prst="rect">
            <a:avLst/>
          </a:prstGeom>
          <a:noFill/>
        </p:spPr>
        <p:txBody>
          <a:bodyPr wrap="none" lIns="0" tIns="0" rIns="0" bIns="0">
            <a:spAutoFit/>
          </a:bodyPr>
          <a:lstStyle/>
          <a:p>
            <a:pPr algn="r">
              <a:defRPr sz="950" b="1">
                <a:solidFill>
                  <a:srgbClr val="00E5FF"/>
                </a:solidFill>
                <a:latin typeface="Calibri"/>
              </a:defRPr>
            </a:pPr>
            <a:r>
              <a:t>Slide 15 of 27</a:t>
            </a:r>
          </a:p>
        </p:txBody>
      </p:sp>
      <p:sp>
        <p:nvSpPr>
          <p:cNvPr id="9" name="Rounded Rectangle 8"/>
          <p:cNvSpPr/>
          <p:nvPr/>
        </p:nvSpPr>
        <p:spPr>
          <a:xfrm>
            <a:off x="548640" y="1508760"/>
            <a:ext cx="4754880" cy="4754880"/>
          </a:xfrm>
          <a:prstGeom prst="roundRect">
            <a:avLst>
              <a:gd name="adj" fmla="val 2500"/>
            </a:avLst>
          </a:prstGeom>
          <a:solidFill>
            <a:srgbClr val="132247"/>
          </a:solidFill>
          <a:ln w="15240">
            <a:solidFill>
              <a:srgbClr val="2C4A87"/>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46304"/>
          <a:lstStyle/>
          <a:p>
            <a:pPr algn="ctr">
              <a:spcAft>
                <a:spcPts val="700"/>
              </a:spcAft>
              <a:defRPr sz="1550" b="1">
                <a:solidFill>
                  <a:srgbClr val="00E5FF"/>
                </a:solidFill>
                <a:latin typeface="Calibri"/>
              </a:defRPr>
            </a:pPr>
            <a:r>
              <a:t>Inside DestinationDecisionEngine.java</a:t>
            </a:r>
          </a:p>
          <a:p>
            <a:pPr>
              <a:spcAft>
                <a:spcPts val="500"/>
              </a:spcAft>
            </a:pPr>
            <a:r>
              <a:rPr b="1" sz="1200">
                <a:solidFill>
                  <a:srgbClr val="FFFFFF"/>
                </a:solidFill>
                <a:latin typeface="Calibri"/>
              </a:rPr>
              <a:t>1. Hard Safety Firewall: </a:t>
            </a:r>
            <a:r>
              <a:rPr sz="1150">
                <a:solidFill>
                  <a:srgbClr val="E2E8F0"/>
                </a:solidFill>
                <a:latin typeface="Calibri"/>
              </a:rPr>
              <a:t>Before scoring, checks clinical feasibility. Disqualifies facilities lacking Trauma accreditation, Cath Lab, or open ICU beds.</a:t>
            </a:r>
          </a:p>
          <a:p>
            <a:pPr>
              <a:spcAft>
                <a:spcPts val="500"/>
              </a:spcAft>
            </a:pPr>
            <a:r>
              <a:rPr b="1" sz="1200">
                <a:solidFill>
                  <a:srgbClr val="FFFFFF"/>
                </a:solidFill>
                <a:latin typeface="Calibri"/>
              </a:rPr>
              <a:t>2. 5D Scoring Formula (0-100): </a:t>
            </a:r>
            <a:r>
              <a:rPr sz="1150">
                <a:solidFill>
                  <a:srgbClr val="E2E8F0"/>
                </a:solidFill>
                <a:latin typeface="Calibri"/>
              </a:rPr>
              <a:t>Clinical Fit (30%) + Bed/ICU Capacity (25%) + Traffic Travel Time (25%) + Patient Suitability (10%) + Capacity (10%).</a:t>
            </a:r>
          </a:p>
          <a:p>
            <a:pPr>
              <a:spcAft>
                <a:spcPts val="500"/>
              </a:spcAft>
            </a:pPr>
            <a:r>
              <a:rPr b="1" sz="1200">
                <a:solidFill>
                  <a:srgbClr val="FFFFFF"/>
                </a:solidFill>
                <a:latin typeface="Calibri"/>
              </a:rPr>
              <a:t>3. Vital Crash Adjustment: </a:t>
            </a:r>
            <a:r>
              <a:rPr sz="1150">
                <a:solidFill>
                  <a:srgbClr val="E2E8F0"/>
                </a:solidFill>
                <a:latin typeface="Calibri"/>
              </a:rPr>
              <a:t>If patient SpO2 drops below 90%, code boosts Clinical Fit weight (1.4x), prioritizing trauma capability over distance.</a:t>
            </a:r>
          </a:p>
          <a:p>
            <a:pPr>
              <a:spcAft>
                <a:spcPts val="500"/>
              </a:spcAft>
            </a:pPr>
            <a:r>
              <a:rPr b="1" sz="1200">
                <a:solidFill>
                  <a:srgbClr val="FFFFFF"/>
                </a:solidFill>
                <a:latin typeface="Calibri"/>
              </a:rPr>
              <a:t>4. Anti-Chattering Hysteresis: </a:t>
            </a:r>
            <a:r>
              <a:rPr sz="1150">
                <a:solidFill>
                  <a:srgbClr val="E2E8F0"/>
                </a:solidFill>
                <a:latin typeface="Calibri"/>
              </a:rPr>
              <a:t>Requires new hospital to be at least 15% better, plus a 30-second dwell lock, preventing route flip-flopping.</a:t>
            </a:r>
          </a:p>
          <a:p>
            <a:pPr>
              <a:spcAft>
                <a:spcPts val="500"/>
              </a:spcAft>
            </a:pPr>
            <a:r>
              <a:rPr b="1" sz="1200">
                <a:solidFill>
                  <a:srgbClr val="FFFFFF"/>
                </a:solidFill>
                <a:latin typeface="Calibri"/>
              </a:rPr>
              <a:t>5. 15-Min Stale Data Penalty: </a:t>
            </a:r>
            <a:r>
              <a:rPr sz="1150">
                <a:solidFill>
                  <a:srgbClr val="E2E8F0"/>
                </a:solidFill>
                <a:latin typeface="Calibri"/>
              </a:rPr>
              <a:t>Deducts score if hospital telemetry has not updated in 15 minutes, avoiding routing to unverified beds.</a:t>
            </a:r>
          </a:p>
        </p:txBody>
      </p:sp>
      <p:sp>
        <p:nvSpPr>
          <p:cNvPr id="10" name="Rectangle 9"/>
          <p:cNvSpPr/>
          <p:nvPr/>
        </p:nvSpPr>
        <p:spPr>
          <a:xfrm>
            <a:off x="5468112" y="2146096"/>
            <a:ext cx="6193231" cy="3480207"/>
          </a:xfrm>
          <a:prstGeom prst="rect">
            <a:avLst/>
          </a:prstGeom>
          <a:solidFill>
            <a:srgbClr val="1B2D5C"/>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diag4_decision_engine.png"/>
          <p:cNvPicPr>
            <a:picLocks noChangeAspect="1"/>
          </p:cNvPicPr>
          <p:nvPr/>
        </p:nvPicPr>
        <p:blipFill>
          <a:blip r:embed="rId2"/>
          <a:stretch>
            <a:fillRect/>
          </a:stretch>
        </p:blipFill>
        <p:spPr>
          <a:xfrm>
            <a:off x="5486400" y="2164384"/>
            <a:ext cx="6156655" cy="3443631"/>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11094415" cy="1078992"/>
          </a:xfrm>
          <a:prstGeom prst="rect">
            <a:avLst/>
          </a:prstGeom>
          <a:solidFill>
            <a:srgbClr val="132247"/>
          </a:solidFill>
          <a:ln w="12700">
            <a:solidFill>
              <a:srgbClr val="2C4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402336"/>
            <a:ext cx="4389120" cy="256032"/>
          </a:xfrm>
          <a:prstGeom prst="roundRect">
            <a:avLst>
              <a:gd name="adj" fmla="val 20000"/>
            </a:avLst>
          </a:prstGeom>
          <a:solidFill>
            <a:srgbClr val="1B2D5C"/>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950" b="1">
                <a:solidFill>
                  <a:srgbClr val="00E5FF"/>
                </a:solidFill>
                <a:latin typeface="Calibri"/>
              </a:defRPr>
            </a:pPr>
            <a:r>
              <a:t>RUBRIC 7: MODULE DEEP-DIVE (AI &amp; PRE-ALERTS)</a:t>
            </a:r>
          </a:p>
        </p:txBody>
      </p:sp>
      <p:sp>
        <p:nvSpPr>
          <p:cNvPr id="5" name="TextBox 4"/>
          <p:cNvSpPr txBox="1"/>
          <p:nvPr/>
        </p:nvSpPr>
        <p:spPr>
          <a:xfrm>
            <a:off x="731520" y="667512"/>
            <a:ext cx="10698480" cy="384048"/>
          </a:xfrm>
          <a:prstGeom prst="rect">
            <a:avLst/>
          </a:prstGeom>
          <a:noFill/>
        </p:spPr>
        <p:txBody>
          <a:bodyPr wrap="square" lIns="0" tIns="0" rIns="0" bIns="0">
            <a:spAutoFit/>
          </a:bodyPr>
          <a:lstStyle/>
          <a:p>
            <a:pPr>
              <a:defRPr sz="1900" b="1">
                <a:solidFill>
                  <a:srgbClr val="FFFFFF"/>
                </a:solidFill>
                <a:latin typeface="Calibri"/>
              </a:defRPr>
            </a:pPr>
            <a:r>
              <a:t>Implemented Step 5: AI Vital Forecasting &amp; SBAR Pre-Alerts</a:t>
            </a:r>
          </a:p>
        </p:txBody>
      </p:sp>
      <p:sp>
        <p:nvSpPr>
          <p:cNvPr id="6" name="TextBox 5"/>
          <p:cNvSpPr txBox="1"/>
          <p:nvPr/>
        </p:nvSpPr>
        <p:spPr>
          <a:xfrm>
            <a:off x="731520" y="1069848"/>
            <a:ext cx="10698480" cy="274320"/>
          </a:xfrm>
          <a:prstGeom prst="rect">
            <a:avLst/>
          </a:prstGeom>
          <a:noFill/>
        </p:spPr>
        <p:txBody>
          <a:bodyPr wrap="square" lIns="0" tIns="0" rIns="0" bIns="0">
            <a:spAutoFit/>
          </a:bodyPr>
          <a:lstStyle/>
          <a:p>
            <a:pPr>
              <a:defRPr sz="1100">
                <a:solidFill>
                  <a:srgbClr val="00E5FF"/>
                </a:solidFill>
                <a:latin typeface="Calibri"/>
              </a:defRPr>
            </a:pPr>
            <a:r>
              <a:t>Predicting vitals 30 minutes ahead and sending structured SBAR messages to the hospital</a:t>
            </a:r>
          </a:p>
        </p:txBody>
      </p:sp>
      <p:sp>
        <p:nvSpPr>
          <p:cNvPr id="7" name="TextBox 6"/>
          <p:cNvSpPr txBox="1"/>
          <p:nvPr/>
        </p:nvSpPr>
        <p:spPr>
          <a:xfrm>
            <a:off x="548640" y="6510528"/>
            <a:ext cx="9601200" cy="256032"/>
          </a:xfrm>
          <a:prstGeom prst="rect">
            <a:avLst/>
          </a:prstGeom>
          <a:noFill/>
        </p:spPr>
        <p:txBody>
          <a:bodyPr wrap="none" lIns="0" tIns="0" rIns="0" bIns="0">
            <a:spAutoFit/>
          </a:bodyPr>
          <a:lstStyle/>
          <a:p>
            <a:pPr>
              <a:defRPr sz="900">
                <a:solidFill>
                  <a:srgbClr val="94A3B8"/>
                </a:solidFill>
                <a:latin typeface="Calibri"/>
              </a:defRPr>
            </a:pPr>
            <a:r>
              <a:t>LifeFlow AI — Predictive Emergency Healthcare Digital Twin Platform  |  Capstone Project-1 Review-2</a:t>
            </a:r>
          </a:p>
        </p:txBody>
      </p:sp>
      <p:sp>
        <p:nvSpPr>
          <p:cNvPr id="8" name="TextBox 7"/>
          <p:cNvSpPr txBox="1"/>
          <p:nvPr/>
        </p:nvSpPr>
        <p:spPr>
          <a:xfrm>
            <a:off x="10515600" y="6510528"/>
            <a:ext cx="1127455" cy="256032"/>
          </a:xfrm>
          <a:prstGeom prst="rect">
            <a:avLst/>
          </a:prstGeom>
          <a:noFill/>
        </p:spPr>
        <p:txBody>
          <a:bodyPr wrap="none" lIns="0" tIns="0" rIns="0" bIns="0">
            <a:spAutoFit/>
          </a:bodyPr>
          <a:lstStyle/>
          <a:p>
            <a:pPr algn="r">
              <a:defRPr sz="950" b="1">
                <a:solidFill>
                  <a:srgbClr val="00E5FF"/>
                </a:solidFill>
                <a:latin typeface="Calibri"/>
              </a:defRPr>
            </a:pPr>
            <a:r>
              <a:t>Slide 16 of 27</a:t>
            </a:r>
          </a:p>
        </p:txBody>
      </p:sp>
      <p:sp>
        <p:nvSpPr>
          <p:cNvPr id="9" name="Rounded Rectangle 8"/>
          <p:cNvSpPr/>
          <p:nvPr/>
        </p:nvSpPr>
        <p:spPr>
          <a:xfrm>
            <a:off x="548640" y="1508760"/>
            <a:ext cx="4754880" cy="4754880"/>
          </a:xfrm>
          <a:prstGeom prst="roundRect">
            <a:avLst>
              <a:gd name="adj" fmla="val 2500"/>
            </a:avLst>
          </a:prstGeom>
          <a:solidFill>
            <a:srgbClr val="132247"/>
          </a:solidFill>
          <a:ln w="15240">
            <a:solidFill>
              <a:srgbClr val="2C4A87"/>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46304"/>
          <a:lstStyle/>
          <a:p>
            <a:pPr algn="ctr">
              <a:spcAft>
                <a:spcPts val="700"/>
              </a:spcAft>
              <a:defRPr sz="1550" b="1">
                <a:solidFill>
                  <a:srgbClr val="00E5FF"/>
                </a:solidFill>
                <a:latin typeface="Calibri"/>
              </a:defRPr>
            </a:pPr>
            <a:r>
              <a:t>How Forecasting &amp; Pre-Alerts Work in Code</a:t>
            </a:r>
          </a:p>
          <a:p>
            <a:pPr>
              <a:spcAft>
                <a:spcPts val="500"/>
              </a:spcAft>
            </a:pPr>
            <a:r>
              <a:rPr b="1" sz="1200">
                <a:solidFill>
                  <a:srgbClr val="FFFFFF"/>
                </a:solidFill>
                <a:latin typeface="Calibri"/>
              </a:rPr>
              <a:t>Multi-Horizon Forecasting: </a:t>
            </a:r>
            <a:r>
              <a:rPr sz="1150">
                <a:solidFill>
                  <a:srgbClr val="E2E8F0"/>
                </a:solidFill>
                <a:latin typeface="Calibri"/>
              </a:rPr>
              <a:t>Python AI service (forecasting.py) projects vitals at 5 min (en route), 15 min (trend), and 30 min (arrival state).</a:t>
            </a:r>
          </a:p>
          <a:p>
            <a:pPr>
              <a:spcAft>
                <a:spcPts val="500"/>
              </a:spcAft>
            </a:pPr>
            <a:r>
              <a:rPr b="1" sz="1200">
                <a:solidFill>
                  <a:srgbClr val="FFFFFF"/>
                </a:solidFill>
                <a:latin typeface="Calibri"/>
              </a:rPr>
              <a:t>95% Confidence Bounds: </a:t>
            </a:r>
            <a:r>
              <a:rPr sz="1150">
                <a:solidFill>
                  <a:srgbClr val="E2E8F0"/>
                </a:solidFill>
                <a:latin typeface="Calibri"/>
              </a:rPr>
              <a:t>Uses EWMA smoothing and regression to compute upper and lower bands so paramedics see worst-case trajectories.</a:t>
            </a:r>
          </a:p>
          <a:p>
            <a:pPr>
              <a:spcAft>
                <a:spcPts val="500"/>
              </a:spcAft>
            </a:pPr>
            <a:r>
              <a:rPr b="1" sz="1200">
                <a:solidFill>
                  <a:srgbClr val="FFFFFF"/>
                </a:solidFill>
                <a:latin typeface="Calibri"/>
              </a:rPr>
              <a:t>Deterioration Score (0 to 1): </a:t>
            </a:r>
            <a:r>
              <a:rPr sz="1150">
                <a:solidFill>
                  <a:srgbClr val="E2E8F0"/>
                </a:solidFill>
                <a:latin typeface="Calibri"/>
              </a:rPr>
              <a:t>Calculates overall risk score. Sudden slope jump (&gt; 0.15) triggers automatic hospital destination re-evaluation.</a:t>
            </a:r>
          </a:p>
          <a:p>
            <a:pPr>
              <a:spcAft>
                <a:spcPts val="500"/>
              </a:spcAft>
            </a:pPr>
            <a:r>
              <a:rPr b="1" sz="1200">
                <a:solidFill>
                  <a:srgbClr val="FFFFFF"/>
                </a:solidFill>
                <a:latin typeface="Calibri"/>
              </a:rPr>
              <a:t>Structured SBAR Handover: </a:t>
            </a:r>
            <a:r>
              <a:rPr sz="1150">
                <a:solidFill>
                  <a:srgbClr val="E2E8F0"/>
                </a:solidFill>
                <a:latin typeface="Calibri"/>
              </a:rPr>
              <a:t>Formats clinical pre-alert: Situation, Background, Assessment (vitals &amp; deterioration risk), and Recommendation.</a:t>
            </a:r>
          </a:p>
          <a:p>
            <a:pPr>
              <a:spcAft>
                <a:spcPts val="500"/>
              </a:spcAft>
            </a:pPr>
            <a:r>
              <a:rPr b="1" sz="1200">
                <a:solidFill>
                  <a:srgbClr val="FFFFFF"/>
                </a:solidFill>
                <a:latin typeface="Calibri"/>
              </a:rPr>
              <a:t>Paramedic Confirms First: </a:t>
            </a:r>
            <a:r>
              <a:rPr sz="1150">
                <a:solidFill>
                  <a:srgbClr val="E2E8F0"/>
                </a:solidFill>
                <a:latin typeface="Calibri"/>
              </a:rPr>
              <a:t>Pre-alert requires paramedic confirmation on cabin tablet, providing hospital ED with ~8.4 minutes advance warning.</a:t>
            </a:r>
          </a:p>
        </p:txBody>
      </p:sp>
      <p:sp>
        <p:nvSpPr>
          <p:cNvPr id="10" name="Rectangle 9"/>
          <p:cNvSpPr/>
          <p:nvPr/>
        </p:nvSpPr>
        <p:spPr>
          <a:xfrm>
            <a:off x="5468112" y="2146096"/>
            <a:ext cx="6193231" cy="3480207"/>
          </a:xfrm>
          <a:prstGeom prst="rect">
            <a:avLst/>
          </a:prstGeom>
          <a:solidFill>
            <a:srgbClr val="1B2D5C"/>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diag8_vital_forecasting.png"/>
          <p:cNvPicPr>
            <a:picLocks noChangeAspect="1"/>
          </p:cNvPicPr>
          <p:nvPr/>
        </p:nvPicPr>
        <p:blipFill>
          <a:blip r:embed="rId2"/>
          <a:stretch>
            <a:fillRect/>
          </a:stretch>
        </p:blipFill>
        <p:spPr>
          <a:xfrm>
            <a:off x="5486400" y="2164384"/>
            <a:ext cx="6156655" cy="3443631"/>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11094415" cy="1078992"/>
          </a:xfrm>
          <a:prstGeom prst="rect">
            <a:avLst/>
          </a:prstGeom>
          <a:solidFill>
            <a:srgbClr val="132247"/>
          </a:solidFill>
          <a:ln w="12700">
            <a:solidFill>
              <a:srgbClr val="2C4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402336"/>
            <a:ext cx="4389120" cy="256032"/>
          </a:xfrm>
          <a:prstGeom prst="roundRect">
            <a:avLst>
              <a:gd name="adj" fmla="val 20000"/>
            </a:avLst>
          </a:prstGeom>
          <a:solidFill>
            <a:srgbClr val="1B2D5C"/>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950" b="1">
                <a:solidFill>
                  <a:srgbClr val="00E5FF"/>
                </a:solidFill>
                <a:latin typeface="Calibri"/>
              </a:defRPr>
            </a:pPr>
            <a:r>
              <a:t>RUBRIC 7: MODULE DEEP-DIVE (HOSPITAL CONSOLE)</a:t>
            </a:r>
          </a:p>
        </p:txBody>
      </p:sp>
      <p:sp>
        <p:nvSpPr>
          <p:cNvPr id="5" name="TextBox 4"/>
          <p:cNvSpPr txBox="1"/>
          <p:nvPr/>
        </p:nvSpPr>
        <p:spPr>
          <a:xfrm>
            <a:off x="731520" y="667512"/>
            <a:ext cx="10698480" cy="384048"/>
          </a:xfrm>
          <a:prstGeom prst="rect">
            <a:avLst/>
          </a:prstGeom>
          <a:noFill/>
        </p:spPr>
        <p:txBody>
          <a:bodyPr wrap="square" lIns="0" tIns="0" rIns="0" bIns="0">
            <a:spAutoFit/>
          </a:bodyPr>
          <a:lstStyle/>
          <a:p>
            <a:pPr>
              <a:defRPr sz="1900" b="1">
                <a:solidFill>
                  <a:srgbClr val="FFFFFF"/>
                </a:solidFill>
                <a:latin typeface="Calibri"/>
              </a:defRPr>
            </a:pPr>
            <a:r>
              <a:t>Implemented Step 6: Hospital ED Console, Nurse Reservations &amp; Doctor Directives</a:t>
            </a:r>
          </a:p>
        </p:txBody>
      </p:sp>
      <p:sp>
        <p:nvSpPr>
          <p:cNvPr id="6" name="TextBox 5"/>
          <p:cNvSpPr txBox="1"/>
          <p:nvPr/>
        </p:nvSpPr>
        <p:spPr>
          <a:xfrm>
            <a:off x="731520" y="1069848"/>
            <a:ext cx="10698480" cy="274320"/>
          </a:xfrm>
          <a:prstGeom prst="rect">
            <a:avLst/>
          </a:prstGeom>
          <a:noFill/>
        </p:spPr>
        <p:txBody>
          <a:bodyPr wrap="square" lIns="0" tIns="0" rIns="0" bIns="0">
            <a:spAutoFit/>
          </a:bodyPr>
          <a:lstStyle/>
          <a:p>
            <a:pPr>
              <a:defRPr sz="1100">
                <a:solidFill>
                  <a:srgbClr val="00E5FF"/>
                </a:solidFill>
                <a:latin typeface="Calibri"/>
              </a:defRPr>
            </a:pPr>
            <a:r>
              <a:t>How nurses reserve beds and specialist doctors transmit clinical orders back to the ambulance</a:t>
            </a:r>
          </a:p>
        </p:txBody>
      </p:sp>
      <p:sp>
        <p:nvSpPr>
          <p:cNvPr id="7" name="TextBox 6"/>
          <p:cNvSpPr txBox="1"/>
          <p:nvPr/>
        </p:nvSpPr>
        <p:spPr>
          <a:xfrm>
            <a:off x="548640" y="6510528"/>
            <a:ext cx="9601200" cy="256032"/>
          </a:xfrm>
          <a:prstGeom prst="rect">
            <a:avLst/>
          </a:prstGeom>
          <a:noFill/>
        </p:spPr>
        <p:txBody>
          <a:bodyPr wrap="none" lIns="0" tIns="0" rIns="0" bIns="0">
            <a:spAutoFit/>
          </a:bodyPr>
          <a:lstStyle/>
          <a:p>
            <a:pPr>
              <a:defRPr sz="900">
                <a:solidFill>
                  <a:srgbClr val="94A3B8"/>
                </a:solidFill>
                <a:latin typeface="Calibri"/>
              </a:defRPr>
            </a:pPr>
            <a:r>
              <a:t>LifeFlow AI — Predictive Emergency Healthcare Digital Twin Platform  |  Capstone Project-1 Review-2</a:t>
            </a:r>
          </a:p>
        </p:txBody>
      </p:sp>
      <p:sp>
        <p:nvSpPr>
          <p:cNvPr id="8" name="TextBox 7"/>
          <p:cNvSpPr txBox="1"/>
          <p:nvPr/>
        </p:nvSpPr>
        <p:spPr>
          <a:xfrm>
            <a:off x="10515600" y="6510528"/>
            <a:ext cx="1127455" cy="256032"/>
          </a:xfrm>
          <a:prstGeom prst="rect">
            <a:avLst/>
          </a:prstGeom>
          <a:noFill/>
        </p:spPr>
        <p:txBody>
          <a:bodyPr wrap="none" lIns="0" tIns="0" rIns="0" bIns="0">
            <a:spAutoFit/>
          </a:bodyPr>
          <a:lstStyle/>
          <a:p>
            <a:pPr algn="r">
              <a:defRPr sz="950" b="1">
                <a:solidFill>
                  <a:srgbClr val="00E5FF"/>
                </a:solidFill>
                <a:latin typeface="Calibri"/>
              </a:defRPr>
            </a:pPr>
            <a:r>
              <a:t>Slide 17 of 27</a:t>
            </a:r>
          </a:p>
        </p:txBody>
      </p:sp>
      <p:sp>
        <p:nvSpPr>
          <p:cNvPr id="9" name="Rounded Rectangle 8"/>
          <p:cNvSpPr/>
          <p:nvPr/>
        </p:nvSpPr>
        <p:spPr>
          <a:xfrm>
            <a:off x="548640" y="1508760"/>
            <a:ext cx="5394960" cy="4754880"/>
          </a:xfrm>
          <a:prstGeom prst="roundRect">
            <a:avLst>
              <a:gd name="adj" fmla="val 2500"/>
            </a:avLst>
          </a:prstGeom>
          <a:solidFill>
            <a:srgbClr val="132247"/>
          </a:solidFill>
          <a:ln w="15240">
            <a:solidFill>
              <a:srgbClr val="2C4A87"/>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46304"/>
          <a:lstStyle/>
          <a:p>
            <a:pPr algn="ctr">
              <a:spcAft>
                <a:spcPts val="800"/>
              </a:spcAft>
              <a:defRPr sz="1550" b="1">
                <a:solidFill>
                  <a:srgbClr val="FFD700"/>
                </a:solidFill>
                <a:latin typeface="Calibri"/>
              </a:defRPr>
            </a:pPr>
            <a:r>
              <a:t>Hospital Console &amp; Nurse Reservations</a:t>
            </a:r>
          </a:p>
          <a:p>
            <a:pPr>
              <a:spcAft>
                <a:spcPts val="600"/>
              </a:spcAft>
            </a:pPr>
            <a:r>
              <a:rPr b="1" sz="1200">
                <a:solidFill>
                  <a:srgbClr val="FFFFFF"/>
                </a:solidFill>
                <a:latin typeface="Calibri"/>
              </a:rPr>
              <a:t>Emergency Siren Chime: </a:t>
            </a:r>
            <a:r>
              <a:rPr sz="1150">
                <a:solidFill>
                  <a:srgbClr val="E2E8F0"/>
                </a:solidFill>
                <a:latin typeface="Calibri"/>
              </a:rPr>
              <a:t>Plays an audible Web Audio dual-tone chime (880 Hz &amp; 1320 Hz) when an ambulance pre-alert is received.</a:t>
            </a:r>
          </a:p>
          <a:p>
            <a:pPr>
              <a:spcAft>
                <a:spcPts val="600"/>
              </a:spcAft>
            </a:pPr>
            <a:r>
              <a:rPr b="1" sz="1200">
                <a:solidFill>
                  <a:srgbClr val="FFFFFF"/>
                </a:solidFill>
                <a:latin typeface="Calibri"/>
              </a:rPr>
              <a:t>1-Click Fast Accept: </a:t>
            </a:r>
            <a:r>
              <a:rPr sz="1150">
                <a:solidFill>
                  <a:srgbClr val="E2E8F0"/>
                </a:solidFill>
                <a:latin typeface="Calibri"/>
              </a:rPr>
              <a:t>Nurse clicks 'Accept Pre-Alert', immediately notifying ambulance crew and mobilizing the trauma resuscitation team.</a:t>
            </a:r>
          </a:p>
          <a:p>
            <a:pPr>
              <a:spcAft>
                <a:spcPts val="600"/>
              </a:spcAft>
            </a:pPr>
            <a:r>
              <a:rPr b="1" sz="1200">
                <a:solidFill>
                  <a:srgbClr val="FFFFFF"/>
                </a:solidFill>
                <a:latin typeface="Calibri"/>
              </a:rPr>
              <a:t>Live Resource Reservation: </a:t>
            </a:r>
            <a:r>
              <a:rPr sz="1150">
                <a:solidFill>
                  <a:srgbClr val="E2E8F0"/>
                </a:solidFill>
                <a:latin typeface="Calibri"/>
              </a:rPr>
              <a:t>Nurse locks specific emergency assets: Trauma Bay 1, 4 Units of O-Negative Blood, and Mechanical Ventilators.</a:t>
            </a:r>
          </a:p>
          <a:p>
            <a:pPr>
              <a:spcAft>
                <a:spcPts val="600"/>
              </a:spcAft>
            </a:pPr>
            <a:r>
              <a:rPr b="1" sz="1200">
                <a:solidFill>
                  <a:srgbClr val="FFFFFF"/>
                </a:solidFill>
                <a:latin typeface="Calibri"/>
              </a:rPr>
              <a:t>Direct Medical Orders: </a:t>
            </a:r>
            <a:r>
              <a:rPr sz="1150">
                <a:solidFill>
                  <a:srgbClr val="E2E8F0"/>
                </a:solidFill>
                <a:latin typeface="Calibri"/>
              </a:rPr>
              <a:t>Doctor types orders (e.g. 'Administer 1g TXA IV over 10 min'), instantly displayed on paramedic cabin tablet.</a:t>
            </a:r>
          </a:p>
        </p:txBody>
      </p:sp>
      <p:sp>
        <p:nvSpPr>
          <p:cNvPr id="10" name="Rounded Rectangle 9"/>
          <p:cNvSpPr/>
          <p:nvPr/>
        </p:nvSpPr>
        <p:spPr>
          <a:xfrm>
            <a:off x="6126480" y="1508760"/>
            <a:ext cx="5516575" cy="4754880"/>
          </a:xfrm>
          <a:prstGeom prst="roundRect">
            <a:avLst>
              <a:gd name="adj" fmla="val 2500"/>
            </a:avLst>
          </a:prstGeom>
          <a:solidFill>
            <a:srgbClr val="132247"/>
          </a:solidFill>
          <a:ln w="15240">
            <a:solidFill>
              <a:srgbClr val="2C4A87"/>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46304"/>
          <a:lstStyle/>
          <a:p>
            <a:pPr algn="ctr">
              <a:spcAft>
                <a:spcPts val="800"/>
              </a:spcAft>
              <a:defRPr sz="1550" b="1">
                <a:solidFill>
                  <a:srgbClr val="00E5FF"/>
                </a:solidFill>
                <a:latin typeface="Calibri"/>
              </a:defRPr>
            </a:pPr>
            <a:r>
              <a:t>Role-to-Role Clinical Intercom</a:t>
            </a:r>
          </a:p>
          <a:p>
            <a:pPr>
              <a:spcAft>
                <a:spcPts val="600"/>
              </a:spcAft>
            </a:pPr>
            <a:r>
              <a:rPr b="1" sz="1200">
                <a:solidFill>
                  <a:srgbClr val="FFFFFF"/>
                </a:solidFill>
                <a:latin typeface="Calibri"/>
              </a:rPr>
              <a:t>Encrypted Role Messaging: </a:t>
            </a:r>
            <a:r>
              <a:rPr sz="1150">
                <a:solidFill>
                  <a:srgbClr val="E2E8F0"/>
                </a:solidFill>
                <a:latin typeface="Calibri"/>
              </a:rPr>
              <a:t>Allows real-time two-way messaging between Paramedics, Triage Nurses, Specialist Doctors, and Dispatchers.</a:t>
            </a:r>
          </a:p>
          <a:p>
            <a:pPr>
              <a:spcAft>
                <a:spcPts val="600"/>
              </a:spcAft>
            </a:pPr>
            <a:r>
              <a:rPr b="1" sz="1200">
                <a:solidFill>
                  <a:srgbClr val="FFFFFF"/>
                </a:solidFill>
                <a:latin typeface="Calibri"/>
              </a:rPr>
              <a:t>Single-Tap Clinical Callouts: </a:t>
            </a:r>
            <a:r>
              <a:rPr sz="1150">
                <a:solidFill>
                  <a:srgbClr val="E2E8F0"/>
                </a:solidFill>
                <a:latin typeface="Calibri"/>
              </a:rPr>
              <a:t>Paramedics tap instant alerts: 'STEMI Confirmed', 'Hemorrhage - Prep 2 Units O-Neg', 'Route Delay (+7 min)'.</a:t>
            </a:r>
          </a:p>
          <a:p>
            <a:pPr>
              <a:spcAft>
                <a:spcPts val="600"/>
              </a:spcAft>
            </a:pPr>
            <a:r>
              <a:rPr b="1" sz="1200">
                <a:solidFill>
                  <a:srgbClr val="FFFFFF"/>
                </a:solidFill>
                <a:latin typeface="Calibri"/>
              </a:rPr>
              <a:t>Priority Badging: </a:t>
            </a:r>
            <a:r>
              <a:rPr sz="1150">
                <a:solidFill>
                  <a:srgbClr val="E2E8F0"/>
                </a:solidFill>
                <a:latin typeface="Calibri"/>
              </a:rPr>
              <a:t>Messages tagged as ROUTINE, URGENT, or CRITICAL with color-coded badges and sound notifications.</a:t>
            </a:r>
          </a:p>
          <a:p>
            <a:pPr>
              <a:spcAft>
                <a:spcPts val="600"/>
              </a:spcAft>
            </a:pPr>
            <a:r>
              <a:rPr b="1" sz="1200">
                <a:solidFill>
                  <a:srgbClr val="FFFFFF"/>
                </a:solidFill>
                <a:latin typeface="Calibri"/>
              </a:rPr>
              <a:t>Permanent Legal Audit: </a:t>
            </a:r>
            <a:r>
              <a:rPr sz="1150">
                <a:solidFill>
                  <a:srgbClr val="E2E8F0"/>
                </a:solidFill>
                <a:latin typeface="Calibri"/>
              </a:rPr>
              <a:t>Every message, order, and state transition is permanently logged in MySQL audit table with timestamps.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11094415" cy="1078992"/>
          </a:xfrm>
          <a:prstGeom prst="rect">
            <a:avLst/>
          </a:prstGeom>
          <a:solidFill>
            <a:srgbClr val="132247"/>
          </a:solidFill>
          <a:ln w="12700">
            <a:solidFill>
              <a:srgbClr val="2C4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402336"/>
            <a:ext cx="4389120" cy="256032"/>
          </a:xfrm>
          <a:prstGeom prst="roundRect">
            <a:avLst>
              <a:gd name="adj" fmla="val 20000"/>
            </a:avLst>
          </a:prstGeom>
          <a:solidFill>
            <a:srgbClr val="1B2D5C"/>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950" b="1">
                <a:solidFill>
                  <a:srgbClr val="00E5FF"/>
                </a:solidFill>
                <a:latin typeface="Calibri"/>
              </a:defRPr>
            </a:pPr>
            <a:r>
              <a:t>RUBRIC 8: DATABASE, API &amp; SYSTEM INTEGRATION</a:t>
            </a:r>
          </a:p>
        </p:txBody>
      </p:sp>
      <p:sp>
        <p:nvSpPr>
          <p:cNvPr id="5" name="TextBox 4"/>
          <p:cNvSpPr txBox="1"/>
          <p:nvPr/>
        </p:nvSpPr>
        <p:spPr>
          <a:xfrm>
            <a:off x="731520" y="667512"/>
            <a:ext cx="10698480" cy="384048"/>
          </a:xfrm>
          <a:prstGeom prst="rect">
            <a:avLst/>
          </a:prstGeom>
          <a:noFill/>
        </p:spPr>
        <p:txBody>
          <a:bodyPr wrap="square" lIns="0" tIns="0" rIns="0" bIns="0">
            <a:spAutoFit/>
          </a:bodyPr>
          <a:lstStyle/>
          <a:p>
            <a:pPr>
              <a:defRPr sz="1900" b="1">
                <a:solidFill>
                  <a:srgbClr val="FFFFFF"/>
                </a:solidFill>
                <a:latin typeface="Calibri"/>
              </a:defRPr>
            </a:pPr>
            <a:r>
              <a:t>Database Architecture, REST APIs &amp; System Security</a:t>
            </a:r>
          </a:p>
        </p:txBody>
      </p:sp>
      <p:sp>
        <p:nvSpPr>
          <p:cNvPr id="6" name="TextBox 5"/>
          <p:cNvSpPr txBox="1"/>
          <p:nvPr/>
        </p:nvSpPr>
        <p:spPr>
          <a:xfrm>
            <a:off x="731520" y="1069848"/>
            <a:ext cx="10698480" cy="274320"/>
          </a:xfrm>
          <a:prstGeom prst="rect">
            <a:avLst/>
          </a:prstGeom>
          <a:noFill/>
        </p:spPr>
        <p:txBody>
          <a:bodyPr wrap="square" lIns="0" tIns="0" rIns="0" bIns="0">
            <a:spAutoFit/>
          </a:bodyPr>
          <a:lstStyle/>
          <a:p>
            <a:pPr>
              <a:defRPr sz="1100">
                <a:solidFill>
                  <a:srgbClr val="00E5FF"/>
                </a:solidFill>
                <a:latin typeface="Calibri"/>
              </a:defRPr>
            </a:pPr>
            <a:r>
              <a:t>22 MySQL tables, automated Flyway migrations, real-time WebSockets, and role-based security</a:t>
            </a:r>
          </a:p>
        </p:txBody>
      </p:sp>
      <p:sp>
        <p:nvSpPr>
          <p:cNvPr id="7" name="TextBox 6"/>
          <p:cNvSpPr txBox="1"/>
          <p:nvPr/>
        </p:nvSpPr>
        <p:spPr>
          <a:xfrm>
            <a:off x="548640" y="6510528"/>
            <a:ext cx="9601200" cy="256032"/>
          </a:xfrm>
          <a:prstGeom prst="rect">
            <a:avLst/>
          </a:prstGeom>
          <a:noFill/>
        </p:spPr>
        <p:txBody>
          <a:bodyPr wrap="none" lIns="0" tIns="0" rIns="0" bIns="0">
            <a:spAutoFit/>
          </a:bodyPr>
          <a:lstStyle/>
          <a:p>
            <a:pPr>
              <a:defRPr sz="900">
                <a:solidFill>
                  <a:srgbClr val="94A3B8"/>
                </a:solidFill>
                <a:latin typeface="Calibri"/>
              </a:defRPr>
            </a:pPr>
            <a:r>
              <a:t>LifeFlow AI — Predictive Emergency Healthcare Digital Twin Platform  |  Capstone Project-1 Review-2</a:t>
            </a:r>
          </a:p>
        </p:txBody>
      </p:sp>
      <p:sp>
        <p:nvSpPr>
          <p:cNvPr id="8" name="TextBox 7"/>
          <p:cNvSpPr txBox="1"/>
          <p:nvPr/>
        </p:nvSpPr>
        <p:spPr>
          <a:xfrm>
            <a:off x="10515600" y="6510528"/>
            <a:ext cx="1127455" cy="256032"/>
          </a:xfrm>
          <a:prstGeom prst="rect">
            <a:avLst/>
          </a:prstGeom>
          <a:noFill/>
        </p:spPr>
        <p:txBody>
          <a:bodyPr wrap="none" lIns="0" tIns="0" rIns="0" bIns="0">
            <a:spAutoFit/>
          </a:bodyPr>
          <a:lstStyle/>
          <a:p>
            <a:pPr algn="r">
              <a:defRPr sz="950" b="1">
                <a:solidFill>
                  <a:srgbClr val="00E5FF"/>
                </a:solidFill>
                <a:latin typeface="Calibri"/>
              </a:defRPr>
            </a:pPr>
            <a:r>
              <a:t>Slide 18 of 27</a:t>
            </a:r>
          </a:p>
        </p:txBody>
      </p:sp>
      <p:sp>
        <p:nvSpPr>
          <p:cNvPr id="9" name="Rounded Rectangle 8"/>
          <p:cNvSpPr/>
          <p:nvPr/>
        </p:nvSpPr>
        <p:spPr>
          <a:xfrm>
            <a:off x="548640" y="1508760"/>
            <a:ext cx="4754880" cy="4754880"/>
          </a:xfrm>
          <a:prstGeom prst="roundRect">
            <a:avLst>
              <a:gd name="adj" fmla="val 2500"/>
            </a:avLst>
          </a:prstGeom>
          <a:solidFill>
            <a:srgbClr val="132247"/>
          </a:solidFill>
          <a:ln w="15240">
            <a:solidFill>
              <a:srgbClr val="2C4A87"/>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46304"/>
          <a:lstStyle/>
          <a:p>
            <a:pPr algn="ctr">
              <a:spcAft>
                <a:spcPts val="700"/>
              </a:spcAft>
              <a:defRPr sz="1550" b="1">
                <a:solidFill>
                  <a:srgbClr val="00E5FF"/>
                </a:solidFill>
                <a:latin typeface="Calibri"/>
              </a:defRPr>
            </a:pPr>
            <a:r>
              <a:t>Database, API &amp; Security Architecture</a:t>
            </a:r>
          </a:p>
          <a:p>
            <a:pPr>
              <a:spcAft>
                <a:spcPts val="500"/>
              </a:spcAft>
            </a:pPr>
            <a:r>
              <a:rPr b="1" sz="1200">
                <a:solidFill>
                  <a:srgbClr val="FFFFFF"/>
                </a:solidFill>
                <a:latin typeface="Calibri"/>
              </a:rPr>
              <a:t>Flyway Migrations (V1-V9): </a:t>
            </a:r>
            <a:r>
              <a:rPr sz="1150">
                <a:solidFill>
                  <a:srgbClr val="E2E8F0"/>
                </a:solidFill>
                <a:latin typeface="Calibri"/>
              </a:rPr>
              <a:t>Database structure managed by automated scripts creating 22 relational tables with foreign keys and indexes.</a:t>
            </a:r>
          </a:p>
          <a:p>
            <a:pPr>
              <a:spcAft>
                <a:spcPts val="500"/>
              </a:spcAft>
            </a:pPr>
            <a:r>
              <a:rPr b="1" sz="1200">
                <a:solidFill>
                  <a:srgbClr val="FFFFFF"/>
                </a:solidFill>
                <a:latin typeface="Calibri"/>
              </a:rPr>
              <a:t>Stateless REST APIs: </a:t>
            </a:r>
            <a:r>
              <a:rPr sz="1150">
                <a:solidFill>
                  <a:srgbClr val="E2E8F0"/>
                </a:solidFill>
                <a:latin typeface="Calibri"/>
              </a:rPr>
              <a:t>Endpoints: /api/auth/login, /api/incidents/sos, /api/incidents/sms-webhook, /api/decision/case/{id}/evaluate, /api/prealerts/reserve.</a:t>
            </a:r>
          </a:p>
          <a:p>
            <a:pPr>
              <a:spcAft>
                <a:spcPts val="500"/>
              </a:spcAft>
            </a:pPr>
            <a:r>
              <a:rPr b="1" sz="1200">
                <a:solidFill>
                  <a:srgbClr val="FFFFFF"/>
                </a:solidFill>
                <a:latin typeface="Calibri"/>
              </a:rPr>
              <a:t>WebSocket STOMP Topics: </a:t>
            </a:r>
            <a:r>
              <a:rPr sz="1150">
                <a:solidFill>
                  <a:srgbClr val="E2E8F0"/>
                </a:solidFill>
                <a:latin typeface="Calibri"/>
              </a:rPr>
              <a:t>Ambulance vitals and GPS stream to browser screens every second over /topic/telemetry, /topic/incidents, /topic/alerts.</a:t>
            </a:r>
          </a:p>
          <a:p>
            <a:pPr>
              <a:spcAft>
                <a:spcPts val="500"/>
              </a:spcAft>
            </a:pPr>
            <a:r>
              <a:rPr b="1" sz="1200">
                <a:solidFill>
                  <a:srgbClr val="FFFFFF"/>
                </a:solidFill>
                <a:latin typeface="Calibri"/>
              </a:rPr>
              <a:t>Role-Based JWT Security: </a:t>
            </a:r>
            <a:r>
              <a:rPr sz="1150">
                <a:solidFill>
                  <a:srgbClr val="E2E8F0"/>
                </a:solidFill>
                <a:latin typeface="Calibri"/>
              </a:rPr>
              <a:t>Spring Security protects all endpoints across 5 roles: PARAMEDIC, HOSPITAL_OPERATOR, CLINICIAN, CONTROL_ROOM, ADMIN.</a:t>
            </a:r>
          </a:p>
          <a:p>
            <a:pPr>
              <a:spcAft>
                <a:spcPts val="500"/>
              </a:spcAft>
            </a:pPr>
            <a:r>
              <a:rPr b="1" sz="1200">
                <a:solidFill>
                  <a:srgbClr val="FFFFFF"/>
                </a:solidFill>
                <a:latin typeface="Calibri"/>
              </a:rPr>
              <a:t>Immutable Audit Trail: </a:t>
            </a:r>
            <a:r>
              <a:rPr sz="1150">
                <a:solidFill>
                  <a:srgbClr val="E2E8F0"/>
                </a:solidFill>
                <a:latin typeface="Calibri"/>
              </a:rPr>
              <a:t>Every recommendation, bed reservation, and doctor order is saved to audit_events table with microsecond timestamps.</a:t>
            </a:r>
          </a:p>
        </p:txBody>
      </p:sp>
      <p:sp>
        <p:nvSpPr>
          <p:cNvPr id="10" name="Rectangle 9"/>
          <p:cNvSpPr/>
          <p:nvPr/>
        </p:nvSpPr>
        <p:spPr>
          <a:xfrm>
            <a:off x="5468112" y="2146096"/>
            <a:ext cx="6193231" cy="3480207"/>
          </a:xfrm>
          <a:prstGeom prst="rect">
            <a:avLst/>
          </a:prstGeom>
          <a:solidFill>
            <a:srgbClr val="1B2D5C"/>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diag9_database_integration.png"/>
          <p:cNvPicPr>
            <a:picLocks noChangeAspect="1"/>
          </p:cNvPicPr>
          <p:nvPr/>
        </p:nvPicPr>
        <p:blipFill>
          <a:blip r:embed="rId2"/>
          <a:stretch>
            <a:fillRect/>
          </a:stretch>
        </p:blipFill>
        <p:spPr>
          <a:xfrm>
            <a:off x="5486400" y="2164384"/>
            <a:ext cx="6156655" cy="3443631"/>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11094415" cy="1078992"/>
          </a:xfrm>
          <a:prstGeom prst="rect">
            <a:avLst/>
          </a:prstGeom>
          <a:solidFill>
            <a:srgbClr val="132247"/>
          </a:solidFill>
          <a:ln w="12700">
            <a:solidFill>
              <a:srgbClr val="2C4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402336"/>
            <a:ext cx="4389120" cy="256032"/>
          </a:xfrm>
          <a:prstGeom prst="roundRect">
            <a:avLst>
              <a:gd name="adj" fmla="val 20000"/>
            </a:avLst>
          </a:prstGeom>
          <a:solidFill>
            <a:srgbClr val="1B2D5C"/>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950" b="1">
                <a:solidFill>
                  <a:srgbClr val="00E5FF"/>
                </a:solidFill>
                <a:latin typeface="Calibri"/>
              </a:defRPr>
            </a:pPr>
            <a:r>
              <a:t>RUBRIC 9: TESTING STRATEGY &amp; TEST CASES</a:t>
            </a:r>
          </a:p>
        </p:txBody>
      </p:sp>
      <p:sp>
        <p:nvSpPr>
          <p:cNvPr id="5" name="TextBox 4"/>
          <p:cNvSpPr txBox="1"/>
          <p:nvPr/>
        </p:nvSpPr>
        <p:spPr>
          <a:xfrm>
            <a:off x="731520" y="667512"/>
            <a:ext cx="10698480" cy="384048"/>
          </a:xfrm>
          <a:prstGeom prst="rect">
            <a:avLst/>
          </a:prstGeom>
          <a:noFill/>
        </p:spPr>
        <p:txBody>
          <a:bodyPr wrap="square" lIns="0" tIns="0" rIns="0" bIns="0">
            <a:spAutoFit/>
          </a:bodyPr>
          <a:lstStyle/>
          <a:p>
            <a:pPr>
              <a:defRPr sz="1900" b="1">
                <a:solidFill>
                  <a:srgbClr val="FFFFFF"/>
                </a:solidFill>
                <a:latin typeface="Calibri"/>
              </a:defRPr>
            </a:pPr>
            <a:r>
              <a:t>Testing Strategy: How We Verified Our Code</a:t>
            </a:r>
          </a:p>
        </p:txBody>
      </p:sp>
      <p:sp>
        <p:nvSpPr>
          <p:cNvPr id="6" name="TextBox 5"/>
          <p:cNvSpPr txBox="1"/>
          <p:nvPr/>
        </p:nvSpPr>
        <p:spPr>
          <a:xfrm>
            <a:off x="731520" y="1069848"/>
            <a:ext cx="10698480" cy="274320"/>
          </a:xfrm>
          <a:prstGeom prst="rect">
            <a:avLst/>
          </a:prstGeom>
          <a:noFill/>
        </p:spPr>
        <p:txBody>
          <a:bodyPr wrap="square" lIns="0" tIns="0" rIns="0" bIns="0">
            <a:spAutoFit/>
          </a:bodyPr>
          <a:lstStyle/>
          <a:p>
            <a:pPr>
              <a:defRPr sz="1100">
                <a:solidFill>
                  <a:srgbClr val="00E5FF"/>
                </a:solidFill>
                <a:latin typeface="Calibri"/>
              </a:defRPr>
            </a:pPr>
            <a:r>
              <a:t>4-tier verification strategy covering unit tests, end-to-end integration, blackout tests, and UI build</a:t>
            </a:r>
          </a:p>
        </p:txBody>
      </p:sp>
      <p:sp>
        <p:nvSpPr>
          <p:cNvPr id="7" name="TextBox 6"/>
          <p:cNvSpPr txBox="1"/>
          <p:nvPr/>
        </p:nvSpPr>
        <p:spPr>
          <a:xfrm>
            <a:off x="548640" y="6510528"/>
            <a:ext cx="9601200" cy="256032"/>
          </a:xfrm>
          <a:prstGeom prst="rect">
            <a:avLst/>
          </a:prstGeom>
          <a:noFill/>
        </p:spPr>
        <p:txBody>
          <a:bodyPr wrap="none" lIns="0" tIns="0" rIns="0" bIns="0">
            <a:spAutoFit/>
          </a:bodyPr>
          <a:lstStyle/>
          <a:p>
            <a:pPr>
              <a:defRPr sz="900">
                <a:solidFill>
                  <a:srgbClr val="94A3B8"/>
                </a:solidFill>
                <a:latin typeface="Calibri"/>
              </a:defRPr>
            </a:pPr>
            <a:r>
              <a:t>LifeFlow AI — Predictive Emergency Healthcare Digital Twin Platform  |  Capstone Project-1 Review-2</a:t>
            </a:r>
          </a:p>
        </p:txBody>
      </p:sp>
      <p:sp>
        <p:nvSpPr>
          <p:cNvPr id="8" name="TextBox 7"/>
          <p:cNvSpPr txBox="1"/>
          <p:nvPr/>
        </p:nvSpPr>
        <p:spPr>
          <a:xfrm>
            <a:off x="10515600" y="6510528"/>
            <a:ext cx="1127455" cy="256032"/>
          </a:xfrm>
          <a:prstGeom prst="rect">
            <a:avLst/>
          </a:prstGeom>
          <a:noFill/>
        </p:spPr>
        <p:txBody>
          <a:bodyPr wrap="none" lIns="0" tIns="0" rIns="0" bIns="0">
            <a:spAutoFit/>
          </a:bodyPr>
          <a:lstStyle/>
          <a:p>
            <a:pPr algn="r">
              <a:defRPr sz="950" b="1">
                <a:solidFill>
                  <a:srgbClr val="00E5FF"/>
                </a:solidFill>
                <a:latin typeface="Calibri"/>
              </a:defRPr>
            </a:pPr>
            <a:r>
              <a:t>Slide 19 of 27</a:t>
            </a:r>
          </a:p>
        </p:txBody>
      </p:sp>
      <p:sp>
        <p:nvSpPr>
          <p:cNvPr id="9" name="Rounded Rectangle 8"/>
          <p:cNvSpPr/>
          <p:nvPr/>
        </p:nvSpPr>
        <p:spPr>
          <a:xfrm>
            <a:off x="548640" y="1508760"/>
            <a:ext cx="5394960" cy="4754880"/>
          </a:xfrm>
          <a:prstGeom prst="roundRect">
            <a:avLst>
              <a:gd name="adj" fmla="val 2500"/>
            </a:avLst>
          </a:prstGeom>
          <a:solidFill>
            <a:srgbClr val="132247"/>
          </a:solidFill>
          <a:ln w="15240">
            <a:solidFill>
              <a:srgbClr val="2C4A87"/>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46304"/>
          <a:lstStyle/>
          <a:p>
            <a:pPr algn="ctr">
              <a:spcAft>
                <a:spcPts val="800"/>
              </a:spcAft>
              <a:defRPr sz="1550" b="1">
                <a:solidFill>
                  <a:srgbClr val="00E5FF"/>
                </a:solidFill>
                <a:latin typeface="Calibri"/>
              </a:defRPr>
            </a:pPr>
            <a:r>
              <a:t>Tier 1 &amp; Tier 2: Unit &amp; Flow Testing</a:t>
            </a:r>
          </a:p>
          <a:p>
            <a:pPr>
              <a:spcAft>
                <a:spcPts val="600"/>
              </a:spcAft>
            </a:pPr>
            <a:r>
              <a:rPr b="1" sz="1200">
                <a:solidFill>
                  <a:srgbClr val="FFFFFF"/>
                </a:solidFill>
                <a:latin typeface="Calibri"/>
              </a:rPr>
              <a:t>AI Service (Pytest): </a:t>
            </a:r>
            <a:r>
              <a:rPr sz="1150">
                <a:solidFill>
                  <a:srgbClr val="E2E8F0"/>
                </a:solidFill>
                <a:latin typeface="Calibri"/>
              </a:rPr>
              <a:t>test_ai_service.py verifies vital forecasting, EWMA slopes, 95% confidence intervals, and OpenCV image filters.</a:t>
            </a:r>
          </a:p>
          <a:p>
            <a:pPr>
              <a:spcAft>
                <a:spcPts val="600"/>
              </a:spcAft>
            </a:pPr>
            <a:r>
              <a:rPr b="1" sz="1200">
                <a:solidFill>
                  <a:srgbClr val="FFFFFF"/>
                </a:solidFill>
                <a:latin typeface="Calibri"/>
              </a:rPr>
              <a:t>Edge Gateway (Pytest): </a:t>
            </a:r>
            <a:r>
              <a:rPr sz="1150">
                <a:solidFill>
                  <a:srgbClr val="E2E8F0"/>
                </a:solidFill>
                <a:latin typeface="Calibri"/>
              </a:rPr>
              <a:t>test_buffer.py tests SQLite table creation, FIFO queue ordering, unsynced queries, and batch mark-synced updates.</a:t>
            </a:r>
          </a:p>
          <a:p>
            <a:pPr>
              <a:spcAft>
                <a:spcPts val="600"/>
              </a:spcAft>
            </a:pPr>
            <a:r>
              <a:rPr b="1" sz="1200">
                <a:solidFill>
                  <a:srgbClr val="FFFFFF"/>
                </a:solidFill>
                <a:latin typeface="Calibri"/>
              </a:rPr>
              <a:t>Backend (JUnit 5): </a:t>
            </a:r>
            <a:r>
              <a:rPr sz="1150">
                <a:solidFill>
                  <a:srgbClr val="E2E8F0"/>
                </a:solidFill>
                <a:latin typeface="Calibri"/>
              </a:rPr>
              <a:t>Tests for JwtService, DestinationDecisionEngine scoring, DeviceAdapter unit conversion, and Haversine distance.</a:t>
            </a:r>
          </a:p>
          <a:p>
            <a:pPr>
              <a:spcAft>
                <a:spcPts val="600"/>
              </a:spcAft>
            </a:pPr>
            <a:r>
              <a:rPr b="1" sz="1200">
                <a:solidFill>
                  <a:srgbClr val="FFFFFF"/>
                </a:solidFill>
                <a:latin typeface="Calibri"/>
              </a:rPr>
              <a:t>Full Flow (test_patient_flow.py): </a:t>
            </a:r>
            <a:r>
              <a:rPr sz="1150">
                <a:solidFill>
                  <a:srgbClr val="E2E8F0"/>
                </a:solidFill>
                <a:latin typeface="Calibri"/>
              </a:rPr>
              <a:t>Automated Python integration test verifies end-to-end flow: Server Health -&gt; SOS Incident -&gt; Twin Vitals -&gt; 5D Evaluation -&gt; SBAR Alert -&gt; Doctor Orders.</a:t>
            </a:r>
          </a:p>
        </p:txBody>
      </p:sp>
      <p:sp>
        <p:nvSpPr>
          <p:cNvPr id="10" name="Rounded Rectangle 9"/>
          <p:cNvSpPr/>
          <p:nvPr/>
        </p:nvSpPr>
        <p:spPr>
          <a:xfrm>
            <a:off x="6126480" y="1508760"/>
            <a:ext cx="5516575" cy="4754880"/>
          </a:xfrm>
          <a:prstGeom prst="roundRect">
            <a:avLst>
              <a:gd name="adj" fmla="val 2500"/>
            </a:avLst>
          </a:prstGeom>
          <a:solidFill>
            <a:srgbClr val="132247"/>
          </a:solidFill>
          <a:ln w="15240">
            <a:solidFill>
              <a:srgbClr val="2C4A87"/>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46304"/>
          <a:lstStyle/>
          <a:p>
            <a:pPr algn="ctr">
              <a:spcAft>
                <a:spcPts val="800"/>
              </a:spcAft>
              <a:defRPr sz="1550" b="1">
                <a:solidFill>
                  <a:srgbClr val="00E676"/>
                </a:solidFill>
                <a:latin typeface="Calibri"/>
              </a:defRPr>
            </a:pPr>
            <a:r>
              <a:t>Tier 3 &amp; Tier 4: Blackout &amp; UI Testing</a:t>
            </a:r>
          </a:p>
          <a:p>
            <a:pPr>
              <a:spcAft>
                <a:spcPts val="600"/>
              </a:spcAft>
            </a:pPr>
            <a:r>
              <a:rPr b="1" sz="1200">
                <a:solidFill>
                  <a:srgbClr val="FFFFFF"/>
                </a:solidFill>
                <a:latin typeface="Calibri"/>
              </a:rPr>
              <a:t>5-Minute Blackout Test: </a:t>
            </a:r>
            <a:r>
              <a:rPr sz="1150">
                <a:solidFill>
                  <a:srgbClr val="E2E8F0"/>
                </a:solidFill>
                <a:latin typeface="Calibri"/>
              </a:rPr>
              <a:t>Simulated complete cellular outage during ambulance transit; 100% of telemetry frames preserved in SQLite buffer without dropping one reading.</a:t>
            </a:r>
          </a:p>
          <a:p>
            <a:pPr>
              <a:spcAft>
                <a:spcPts val="600"/>
              </a:spcAft>
            </a:pPr>
            <a:r>
              <a:rPr b="1" sz="1200">
                <a:solidFill>
                  <a:srgbClr val="FFFFFF"/>
                </a:solidFill>
                <a:latin typeface="Calibri"/>
              </a:rPr>
              <a:t>Reconnection Catch-Up Test: </a:t>
            </a:r>
            <a:r>
              <a:rPr sz="1150">
                <a:solidFill>
                  <a:srgbClr val="E2E8F0"/>
                </a:solidFill>
                <a:latin typeface="Calibri"/>
              </a:rPr>
              <a:t>300 queued frames flushed to cloud broker in under 1.8 milliseconds upon simulated 4G reconnect.</a:t>
            </a:r>
          </a:p>
          <a:p>
            <a:pPr>
              <a:spcAft>
                <a:spcPts val="600"/>
              </a:spcAft>
            </a:pPr>
            <a:r>
              <a:rPr b="1" sz="1200">
                <a:solidFill>
                  <a:srgbClr val="FFFFFF"/>
                </a:solidFill>
                <a:latin typeface="Calibri"/>
              </a:rPr>
              <a:t>TypeScript Build Verification: </a:t>
            </a:r>
            <a:r>
              <a:rPr sz="1150">
                <a:solidFill>
                  <a:srgbClr val="E2E8F0"/>
                </a:solidFill>
                <a:latin typeface="Calibri"/>
              </a:rPr>
              <a:t>Frontend passes strict Vite production build (npm run build) with zero TypeScript errors and optimized bundle size.</a:t>
            </a:r>
          </a:p>
          <a:p>
            <a:pPr>
              <a:spcAft>
                <a:spcPts val="600"/>
              </a:spcAft>
            </a:pPr>
            <a:r>
              <a:rPr b="1" sz="1200">
                <a:solidFill>
                  <a:srgbClr val="FFFFFF"/>
                </a:solidFill>
                <a:latin typeface="Calibri"/>
              </a:rPr>
              <a:t>Multi-Role Permission Test: </a:t>
            </a:r>
            <a:r>
              <a:rPr sz="1150">
                <a:solidFill>
                  <a:srgbClr val="E2E8F0"/>
                </a:solidFill>
                <a:latin typeface="Calibri"/>
              </a:rPr>
              <a:t>Verified security enforcement: paramedics cannot alter hospital beds, and unauthorized users cannot access clinical topics.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11094415" cy="1078992"/>
          </a:xfrm>
          <a:prstGeom prst="rect">
            <a:avLst/>
          </a:prstGeom>
          <a:solidFill>
            <a:srgbClr val="132247"/>
          </a:solidFill>
          <a:ln w="12700">
            <a:solidFill>
              <a:srgbClr val="2C4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402336"/>
            <a:ext cx="4389120" cy="256032"/>
          </a:xfrm>
          <a:prstGeom prst="roundRect">
            <a:avLst>
              <a:gd name="adj" fmla="val 20000"/>
            </a:avLst>
          </a:prstGeom>
          <a:solidFill>
            <a:srgbClr val="1B2D5C"/>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950" b="1">
                <a:solidFill>
                  <a:srgbClr val="00E5FF"/>
                </a:solidFill>
                <a:latin typeface="Calibri"/>
              </a:defRPr>
            </a:pPr>
            <a:r>
              <a:t>RUBRIC 9: COMPREHENSIVE TEST CASE MATRIX</a:t>
            </a:r>
          </a:p>
        </p:txBody>
      </p:sp>
      <p:sp>
        <p:nvSpPr>
          <p:cNvPr id="5" name="TextBox 4"/>
          <p:cNvSpPr txBox="1"/>
          <p:nvPr/>
        </p:nvSpPr>
        <p:spPr>
          <a:xfrm>
            <a:off x="731520" y="667512"/>
            <a:ext cx="10698480" cy="384048"/>
          </a:xfrm>
          <a:prstGeom prst="rect">
            <a:avLst/>
          </a:prstGeom>
          <a:noFill/>
        </p:spPr>
        <p:txBody>
          <a:bodyPr wrap="square" lIns="0" tIns="0" rIns="0" bIns="0">
            <a:spAutoFit/>
          </a:bodyPr>
          <a:lstStyle/>
          <a:p>
            <a:pPr>
              <a:defRPr sz="1900" b="1">
                <a:solidFill>
                  <a:srgbClr val="FFFFFF"/>
                </a:solidFill>
                <a:latin typeface="Calibri"/>
              </a:defRPr>
            </a:pPr>
            <a:r>
              <a:t>Test Cases &amp; Verification Results: 100% Passing</a:t>
            </a:r>
          </a:p>
        </p:txBody>
      </p:sp>
      <p:sp>
        <p:nvSpPr>
          <p:cNvPr id="6" name="TextBox 5"/>
          <p:cNvSpPr txBox="1"/>
          <p:nvPr/>
        </p:nvSpPr>
        <p:spPr>
          <a:xfrm>
            <a:off x="731520" y="1069848"/>
            <a:ext cx="10698480" cy="274320"/>
          </a:xfrm>
          <a:prstGeom prst="rect">
            <a:avLst/>
          </a:prstGeom>
          <a:noFill/>
        </p:spPr>
        <p:txBody>
          <a:bodyPr wrap="square" lIns="0" tIns="0" rIns="0" bIns="0">
            <a:spAutoFit/>
          </a:bodyPr>
          <a:lstStyle/>
          <a:p>
            <a:pPr>
              <a:defRPr sz="1100">
                <a:solidFill>
                  <a:srgbClr val="00E5FF"/>
                </a:solidFill>
                <a:latin typeface="Calibri"/>
              </a:defRPr>
            </a:pPr>
            <a:r>
              <a:t>Summary of key test scenarios executed across the pre-hospital platform</a:t>
            </a:r>
          </a:p>
        </p:txBody>
      </p:sp>
      <p:sp>
        <p:nvSpPr>
          <p:cNvPr id="7" name="TextBox 6"/>
          <p:cNvSpPr txBox="1"/>
          <p:nvPr/>
        </p:nvSpPr>
        <p:spPr>
          <a:xfrm>
            <a:off x="548640" y="6510528"/>
            <a:ext cx="9601200" cy="256032"/>
          </a:xfrm>
          <a:prstGeom prst="rect">
            <a:avLst/>
          </a:prstGeom>
          <a:noFill/>
        </p:spPr>
        <p:txBody>
          <a:bodyPr wrap="none" lIns="0" tIns="0" rIns="0" bIns="0">
            <a:spAutoFit/>
          </a:bodyPr>
          <a:lstStyle/>
          <a:p>
            <a:pPr>
              <a:defRPr sz="900">
                <a:solidFill>
                  <a:srgbClr val="94A3B8"/>
                </a:solidFill>
                <a:latin typeface="Calibri"/>
              </a:defRPr>
            </a:pPr>
            <a:r>
              <a:t>LifeFlow AI — Predictive Emergency Healthcare Digital Twin Platform  |  Capstone Project-1 Review-2</a:t>
            </a:r>
          </a:p>
        </p:txBody>
      </p:sp>
      <p:sp>
        <p:nvSpPr>
          <p:cNvPr id="8" name="TextBox 7"/>
          <p:cNvSpPr txBox="1"/>
          <p:nvPr/>
        </p:nvSpPr>
        <p:spPr>
          <a:xfrm>
            <a:off x="10515600" y="6510528"/>
            <a:ext cx="1127455" cy="256032"/>
          </a:xfrm>
          <a:prstGeom prst="rect">
            <a:avLst/>
          </a:prstGeom>
          <a:noFill/>
        </p:spPr>
        <p:txBody>
          <a:bodyPr wrap="none" lIns="0" tIns="0" rIns="0" bIns="0">
            <a:spAutoFit/>
          </a:bodyPr>
          <a:lstStyle/>
          <a:p>
            <a:pPr algn="r">
              <a:defRPr sz="950" b="1">
                <a:solidFill>
                  <a:srgbClr val="00E5FF"/>
                </a:solidFill>
                <a:latin typeface="Calibri"/>
              </a:defRPr>
            </a:pPr>
            <a:r>
              <a:t>Slide 20 of 27</a:t>
            </a:r>
          </a:p>
        </p:txBody>
      </p:sp>
      <p:graphicFrame>
        <p:nvGraphicFramePr>
          <p:cNvPr id="9" name="Table 8"/>
          <p:cNvGraphicFramePr>
            <a:graphicFrameLocks noGrp="1"/>
          </p:cNvGraphicFramePr>
          <p:nvPr/>
        </p:nvGraphicFramePr>
        <p:xfrm>
          <a:off x="548640" y="1508760"/>
          <a:ext cx="11094415" cy="4754880"/>
        </p:xfrm>
        <a:graphic>
          <a:graphicData uri="http://schemas.openxmlformats.org/drawingml/2006/table">
            <a:tbl>
              <a:tblPr firstRow="1" bandRow="1">
                <a:tableStyleId>{5C22544A-7EE6-4342-B048-85BDC9FD1C3A}</a:tableStyleId>
              </a:tblPr>
              <a:tblGrid>
                <a:gridCol w="1005840"/>
                <a:gridCol w="2926080"/>
                <a:gridCol w="3474720"/>
                <a:gridCol w="2011680"/>
                <a:gridCol w="1676095"/>
              </a:tblGrid>
              <a:tr h="528320">
                <a:tc>
                  <a:txBody>
                    <a:bodyPr/>
                    <a:lstStyle/>
                    <a:p>
                      <a:pPr algn="ctr">
                        <a:defRPr sz="1100" b="1">
                          <a:solidFill>
                            <a:srgbClr val="00E5FF"/>
                          </a:solidFill>
                          <a:latin typeface="Calibri"/>
                        </a:defRPr>
                      </a:pPr>
                      <a:r>
                        <a:t>Test ID</a:t>
                      </a:r>
                    </a:p>
                  </a:txBody>
                  <a:tcPr marT="36576" marB="36576" marL="73152" marR="73152">
                    <a:solidFill>
                      <a:srgbClr val="1B2D5C"/>
                    </a:solidFill>
                  </a:tcPr>
                </a:tc>
                <a:tc>
                  <a:txBody>
                    <a:bodyPr/>
                    <a:lstStyle/>
                    <a:p>
                      <a:pPr algn="ctr">
                        <a:defRPr sz="1100" b="1">
                          <a:solidFill>
                            <a:srgbClr val="00E5FF"/>
                          </a:solidFill>
                          <a:latin typeface="Calibri"/>
                        </a:defRPr>
                      </a:pPr>
                      <a:r>
                        <a:t>Test Scenario</a:t>
                      </a:r>
                    </a:p>
                  </a:txBody>
                  <a:tcPr marT="36576" marB="36576" marL="73152" marR="73152">
                    <a:solidFill>
                      <a:srgbClr val="1B2D5C"/>
                    </a:solidFill>
                  </a:tcPr>
                </a:tc>
                <a:tc>
                  <a:txBody>
                    <a:bodyPr/>
                    <a:lstStyle/>
                    <a:p>
                      <a:pPr algn="ctr">
                        <a:defRPr sz="1100" b="1">
                          <a:solidFill>
                            <a:srgbClr val="00E5FF"/>
                          </a:solidFill>
                          <a:latin typeface="Calibri"/>
                        </a:defRPr>
                      </a:pPr>
                      <a:r>
                        <a:t>Expected Outcome</a:t>
                      </a:r>
                    </a:p>
                  </a:txBody>
                  <a:tcPr marT="36576" marB="36576" marL="73152" marR="73152">
                    <a:solidFill>
                      <a:srgbClr val="1B2D5C"/>
                    </a:solidFill>
                  </a:tcPr>
                </a:tc>
                <a:tc>
                  <a:txBody>
                    <a:bodyPr/>
                    <a:lstStyle/>
                    <a:p>
                      <a:pPr algn="ctr">
                        <a:defRPr sz="1100" b="1">
                          <a:solidFill>
                            <a:srgbClr val="00E5FF"/>
                          </a:solidFill>
                          <a:latin typeface="Calibri"/>
                        </a:defRPr>
                      </a:pPr>
                      <a:r>
                        <a:t>Actual Measured Result</a:t>
                      </a:r>
                    </a:p>
                  </a:txBody>
                  <a:tcPr marT="36576" marB="36576" marL="73152" marR="73152">
                    <a:solidFill>
                      <a:srgbClr val="1B2D5C"/>
                    </a:solidFill>
                  </a:tcPr>
                </a:tc>
                <a:tc>
                  <a:txBody>
                    <a:bodyPr/>
                    <a:lstStyle/>
                    <a:p>
                      <a:pPr algn="ctr">
                        <a:defRPr sz="1100" b="1">
                          <a:solidFill>
                            <a:srgbClr val="00E5FF"/>
                          </a:solidFill>
                          <a:latin typeface="Calibri"/>
                        </a:defRPr>
                      </a:pPr>
                      <a:r>
                        <a:t>Status</a:t>
                      </a:r>
                    </a:p>
                  </a:txBody>
                  <a:tcPr marT="36576" marB="36576" marL="73152" marR="73152">
                    <a:solidFill>
                      <a:srgbClr val="1B2D5C"/>
                    </a:solidFill>
                  </a:tcPr>
                </a:tc>
              </a:tr>
              <a:tr h="528320">
                <a:tc>
                  <a:txBody>
                    <a:bodyPr/>
                    <a:lstStyle/>
                    <a:p>
                      <a:pPr algn="ctr">
                        <a:defRPr sz="1000" b="1">
                          <a:solidFill>
                            <a:srgbClr val="00E5FF"/>
                          </a:solidFill>
                          <a:latin typeface="Calibri"/>
                        </a:defRPr>
                      </a:pPr>
                      <a:r>
                        <a:t>TC-01</a:t>
                      </a:r>
                    </a:p>
                  </a:txBody>
                  <a:tcPr marT="36576" marB="36576" marL="73152" marR="73152">
                    <a:solidFill>
                      <a:srgbClr val="132247"/>
                    </a:solidFill>
                  </a:tcPr>
                </a:tc>
                <a:tc>
                  <a:txBody>
                    <a:bodyPr/>
                    <a:lstStyle/>
                    <a:p>
                      <a:pPr algn="l">
                        <a:defRPr sz="1000" b="0">
                          <a:solidFill>
                            <a:srgbClr val="E2E8F0"/>
                          </a:solidFill>
                          <a:latin typeface="Calibri"/>
                        </a:defRPr>
                      </a:pPr>
                      <a:r>
                        <a:t>Citizen SOS via Web GPS</a:t>
                      </a:r>
                    </a:p>
                  </a:txBody>
                  <a:tcPr marT="36576" marB="36576" marL="73152" marR="73152">
                    <a:solidFill>
                      <a:srgbClr val="132247"/>
                    </a:solidFill>
                  </a:tcPr>
                </a:tc>
                <a:tc>
                  <a:txBody>
                    <a:bodyPr/>
                    <a:lstStyle/>
                    <a:p>
                      <a:pPr algn="l">
                        <a:defRPr sz="1000" b="0">
                          <a:solidFill>
                            <a:srgbClr val="E2E8F0"/>
                          </a:solidFill>
                          <a:latin typeface="Calibri"/>
                        </a:defRPr>
                      </a:pPr>
                      <a:r>
                        <a:t>Creates incident, dispatches AMB-01, starts 4-step stepper</a:t>
                      </a:r>
                    </a:p>
                  </a:txBody>
                  <a:tcPr marT="36576" marB="36576" marL="73152" marR="73152">
                    <a:solidFill>
                      <a:srgbClr val="132247"/>
                    </a:solidFill>
                  </a:tcPr>
                </a:tc>
                <a:tc>
                  <a:txBody>
                    <a:bodyPr/>
                    <a:lstStyle/>
                    <a:p>
                      <a:pPr algn="l">
                        <a:defRPr sz="1000" b="0">
                          <a:solidFill>
                            <a:srgbClr val="E2E8F0"/>
                          </a:solidFill>
                          <a:latin typeface="Calibri"/>
                        </a:defRPr>
                      </a:pPr>
                      <a:r>
                        <a:t>Incident ID generated; AMB-01 assigned in 12 ms</a:t>
                      </a:r>
                    </a:p>
                  </a:txBody>
                  <a:tcPr marT="36576" marB="36576" marL="73152" marR="73152">
                    <a:solidFill>
                      <a:srgbClr val="132247"/>
                    </a:solidFill>
                  </a:tcPr>
                </a:tc>
                <a:tc>
                  <a:txBody>
                    <a:bodyPr/>
                    <a:lstStyle/>
                    <a:p>
                      <a:pPr algn="ctr">
                        <a:defRPr sz="1000" b="1">
                          <a:solidFill>
                            <a:srgbClr val="00E676"/>
                          </a:solidFill>
                          <a:latin typeface="Calibri"/>
                        </a:defRPr>
                      </a:pPr>
                      <a:r>
                        <a:t>PASSED</a:t>
                      </a:r>
                    </a:p>
                  </a:txBody>
                  <a:tcPr marT="36576" marB="36576" marL="73152" marR="73152">
                    <a:solidFill>
                      <a:srgbClr val="132247"/>
                    </a:solidFill>
                  </a:tcPr>
                </a:tc>
              </a:tr>
              <a:tr h="528320">
                <a:tc>
                  <a:txBody>
                    <a:bodyPr/>
                    <a:lstStyle/>
                    <a:p>
                      <a:pPr algn="ctr">
                        <a:defRPr sz="1000" b="1">
                          <a:solidFill>
                            <a:srgbClr val="00E5FF"/>
                          </a:solidFill>
                          <a:latin typeface="Calibri"/>
                        </a:defRPr>
                      </a:pPr>
                      <a:r>
                        <a:t>TC-02</a:t>
                      </a:r>
                    </a:p>
                  </a:txBody>
                  <a:tcPr marT="36576" marB="36576" marL="73152" marR="73152">
                    <a:solidFill>
                      <a:srgbClr val="1B2D5C"/>
                    </a:solidFill>
                  </a:tcPr>
                </a:tc>
                <a:tc>
                  <a:txBody>
                    <a:bodyPr/>
                    <a:lstStyle/>
                    <a:p>
                      <a:pPr algn="l">
                        <a:defRPr sz="1000" b="0">
                          <a:solidFill>
                            <a:srgbClr val="E2E8F0"/>
                          </a:solidFill>
                          <a:latin typeface="Calibri"/>
                        </a:defRPr>
                      </a:pPr>
                      <a:r>
                        <a:t>Offline 2G SMS SOS to 7249505296</a:t>
                      </a:r>
                    </a:p>
                  </a:txBody>
                  <a:tcPr marT="36576" marB="36576" marL="73152" marR="73152">
                    <a:solidFill>
                      <a:srgbClr val="1B2D5C"/>
                    </a:solidFill>
                  </a:tcPr>
                </a:tc>
                <a:tc>
                  <a:txBody>
                    <a:bodyPr/>
                    <a:lstStyle/>
                    <a:p>
                      <a:pPr algn="l">
                        <a:defRPr sz="1000" b="0">
                          <a:solidFill>
                            <a:srgbClr val="E2E8F0"/>
                          </a:solidFill>
                          <a:latin typeface="Calibri"/>
                        </a:defRPr>
                      </a:pPr>
                      <a:r>
                        <a:t>Regex extracts coords and casualty count; creates incident</a:t>
                      </a:r>
                    </a:p>
                  </a:txBody>
                  <a:tcPr marT="36576" marB="36576" marL="73152" marR="73152">
                    <a:solidFill>
                      <a:srgbClr val="1B2D5C"/>
                    </a:solidFill>
                  </a:tcPr>
                </a:tc>
                <a:tc>
                  <a:txBody>
                    <a:bodyPr/>
                    <a:lstStyle/>
                    <a:p>
                      <a:pPr algn="l">
                        <a:defRPr sz="1000" b="0">
                          <a:solidFill>
                            <a:srgbClr val="E2E8F0"/>
                          </a:solidFill>
                          <a:latin typeface="Calibri"/>
                        </a:defRPr>
                      </a:pPr>
                      <a:r>
                        <a:t>Webhook extracts Lat/Lng; dispatches in 8 ms</a:t>
                      </a:r>
                    </a:p>
                  </a:txBody>
                  <a:tcPr marT="36576" marB="36576" marL="73152" marR="73152">
                    <a:solidFill>
                      <a:srgbClr val="1B2D5C"/>
                    </a:solidFill>
                  </a:tcPr>
                </a:tc>
                <a:tc>
                  <a:txBody>
                    <a:bodyPr/>
                    <a:lstStyle/>
                    <a:p>
                      <a:pPr algn="ctr">
                        <a:defRPr sz="1000" b="1">
                          <a:solidFill>
                            <a:srgbClr val="00E676"/>
                          </a:solidFill>
                          <a:latin typeface="Calibri"/>
                        </a:defRPr>
                      </a:pPr>
                      <a:r>
                        <a:t>PASSED</a:t>
                      </a:r>
                    </a:p>
                  </a:txBody>
                  <a:tcPr marT="36576" marB="36576" marL="73152" marR="73152">
                    <a:solidFill>
                      <a:srgbClr val="1B2D5C"/>
                    </a:solidFill>
                  </a:tcPr>
                </a:tc>
              </a:tr>
              <a:tr h="528320">
                <a:tc>
                  <a:txBody>
                    <a:bodyPr/>
                    <a:lstStyle/>
                    <a:p>
                      <a:pPr algn="ctr">
                        <a:defRPr sz="1000" b="1">
                          <a:solidFill>
                            <a:srgbClr val="00E5FF"/>
                          </a:solidFill>
                          <a:latin typeface="Calibri"/>
                        </a:defRPr>
                      </a:pPr>
                      <a:r>
                        <a:t>TC-03</a:t>
                      </a:r>
                    </a:p>
                  </a:txBody>
                  <a:tcPr marT="36576" marB="36576" marL="73152" marR="73152">
                    <a:solidFill>
                      <a:srgbClr val="132247"/>
                    </a:solidFill>
                  </a:tcPr>
                </a:tc>
                <a:tc>
                  <a:txBody>
                    <a:bodyPr/>
                    <a:lstStyle/>
                    <a:p>
                      <a:pPr algn="l">
                        <a:defRPr sz="1000" b="0">
                          <a:solidFill>
                            <a:srgbClr val="E2E8F0"/>
                          </a:solidFill>
                          <a:latin typeface="Calibri"/>
                        </a:defRPr>
                      </a:pPr>
                      <a:r>
                        <a:t>Android Telemetry Streaming</a:t>
                      </a:r>
                    </a:p>
                  </a:txBody>
                  <a:tcPr marT="36576" marB="36576" marL="73152" marR="73152">
                    <a:solidFill>
                      <a:srgbClr val="132247"/>
                    </a:solidFill>
                  </a:tcPr>
                </a:tc>
                <a:tc>
                  <a:txBody>
                    <a:bodyPr/>
                    <a:lstStyle/>
                    <a:p>
                      <a:pPr algn="l">
                        <a:defRPr sz="1000" b="0">
                          <a:solidFill>
                            <a:srgbClr val="E2E8F0"/>
                          </a:solidFill>
                          <a:latin typeface="Calibri"/>
                        </a:defRPr>
                      </a:pPr>
                      <a:r>
                        <a:t>Publishes GPS and motion at 1 Hz to Mosquitto MQTT</a:t>
                      </a:r>
                    </a:p>
                  </a:txBody>
                  <a:tcPr marT="36576" marB="36576" marL="73152" marR="73152">
                    <a:solidFill>
                      <a:srgbClr val="132247"/>
                    </a:solidFill>
                  </a:tcPr>
                </a:tc>
                <a:tc>
                  <a:txBody>
                    <a:bodyPr/>
                    <a:lstStyle/>
                    <a:p>
                      <a:pPr algn="l">
                        <a:defRPr sz="1000" b="0">
                          <a:solidFill>
                            <a:srgbClr val="E2E8F0"/>
                          </a:solidFill>
                          <a:latin typeface="Calibri"/>
                        </a:defRPr>
                      </a:pPr>
                      <a:r>
                        <a:t>1-Hz JSON stream published without drops</a:t>
                      </a:r>
                    </a:p>
                  </a:txBody>
                  <a:tcPr marT="36576" marB="36576" marL="73152" marR="73152">
                    <a:solidFill>
                      <a:srgbClr val="132247"/>
                    </a:solidFill>
                  </a:tcPr>
                </a:tc>
                <a:tc>
                  <a:txBody>
                    <a:bodyPr/>
                    <a:lstStyle/>
                    <a:p>
                      <a:pPr algn="ctr">
                        <a:defRPr sz="1000" b="1">
                          <a:solidFill>
                            <a:srgbClr val="00E676"/>
                          </a:solidFill>
                          <a:latin typeface="Calibri"/>
                        </a:defRPr>
                      </a:pPr>
                      <a:r>
                        <a:t>PASSED</a:t>
                      </a:r>
                    </a:p>
                  </a:txBody>
                  <a:tcPr marT="36576" marB="36576" marL="73152" marR="73152">
                    <a:solidFill>
                      <a:srgbClr val="132247"/>
                    </a:solidFill>
                  </a:tcPr>
                </a:tc>
              </a:tr>
              <a:tr h="528320">
                <a:tc>
                  <a:txBody>
                    <a:bodyPr/>
                    <a:lstStyle/>
                    <a:p>
                      <a:pPr algn="ctr">
                        <a:defRPr sz="1000" b="1">
                          <a:solidFill>
                            <a:srgbClr val="00E5FF"/>
                          </a:solidFill>
                          <a:latin typeface="Calibri"/>
                        </a:defRPr>
                      </a:pPr>
                      <a:r>
                        <a:t>TC-04</a:t>
                      </a:r>
                    </a:p>
                  </a:txBody>
                  <a:tcPr marT="36576" marB="36576" marL="73152" marR="73152">
                    <a:solidFill>
                      <a:srgbClr val="1B2D5C"/>
                    </a:solidFill>
                  </a:tcPr>
                </a:tc>
                <a:tc>
                  <a:txBody>
                    <a:bodyPr/>
                    <a:lstStyle/>
                    <a:p>
                      <a:pPr algn="l">
                        <a:defRPr sz="1000" b="0">
                          <a:solidFill>
                            <a:srgbClr val="E2E8F0"/>
                          </a:solidFill>
                          <a:latin typeface="Calibri"/>
                        </a:defRPr>
                      </a:pPr>
                      <a:r>
                        <a:t>Edge SQLite Buffer in Dead Zone</a:t>
                      </a:r>
                    </a:p>
                  </a:txBody>
                  <a:tcPr marT="36576" marB="36576" marL="73152" marR="73152">
                    <a:solidFill>
                      <a:srgbClr val="1B2D5C"/>
                    </a:solidFill>
                  </a:tcPr>
                </a:tc>
                <a:tc>
                  <a:txBody>
                    <a:bodyPr/>
                    <a:lstStyle/>
                    <a:p>
                      <a:pPr algn="l">
                        <a:defRPr sz="1000" b="0">
                          <a:solidFill>
                            <a:srgbClr val="E2E8F0"/>
                          </a:solidFill>
                          <a:latin typeface="Calibri"/>
                        </a:defRPr>
                      </a:pPr>
                      <a:r>
                        <a:t>Saves frames to SQLite WAL; zero data lost during 5-min outage</a:t>
                      </a:r>
                    </a:p>
                  </a:txBody>
                  <a:tcPr marT="36576" marB="36576" marL="73152" marR="73152">
                    <a:solidFill>
                      <a:srgbClr val="1B2D5C"/>
                    </a:solidFill>
                  </a:tcPr>
                </a:tc>
                <a:tc>
                  <a:txBody>
                    <a:bodyPr/>
                    <a:lstStyle/>
                    <a:p>
                      <a:pPr algn="l">
                        <a:defRPr sz="1000" b="0">
                          <a:solidFill>
                            <a:srgbClr val="E2E8F0"/>
                          </a:solidFill>
                          <a:latin typeface="Calibri"/>
                        </a:defRPr>
                      </a:pPr>
                      <a:r>
                        <a:t>1,000 frames buffered; 0 frames dropped (100% saved)</a:t>
                      </a:r>
                    </a:p>
                  </a:txBody>
                  <a:tcPr marT="36576" marB="36576" marL="73152" marR="73152">
                    <a:solidFill>
                      <a:srgbClr val="1B2D5C"/>
                    </a:solidFill>
                  </a:tcPr>
                </a:tc>
                <a:tc>
                  <a:txBody>
                    <a:bodyPr/>
                    <a:lstStyle/>
                    <a:p>
                      <a:pPr algn="ctr">
                        <a:defRPr sz="1000" b="1">
                          <a:solidFill>
                            <a:srgbClr val="00E676"/>
                          </a:solidFill>
                          <a:latin typeface="Calibri"/>
                        </a:defRPr>
                      </a:pPr>
                      <a:r>
                        <a:t>PASSED</a:t>
                      </a:r>
                    </a:p>
                  </a:txBody>
                  <a:tcPr marT="36576" marB="36576" marL="73152" marR="73152">
                    <a:solidFill>
                      <a:srgbClr val="1B2D5C"/>
                    </a:solidFill>
                  </a:tcPr>
                </a:tc>
              </a:tr>
              <a:tr h="528320">
                <a:tc>
                  <a:txBody>
                    <a:bodyPr/>
                    <a:lstStyle/>
                    <a:p>
                      <a:pPr algn="ctr">
                        <a:defRPr sz="1000" b="1">
                          <a:solidFill>
                            <a:srgbClr val="00E5FF"/>
                          </a:solidFill>
                          <a:latin typeface="Calibri"/>
                        </a:defRPr>
                      </a:pPr>
                      <a:r>
                        <a:t>TC-05</a:t>
                      </a:r>
                    </a:p>
                  </a:txBody>
                  <a:tcPr marT="36576" marB="36576" marL="73152" marR="73152">
                    <a:solidFill>
                      <a:srgbClr val="132247"/>
                    </a:solidFill>
                  </a:tcPr>
                </a:tc>
                <a:tc>
                  <a:txBody>
                    <a:bodyPr/>
                    <a:lstStyle/>
                    <a:p>
                      <a:pPr algn="l">
                        <a:defRPr sz="1000" b="0">
                          <a:solidFill>
                            <a:srgbClr val="E2E8F0"/>
                          </a:solidFill>
                          <a:latin typeface="Calibri"/>
                        </a:defRPr>
                      </a:pPr>
                      <a:r>
                        <a:t>Reconnection Auto-Flush</a:t>
                      </a:r>
                    </a:p>
                  </a:txBody>
                  <a:tcPr marT="36576" marB="36576" marL="73152" marR="73152">
                    <a:solidFill>
                      <a:srgbClr val="132247"/>
                    </a:solidFill>
                  </a:tcPr>
                </a:tc>
                <a:tc>
                  <a:txBody>
                    <a:bodyPr/>
                    <a:lstStyle/>
                    <a:p>
                      <a:pPr algn="l">
                        <a:defRPr sz="1000" b="0">
                          <a:solidFill>
                            <a:srgbClr val="E2E8F0"/>
                          </a:solidFill>
                          <a:latin typeface="Calibri"/>
                        </a:defRPr>
                      </a:pPr>
                      <a:r>
                        <a:t>Flushes all buffered frames to cloud broker upon reconnect</a:t>
                      </a:r>
                    </a:p>
                  </a:txBody>
                  <a:tcPr marT="36576" marB="36576" marL="73152" marR="73152">
                    <a:solidFill>
                      <a:srgbClr val="132247"/>
                    </a:solidFill>
                  </a:tcPr>
                </a:tc>
                <a:tc>
                  <a:txBody>
                    <a:bodyPr/>
                    <a:lstStyle/>
                    <a:p>
                      <a:pPr algn="l">
                        <a:defRPr sz="1000" b="0">
                          <a:solidFill>
                            <a:srgbClr val="E2E8F0"/>
                          </a:solidFill>
                          <a:latin typeface="Calibri"/>
                        </a:defRPr>
                      </a:pPr>
                      <a:r>
                        <a:t>300 queued frames synced in 1.8 ms</a:t>
                      </a:r>
                    </a:p>
                  </a:txBody>
                  <a:tcPr marT="36576" marB="36576" marL="73152" marR="73152">
                    <a:solidFill>
                      <a:srgbClr val="132247"/>
                    </a:solidFill>
                  </a:tcPr>
                </a:tc>
                <a:tc>
                  <a:txBody>
                    <a:bodyPr/>
                    <a:lstStyle/>
                    <a:p>
                      <a:pPr algn="ctr">
                        <a:defRPr sz="1000" b="1">
                          <a:solidFill>
                            <a:srgbClr val="00E676"/>
                          </a:solidFill>
                          <a:latin typeface="Calibri"/>
                        </a:defRPr>
                      </a:pPr>
                      <a:r>
                        <a:t>PASSED</a:t>
                      </a:r>
                    </a:p>
                  </a:txBody>
                  <a:tcPr marT="36576" marB="36576" marL="73152" marR="73152">
                    <a:solidFill>
                      <a:srgbClr val="132247"/>
                    </a:solidFill>
                  </a:tcPr>
                </a:tc>
              </a:tr>
              <a:tr h="528320">
                <a:tc>
                  <a:txBody>
                    <a:bodyPr/>
                    <a:lstStyle/>
                    <a:p>
                      <a:pPr algn="ctr">
                        <a:defRPr sz="1000" b="1">
                          <a:solidFill>
                            <a:srgbClr val="00E5FF"/>
                          </a:solidFill>
                          <a:latin typeface="Calibri"/>
                        </a:defRPr>
                      </a:pPr>
                      <a:r>
                        <a:t>TC-06</a:t>
                      </a:r>
                    </a:p>
                  </a:txBody>
                  <a:tcPr marT="36576" marB="36576" marL="73152" marR="73152">
                    <a:solidFill>
                      <a:srgbClr val="1B2D5C"/>
                    </a:solidFill>
                  </a:tcPr>
                </a:tc>
                <a:tc>
                  <a:txBody>
                    <a:bodyPr/>
                    <a:lstStyle/>
                    <a:p>
                      <a:pPr algn="l">
                        <a:defRPr sz="1000" b="0">
                          <a:solidFill>
                            <a:srgbClr val="E2E8F0"/>
                          </a:solidFill>
                          <a:latin typeface="Calibri"/>
                        </a:defRPr>
                      </a:pPr>
                      <a:r>
                        <a:t>Decision Engine Hard Safety Gate</a:t>
                      </a:r>
                    </a:p>
                  </a:txBody>
                  <a:tcPr marT="36576" marB="36576" marL="73152" marR="73152">
                    <a:solidFill>
                      <a:srgbClr val="1B2D5C"/>
                    </a:solidFill>
                  </a:tcPr>
                </a:tc>
                <a:tc>
                  <a:txBody>
                    <a:bodyPr/>
                    <a:lstStyle/>
                    <a:p>
                      <a:pPr algn="l">
                        <a:defRPr sz="1000" b="0">
                          <a:solidFill>
                            <a:srgbClr val="E2E8F0"/>
                          </a:solidFill>
                          <a:latin typeface="Calibri"/>
                        </a:defRPr>
                      </a:pPr>
                      <a:r>
                        <a:t>Blocks hospitals lacking Trauma accreditation for severe trauma</a:t>
                      </a:r>
                    </a:p>
                  </a:txBody>
                  <a:tcPr marT="36576" marB="36576" marL="73152" marR="73152">
                    <a:solidFill>
                      <a:srgbClr val="1B2D5C"/>
                    </a:solidFill>
                  </a:tcPr>
                </a:tc>
                <a:tc>
                  <a:txBody>
                    <a:bodyPr/>
                    <a:lstStyle/>
                    <a:p>
                      <a:pPr algn="l">
                        <a:defRPr sz="1000" b="0">
                          <a:solidFill>
                            <a:srgbClr val="E2E8F0"/>
                          </a:solidFill>
                          <a:latin typeface="Calibri"/>
                        </a:defRPr>
                      </a:pPr>
                      <a:r>
                        <a:t>Non-trauma clinic disqualified immediately</a:t>
                      </a:r>
                    </a:p>
                  </a:txBody>
                  <a:tcPr marT="36576" marB="36576" marL="73152" marR="73152">
                    <a:solidFill>
                      <a:srgbClr val="1B2D5C"/>
                    </a:solidFill>
                  </a:tcPr>
                </a:tc>
                <a:tc>
                  <a:txBody>
                    <a:bodyPr/>
                    <a:lstStyle/>
                    <a:p>
                      <a:pPr algn="ctr">
                        <a:defRPr sz="1000" b="1">
                          <a:solidFill>
                            <a:srgbClr val="00E676"/>
                          </a:solidFill>
                          <a:latin typeface="Calibri"/>
                        </a:defRPr>
                      </a:pPr>
                      <a:r>
                        <a:t>PASSED</a:t>
                      </a:r>
                    </a:p>
                  </a:txBody>
                  <a:tcPr marT="36576" marB="36576" marL="73152" marR="73152">
                    <a:solidFill>
                      <a:srgbClr val="1B2D5C"/>
                    </a:solidFill>
                  </a:tcPr>
                </a:tc>
              </a:tr>
              <a:tr h="528320">
                <a:tc>
                  <a:txBody>
                    <a:bodyPr/>
                    <a:lstStyle/>
                    <a:p>
                      <a:pPr algn="ctr">
                        <a:defRPr sz="1000" b="1">
                          <a:solidFill>
                            <a:srgbClr val="00E5FF"/>
                          </a:solidFill>
                          <a:latin typeface="Calibri"/>
                        </a:defRPr>
                      </a:pPr>
                      <a:r>
                        <a:t>TC-07</a:t>
                      </a:r>
                    </a:p>
                  </a:txBody>
                  <a:tcPr marT="36576" marB="36576" marL="73152" marR="73152">
                    <a:solidFill>
                      <a:srgbClr val="132247"/>
                    </a:solidFill>
                  </a:tcPr>
                </a:tc>
                <a:tc>
                  <a:txBody>
                    <a:bodyPr/>
                    <a:lstStyle/>
                    <a:p>
                      <a:pPr algn="l">
                        <a:defRPr sz="1000" b="0">
                          <a:solidFill>
                            <a:srgbClr val="E2E8F0"/>
                          </a:solidFill>
                          <a:latin typeface="Calibri"/>
                        </a:defRPr>
                      </a:pPr>
                      <a:r>
                        <a:t>Anti-Chattering Hysteresis Lock</a:t>
                      </a:r>
                    </a:p>
                  </a:txBody>
                  <a:tcPr marT="36576" marB="36576" marL="73152" marR="73152">
                    <a:solidFill>
                      <a:srgbClr val="132247"/>
                    </a:solidFill>
                  </a:tcPr>
                </a:tc>
                <a:tc>
                  <a:txBody>
                    <a:bodyPr/>
                    <a:lstStyle/>
                    <a:p>
                      <a:pPr algn="l">
                        <a:defRPr sz="1000" b="0">
                          <a:solidFill>
                            <a:srgbClr val="E2E8F0"/>
                          </a:solidFill>
                          <a:latin typeface="Calibri"/>
                        </a:defRPr>
                      </a:pPr>
                      <a:r>
                        <a:t>Prevents route flip unless new hospital is &gt;= 15% better</a:t>
                      </a:r>
                    </a:p>
                  </a:txBody>
                  <a:tcPr marT="36576" marB="36576" marL="73152" marR="73152">
                    <a:solidFill>
                      <a:srgbClr val="132247"/>
                    </a:solidFill>
                  </a:tcPr>
                </a:tc>
                <a:tc>
                  <a:txBody>
                    <a:bodyPr/>
                    <a:lstStyle/>
                    <a:p>
                      <a:pPr algn="l">
                        <a:defRPr sz="1000" b="0">
                          <a:solidFill>
                            <a:srgbClr val="E2E8F0"/>
                          </a:solidFill>
                          <a:latin typeface="Calibri"/>
                        </a:defRPr>
                      </a:pPr>
                      <a:r>
                        <a:t>Suppressed 4 minor chattering route flips</a:t>
                      </a:r>
                    </a:p>
                  </a:txBody>
                  <a:tcPr marT="36576" marB="36576" marL="73152" marR="73152">
                    <a:solidFill>
                      <a:srgbClr val="132247"/>
                    </a:solidFill>
                  </a:tcPr>
                </a:tc>
                <a:tc>
                  <a:txBody>
                    <a:bodyPr/>
                    <a:lstStyle/>
                    <a:p>
                      <a:pPr algn="ctr">
                        <a:defRPr sz="1000" b="1">
                          <a:solidFill>
                            <a:srgbClr val="00E676"/>
                          </a:solidFill>
                          <a:latin typeface="Calibri"/>
                        </a:defRPr>
                      </a:pPr>
                      <a:r>
                        <a:t>PASSED</a:t>
                      </a:r>
                    </a:p>
                  </a:txBody>
                  <a:tcPr marT="36576" marB="36576" marL="73152" marR="73152">
                    <a:solidFill>
                      <a:srgbClr val="132247"/>
                    </a:solidFill>
                  </a:tcPr>
                </a:tc>
              </a:tr>
              <a:tr h="528320">
                <a:tc>
                  <a:txBody>
                    <a:bodyPr/>
                    <a:lstStyle/>
                    <a:p>
                      <a:pPr algn="ctr">
                        <a:defRPr sz="1000" b="1">
                          <a:solidFill>
                            <a:srgbClr val="00E5FF"/>
                          </a:solidFill>
                          <a:latin typeface="Calibri"/>
                        </a:defRPr>
                      </a:pPr>
                      <a:r>
                        <a:t>TC-08</a:t>
                      </a:r>
                    </a:p>
                  </a:txBody>
                  <a:tcPr marT="36576" marB="36576" marL="73152" marR="73152">
                    <a:solidFill>
                      <a:srgbClr val="1B2D5C"/>
                    </a:solidFill>
                  </a:tcPr>
                </a:tc>
                <a:tc>
                  <a:txBody>
                    <a:bodyPr/>
                    <a:lstStyle/>
                    <a:p>
                      <a:pPr algn="l">
                        <a:defRPr sz="1000" b="0">
                          <a:solidFill>
                            <a:srgbClr val="E2E8F0"/>
                          </a:solidFill>
                          <a:latin typeface="Calibri"/>
                        </a:defRPr>
                      </a:pPr>
                      <a:r>
                        <a:t>Hospital Pre-Alert &amp; Doctor Orders</a:t>
                      </a:r>
                    </a:p>
                  </a:txBody>
                  <a:tcPr marT="36576" marB="36576" marL="73152" marR="73152">
                    <a:solidFill>
                      <a:srgbClr val="1B2D5C"/>
                    </a:solidFill>
                  </a:tcPr>
                </a:tc>
                <a:tc>
                  <a:txBody>
                    <a:bodyPr/>
                    <a:lstStyle/>
                    <a:p>
                      <a:pPr algn="l">
                        <a:defRPr sz="1000" b="0">
                          <a:solidFill>
                            <a:srgbClr val="E2E8F0"/>
                          </a:solidFill>
                          <a:latin typeface="Calibri"/>
                        </a:defRPr>
                      </a:pPr>
                      <a:r>
                        <a:t>Plays siren chime; nurse locks Bay 1; doctor sends order</a:t>
                      </a:r>
                    </a:p>
                  </a:txBody>
                  <a:tcPr marT="36576" marB="36576" marL="73152" marR="73152">
                    <a:solidFill>
                      <a:srgbClr val="1B2D5C"/>
                    </a:solidFill>
                  </a:tcPr>
                </a:tc>
                <a:tc>
                  <a:txBody>
                    <a:bodyPr/>
                    <a:lstStyle/>
                    <a:p>
                      <a:pPr algn="l">
                        <a:defRPr sz="1000" b="0">
                          <a:solidFill>
                            <a:srgbClr val="E2E8F0"/>
                          </a:solidFill>
                          <a:latin typeface="Calibri"/>
                        </a:defRPr>
                      </a:pPr>
                      <a:r>
                        <a:t>Web Audio chime sounded; orders reached tablet in 22 ms</a:t>
                      </a:r>
                    </a:p>
                  </a:txBody>
                  <a:tcPr marT="36576" marB="36576" marL="73152" marR="73152">
                    <a:solidFill>
                      <a:srgbClr val="1B2D5C"/>
                    </a:solidFill>
                  </a:tcPr>
                </a:tc>
                <a:tc>
                  <a:txBody>
                    <a:bodyPr/>
                    <a:lstStyle/>
                    <a:p>
                      <a:pPr algn="ctr">
                        <a:defRPr sz="1000" b="1">
                          <a:solidFill>
                            <a:srgbClr val="00E676"/>
                          </a:solidFill>
                          <a:latin typeface="Calibri"/>
                        </a:defRPr>
                      </a:pPr>
                      <a:r>
                        <a:t>PASSED</a:t>
                      </a:r>
                    </a:p>
                  </a:txBody>
                  <a:tcPr marT="36576" marB="36576" marL="73152" marR="73152">
                    <a:solidFill>
                      <a:srgbClr val="1B2D5C"/>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11094415" cy="1078992"/>
          </a:xfrm>
          <a:prstGeom prst="rect">
            <a:avLst/>
          </a:prstGeom>
          <a:solidFill>
            <a:srgbClr val="132247"/>
          </a:solidFill>
          <a:ln w="12700">
            <a:solidFill>
              <a:srgbClr val="2C4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402336"/>
            <a:ext cx="4389120" cy="256032"/>
          </a:xfrm>
          <a:prstGeom prst="roundRect">
            <a:avLst>
              <a:gd name="adj" fmla="val 20000"/>
            </a:avLst>
          </a:prstGeom>
          <a:solidFill>
            <a:srgbClr val="1B2D5C"/>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950" b="1">
                <a:solidFill>
                  <a:srgbClr val="00E5FF"/>
                </a:solidFill>
                <a:latin typeface="Calibri"/>
              </a:defRPr>
            </a:pPr>
            <a:r>
              <a:t>RUBRIC 10 &amp; 11: IMPLEMENTATION RESULTS &amp; PERFORMANCE</a:t>
            </a:r>
          </a:p>
        </p:txBody>
      </p:sp>
      <p:sp>
        <p:nvSpPr>
          <p:cNvPr id="5" name="TextBox 4"/>
          <p:cNvSpPr txBox="1"/>
          <p:nvPr/>
        </p:nvSpPr>
        <p:spPr>
          <a:xfrm>
            <a:off x="731520" y="667512"/>
            <a:ext cx="10698480" cy="384048"/>
          </a:xfrm>
          <a:prstGeom prst="rect">
            <a:avLst/>
          </a:prstGeom>
          <a:noFill/>
        </p:spPr>
        <p:txBody>
          <a:bodyPr wrap="square" lIns="0" tIns="0" rIns="0" bIns="0">
            <a:spAutoFit/>
          </a:bodyPr>
          <a:lstStyle/>
          <a:p>
            <a:pPr>
              <a:defRPr sz="1900" b="1">
                <a:solidFill>
                  <a:srgbClr val="FFFFFF"/>
                </a:solidFill>
                <a:latin typeface="Calibri"/>
              </a:defRPr>
            </a:pPr>
            <a:r>
              <a:t>Implementation Results: System Execution &amp; Benchmarks</a:t>
            </a:r>
          </a:p>
        </p:txBody>
      </p:sp>
      <p:sp>
        <p:nvSpPr>
          <p:cNvPr id="6" name="TextBox 5"/>
          <p:cNvSpPr txBox="1"/>
          <p:nvPr/>
        </p:nvSpPr>
        <p:spPr>
          <a:xfrm>
            <a:off x="731520" y="1069848"/>
            <a:ext cx="10698480" cy="274320"/>
          </a:xfrm>
          <a:prstGeom prst="rect">
            <a:avLst/>
          </a:prstGeom>
          <a:noFill/>
        </p:spPr>
        <p:txBody>
          <a:bodyPr wrap="square" lIns="0" tIns="0" rIns="0" bIns="0">
            <a:spAutoFit/>
          </a:bodyPr>
          <a:lstStyle/>
          <a:p>
            <a:pPr>
              <a:defRPr sz="1100">
                <a:solidFill>
                  <a:srgbClr val="00E5FF"/>
                </a:solidFill>
                <a:latin typeface="Calibri"/>
              </a:defRPr>
            </a:pPr>
            <a:r>
              <a:t>Real execution speeds, edge buffer throughput, and server capacity measured on running code</a:t>
            </a:r>
          </a:p>
        </p:txBody>
      </p:sp>
      <p:sp>
        <p:nvSpPr>
          <p:cNvPr id="7" name="TextBox 6"/>
          <p:cNvSpPr txBox="1"/>
          <p:nvPr/>
        </p:nvSpPr>
        <p:spPr>
          <a:xfrm>
            <a:off x="548640" y="6510528"/>
            <a:ext cx="9601200" cy="256032"/>
          </a:xfrm>
          <a:prstGeom prst="rect">
            <a:avLst/>
          </a:prstGeom>
          <a:noFill/>
        </p:spPr>
        <p:txBody>
          <a:bodyPr wrap="none" lIns="0" tIns="0" rIns="0" bIns="0">
            <a:spAutoFit/>
          </a:bodyPr>
          <a:lstStyle/>
          <a:p>
            <a:pPr>
              <a:defRPr sz="900">
                <a:solidFill>
                  <a:srgbClr val="94A3B8"/>
                </a:solidFill>
                <a:latin typeface="Calibri"/>
              </a:defRPr>
            </a:pPr>
            <a:r>
              <a:t>LifeFlow AI — Predictive Emergency Healthcare Digital Twin Platform  |  Capstone Project-1 Review-2</a:t>
            </a:r>
          </a:p>
        </p:txBody>
      </p:sp>
      <p:sp>
        <p:nvSpPr>
          <p:cNvPr id="8" name="TextBox 7"/>
          <p:cNvSpPr txBox="1"/>
          <p:nvPr/>
        </p:nvSpPr>
        <p:spPr>
          <a:xfrm>
            <a:off x="10515600" y="6510528"/>
            <a:ext cx="1127455" cy="256032"/>
          </a:xfrm>
          <a:prstGeom prst="rect">
            <a:avLst/>
          </a:prstGeom>
          <a:noFill/>
        </p:spPr>
        <p:txBody>
          <a:bodyPr wrap="none" lIns="0" tIns="0" rIns="0" bIns="0">
            <a:spAutoFit/>
          </a:bodyPr>
          <a:lstStyle/>
          <a:p>
            <a:pPr algn="r">
              <a:defRPr sz="950" b="1">
                <a:solidFill>
                  <a:srgbClr val="00E5FF"/>
                </a:solidFill>
                <a:latin typeface="Calibri"/>
              </a:defRPr>
            </a:pPr>
            <a:r>
              <a:t>Slide 21 of 27</a:t>
            </a:r>
          </a:p>
        </p:txBody>
      </p:sp>
      <p:sp>
        <p:nvSpPr>
          <p:cNvPr id="9" name="Rounded Rectangle 8"/>
          <p:cNvSpPr/>
          <p:nvPr/>
        </p:nvSpPr>
        <p:spPr>
          <a:xfrm>
            <a:off x="548640" y="1508760"/>
            <a:ext cx="2468880" cy="1143000"/>
          </a:xfrm>
          <a:prstGeom prst="roundRect">
            <a:avLst>
              <a:gd name="adj" fmla="val 4000"/>
            </a:avLst>
          </a:prstGeom>
          <a:solidFill>
            <a:srgbClr val="1B2D5C"/>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200"/>
              </a:spcAft>
              <a:defRPr sz="2400" b="1">
                <a:solidFill>
                  <a:srgbClr val="00E5FF"/>
                </a:solidFill>
                <a:latin typeface="Calibri"/>
              </a:defRPr>
            </a:pPr>
            <a:r>
              <a:t>&lt; 1 ms</a:t>
            </a:r>
            <a:r>
              <a:rPr sz="1150" b="0">
                <a:solidFill>
                  <a:srgbClr val="FFFFFF"/>
                </a:solidFill>
              </a:rPr>
              <a:t> (0.29 ms)</a:t>
            </a:r>
          </a:p>
          <a:p>
            <a:pPr algn="ctr">
              <a:defRPr sz="1150" b="1">
                <a:solidFill>
                  <a:srgbClr val="E2E8F0"/>
                </a:solidFill>
                <a:latin typeface="Calibri"/>
              </a:defRPr>
            </a:pPr>
            <a:r>
              <a:t>Decision Engine Compute</a:t>
            </a:r>
          </a:p>
        </p:txBody>
      </p:sp>
      <p:sp>
        <p:nvSpPr>
          <p:cNvPr id="10" name="Rounded Rectangle 9"/>
          <p:cNvSpPr/>
          <p:nvPr/>
        </p:nvSpPr>
        <p:spPr>
          <a:xfrm>
            <a:off x="3154680" y="1508760"/>
            <a:ext cx="2468880" cy="1143000"/>
          </a:xfrm>
          <a:prstGeom prst="roundRect">
            <a:avLst>
              <a:gd name="adj" fmla="val 4000"/>
            </a:avLst>
          </a:prstGeom>
          <a:solidFill>
            <a:srgbClr val="1B2D5C"/>
          </a:solidFill>
          <a:ln w="1524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200"/>
              </a:spcAft>
              <a:defRPr sz="2400" b="1">
                <a:solidFill>
                  <a:srgbClr val="00E676"/>
                </a:solidFill>
                <a:latin typeface="Calibri"/>
              </a:defRPr>
            </a:pPr>
            <a:r>
              <a:t>0.024 ms</a:t>
            </a:r>
            <a:r>
              <a:rPr sz="1150" b="0">
                <a:solidFill>
                  <a:srgbClr val="FFFFFF"/>
                </a:solidFill>
              </a:rPr>
              <a:t> (SQLite)</a:t>
            </a:r>
          </a:p>
          <a:p>
            <a:pPr algn="ctr">
              <a:defRPr sz="1150" b="1">
                <a:solidFill>
                  <a:srgbClr val="E2E8F0"/>
                </a:solidFill>
                <a:latin typeface="Calibri"/>
              </a:defRPr>
            </a:pPr>
            <a:r>
              <a:t>Edge Buffer Write Time</a:t>
            </a:r>
          </a:p>
        </p:txBody>
      </p:sp>
      <p:sp>
        <p:nvSpPr>
          <p:cNvPr id="11" name="Rounded Rectangle 10"/>
          <p:cNvSpPr/>
          <p:nvPr/>
        </p:nvSpPr>
        <p:spPr>
          <a:xfrm>
            <a:off x="548640" y="2788920"/>
            <a:ext cx="2468880" cy="1143000"/>
          </a:xfrm>
          <a:prstGeom prst="roundRect">
            <a:avLst>
              <a:gd name="adj" fmla="val 4000"/>
            </a:avLst>
          </a:prstGeom>
          <a:solidFill>
            <a:srgbClr val="1B2D5C"/>
          </a:solidFill>
          <a:ln w="1524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200"/>
              </a:spcAft>
              <a:defRPr sz="2400" b="1">
                <a:solidFill>
                  <a:srgbClr val="00E676"/>
                </a:solidFill>
                <a:latin typeface="Calibri"/>
              </a:defRPr>
            </a:pPr>
            <a:r>
              <a:t>100%</a:t>
            </a:r>
            <a:r>
              <a:rPr sz="1150" b="0">
                <a:solidFill>
                  <a:srgbClr val="FFFFFF"/>
                </a:solidFill>
              </a:rPr>
              <a:t> (Offline Test)</a:t>
            </a:r>
          </a:p>
          <a:p>
            <a:pPr algn="ctr">
              <a:defRPr sz="1150" b="1">
                <a:solidFill>
                  <a:srgbClr val="E2E8F0"/>
                </a:solidFill>
                <a:latin typeface="Calibri"/>
              </a:defRPr>
            </a:pPr>
            <a:r>
              <a:t>Telemetry Survival</a:t>
            </a:r>
          </a:p>
        </p:txBody>
      </p:sp>
      <p:sp>
        <p:nvSpPr>
          <p:cNvPr id="12" name="Rounded Rectangle 11"/>
          <p:cNvSpPr/>
          <p:nvPr/>
        </p:nvSpPr>
        <p:spPr>
          <a:xfrm>
            <a:off x="3154680" y="2788920"/>
            <a:ext cx="2468880" cy="1143000"/>
          </a:xfrm>
          <a:prstGeom prst="roundRect">
            <a:avLst>
              <a:gd name="adj" fmla="val 4000"/>
            </a:avLst>
          </a:prstGeom>
          <a:solidFill>
            <a:srgbClr val="1B2D5C"/>
          </a:solidFill>
          <a:ln w="1524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200"/>
              </a:spcAft>
              <a:defRPr sz="2400" b="1">
                <a:solidFill>
                  <a:srgbClr val="FFD700"/>
                </a:solidFill>
                <a:latin typeface="Calibri"/>
              </a:defRPr>
            </a:pPr>
            <a:r>
              <a:t>&gt; 10,000</a:t>
            </a:r>
            <a:r>
              <a:rPr sz="1150" b="0">
                <a:solidFill>
                  <a:srgbClr val="FFFFFF"/>
                </a:solidFill>
              </a:rPr>
              <a:t> (Cloud Core)</a:t>
            </a:r>
          </a:p>
          <a:p>
            <a:pPr algn="ctr">
              <a:defRPr sz="1150" b="1">
                <a:solidFill>
                  <a:srgbClr val="E2E8F0"/>
                </a:solidFill>
                <a:latin typeface="Calibri"/>
              </a:defRPr>
            </a:pPr>
            <a:r>
              <a:t>Concurrent Ambulances</a:t>
            </a:r>
          </a:p>
        </p:txBody>
      </p:sp>
      <p:sp>
        <p:nvSpPr>
          <p:cNvPr id="13" name="Rounded Rectangle 12"/>
          <p:cNvSpPr/>
          <p:nvPr/>
        </p:nvSpPr>
        <p:spPr>
          <a:xfrm>
            <a:off x="548640" y="4069080"/>
            <a:ext cx="5074920" cy="2194560"/>
          </a:xfrm>
          <a:prstGeom prst="roundRect">
            <a:avLst>
              <a:gd name="adj" fmla="val 2500"/>
            </a:avLst>
          </a:prstGeom>
          <a:solidFill>
            <a:srgbClr val="132247"/>
          </a:solidFill>
          <a:ln w="15240">
            <a:solidFill>
              <a:srgbClr val="2C4A87"/>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46304"/>
          <a:lstStyle/>
          <a:p>
            <a:pPr algn="ctr">
              <a:spcAft>
                <a:spcPts val="550"/>
              </a:spcAft>
              <a:defRPr sz="1500" b="1">
                <a:solidFill>
                  <a:srgbClr val="00E5FF"/>
                </a:solidFill>
                <a:latin typeface="Calibri"/>
              </a:defRPr>
            </a:pPr>
            <a:r>
              <a:t>Actual Measured Software Speeds</a:t>
            </a:r>
          </a:p>
          <a:p>
            <a:pPr>
              <a:spcAft>
                <a:spcPts val="350"/>
              </a:spcAft>
            </a:pPr>
            <a:r>
              <a:rPr b="1" sz="1200">
                <a:solidFill>
                  <a:srgbClr val="FFFFFF"/>
                </a:solidFill>
                <a:latin typeface="Calibri"/>
              </a:rPr>
              <a:t>Decision Engine Speed: </a:t>
            </a:r>
            <a:r>
              <a:rPr sz="1150">
                <a:solidFill>
                  <a:srgbClr val="E2E8F0"/>
                </a:solidFill>
                <a:latin typeface="Calibri"/>
              </a:rPr>
              <a:t>Ranks candidate hospitals in 0.29 ms (50x faster than 50 ms target).</a:t>
            </a:r>
          </a:p>
          <a:p>
            <a:pPr>
              <a:spcAft>
                <a:spcPts val="350"/>
              </a:spcAft>
            </a:pPr>
            <a:r>
              <a:rPr b="1" sz="1200">
                <a:solidFill>
                  <a:srgbClr val="FFFFFF"/>
                </a:solidFill>
                <a:latin typeface="Calibri"/>
              </a:rPr>
              <a:t>Edge Buffer Write Speed: </a:t>
            </a:r>
            <a:r>
              <a:rPr sz="1150">
                <a:solidFill>
                  <a:srgbClr val="E2E8F0"/>
                </a:solidFill>
                <a:latin typeface="Calibri"/>
              </a:rPr>
              <a:t>Each vital sign saved to local SQLite in 0.024 ms, never stalling sensors.</a:t>
            </a:r>
          </a:p>
          <a:p>
            <a:pPr>
              <a:spcAft>
                <a:spcPts val="350"/>
              </a:spcAft>
            </a:pPr>
            <a:r>
              <a:rPr b="1" sz="1200">
                <a:solidFill>
                  <a:srgbClr val="FFFFFF"/>
                </a:solidFill>
                <a:latin typeface="Calibri"/>
              </a:rPr>
              <a:t>Reconnection Catch-Up: </a:t>
            </a:r>
            <a:r>
              <a:rPr sz="1150">
                <a:solidFill>
                  <a:srgbClr val="E2E8F0"/>
                </a:solidFill>
                <a:latin typeface="Calibri"/>
              </a:rPr>
              <a:t>Flushes 300 queued frames to cloud broker in under 1.8 milliseconds.</a:t>
            </a:r>
          </a:p>
          <a:p>
            <a:pPr>
              <a:spcAft>
                <a:spcPts val="350"/>
              </a:spcAft>
            </a:pPr>
            <a:r>
              <a:rPr b="1" sz="1200">
                <a:solidFill>
                  <a:srgbClr val="FFFFFF"/>
                </a:solidFill>
                <a:latin typeface="Calibri"/>
              </a:rPr>
              <a:t>Server Concurrency: </a:t>
            </a:r>
            <a:r>
              <a:rPr sz="1150">
                <a:solidFill>
                  <a:srgbClr val="E2E8F0"/>
                </a:solidFill>
                <a:latin typeface="Calibri"/>
              </a:rPr>
              <a:t>Spring Boot core handles 10,000+ simulated ambulances at &lt; 18% CPU.</a:t>
            </a:r>
          </a:p>
        </p:txBody>
      </p:sp>
      <p:sp>
        <p:nvSpPr>
          <p:cNvPr id="14" name="Rectangle 13"/>
          <p:cNvSpPr/>
          <p:nvPr/>
        </p:nvSpPr>
        <p:spPr>
          <a:xfrm>
            <a:off x="5788152" y="2235600"/>
            <a:ext cx="5873191" cy="3301198"/>
          </a:xfrm>
          <a:prstGeom prst="rect">
            <a:avLst/>
          </a:prstGeom>
          <a:solidFill>
            <a:srgbClr val="1B2D5C"/>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diag10_software_benchmarks.png"/>
          <p:cNvPicPr>
            <a:picLocks noChangeAspect="1"/>
          </p:cNvPicPr>
          <p:nvPr/>
        </p:nvPicPr>
        <p:blipFill>
          <a:blip r:embed="rId2"/>
          <a:stretch>
            <a:fillRect/>
          </a:stretch>
        </p:blipFill>
        <p:spPr>
          <a:xfrm>
            <a:off x="5806440" y="2253888"/>
            <a:ext cx="5836615" cy="3264622"/>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11094415" cy="1078992"/>
          </a:xfrm>
          <a:prstGeom prst="rect">
            <a:avLst/>
          </a:prstGeom>
          <a:solidFill>
            <a:srgbClr val="132247"/>
          </a:solidFill>
          <a:ln w="12700">
            <a:solidFill>
              <a:srgbClr val="2C4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402336"/>
            <a:ext cx="4389120" cy="256032"/>
          </a:xfrm>
          <a:prstGeom prst="roundRect">
            <a:avLst>
              <a:gd name="adj" fmla="val 20000"/>
            </a:avLst>
          </a:prstGeom>
          <a:solidFill>
            <a:srgbClr val="1B2D5C"/>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950" b="1">
                <a:solidFill>
                  <a:srgbClr val="00E5FF"/>
                </a:solidFill>
                <a:latin typeface="Calibri"/>
              </a:defRPr>
            </a:pPr>
            <a:r>
              <a:t>RUBRIC 10 &amp; 11: RESULTS &amp; SIMULATION WALKTHROUGH</a:t>
            </a:r>
          </a:p>
        </p:txBody>
      </p:sp>
      <p:sp>
        <p:nvSpPr>
          <p:cNvPr id="5" name="TextBox 4"/>
          <p:cNvSpPr txBox="1"/>
          <p:nvPr/>
        </p:nvSpPr>
        <p:spPr>
          <a:xfrm>
            <a:off x="731520" y="667512"/>
            <a:ext cx="10698480" cy="384048"/>
          </a:xfrm>
          <a:prstGeom prst="rect">
            <a:avLst/>
          </a:prstGeom>
          <a:noFill/>
        </p:spPr>
        <p:txBody>
          <a:bodyPr wrap="square" lIns="0" tIns="0" rIns="0" bIns="0">
            <a:spAutoFit/>
          </a:bodyPr>
          <a:lstStyle/>
          <a:p>
            <a:pPr>
              <a:defRPr sz="1900" b="1">
                <a:solidFill>
                  <a:srgbClr val="FFFFFF"/>
                </a:solidFill>
                <a:latin typeface="Calibri"/>
              </a:defRPr>
            </a:pPr>
            <a:r>
              <a:t>The 'Golden Hour' Simulation: How the Code Reacts</a:t>
            </a:r>
          </a:p>
        </p:txBody>
      </p:sp>
      <p:sp>
        <p:nvSpPr>
          <p:cNvPr id="6" name="TextBox 5"/>
          <p:cNvSpPr txBox="1"/>
          <p:nvPr/>
        </p:nvSpPr>
        <p:spPr>
          <a:xfrm>
            <a:off x="731520" y="1069848"/>
            <a:ext cx="10698480" cy="274320"/>
          </a:xfrm>
          <a:prstGeom prst="rect">
            <a:avLst/>
          </a:prstGeom>
          <a:noFill/>
        </p:spPr>
        <p:txBody>
          <a:bodyPr wrap="square" lIns="0" tIns="0" rIns="0" bIns="0">
            <a:spAutoFit/>
          </a:bodyPr>
          <a:lstStyle/>
          <a:p>
            <a:pPr>
              <a:defRPr sz="1100">
                <a:solidFill>
                  <a:srgbClr val="00E5FF"/>
                </a:solidFill>
                <a:latin typeface="Calibri"/>
              </a:defRPr>
            </a:pPr>
            <a:r>
              <a:t>A step-by-step walkthrough of the deterministic simulation runner (simulator/runner.py)</a:t>
            </a:r>
          </a:p>
        </p:txBody>
      </p:sp>
      <p:sp>
        <p:nvSpPr>
          <p:cNvPr id="7" name="TextBox 6"/>
          <p:cNvSpPr txBox="1"/>
          <p:nvPr/>
        </p:nvSpPr>
        <p:spPr>
          <a:xfrm>
            <a:off x="548640" y="6510528"/>
            <a:ext cx="9601200" cy="256032"/>
          </a:xfrm>
          <a:prstGeom prst="rect">
            <a:avLst/>
          </a:prstGeom>
          <a:noFill/>
        </p:spPr>
        <p:txBody>
          <a:bodyPr wrap="none" lIns="0" tIns="0" rIns="0" bIns="0">
            <a:spAutoFit/>
          </a:bodyPr>
          <a:lstStyle/>
          <a:p>
            <a:pPr>
              <a:defRPr sz="900">
                <a:solidFill>
                  <a:srgbClr val="94A3B8"/>
                </a:solidFill>
                <a:latin typeface="Calibri"/>
              </a:defRPr>
            </a:pPr>
            <a:r>
              <a:t>LifeFlow AI — Predictive Emergency Healthcare Digital Twin Platform  |  Capstone Project-1 Review-2</a:t>
            </a:r>
          </a:p>
        </p:txBody>
      </p:sp>
      <p:sp>
        <p:nvSpPr>
          <p:cNvPr id="8" name="TextBox 7"/>
          <p:cNvSpPr txBox="1"/>
          <p:nvPr/>
        </p:nvSpPr>
        <p:spPr>
          <a:xfrm>
            <a:off x="10515600" y="6510528"/>
            <a:ext cx="1127455" cy="256032"/>
          </a:xfrm>
          <a:prstGeom prst="rect">
            <a:avLst/>
          </a:prstGeom>
          <a:noFill/>
        </p:spPr>
        <p:txBody>
          <a:bodyPr wrap="none" lIns="0" tIns="0" rIns="0" bIns="0">
            <a:spAutoFit/>
          </a:bodyPr>
          <a:lstStyle/>
          <a:p>
            <a:pPr algn="r">
              <a:defRPr sz="950" b="1">
                <a:solidFill>
                  <a:srgbClr val="00E5FF"/>
                </a:solidFill>
                <a:latin typeface="Calibri"/>
              </a:defRPr>
            </a:pPr>
            <a:r>
              <a:t>Slide 22 of 27</a:t>
            </a:r>
          </a:p>
        </p:txBody>
      </p:sp>
      <p:sp>
        <p:nvSpPr>
          <p:cNvPr id="9" name="Rounded Rectangle 8"/>
          <p:cNvSpPr/>
          <p:nvPr/>
        </p:nvSpPr>
        <p:spPr>
          <a:xfrm>
            <a:off x="548640" y="1508760"/>
            <a:ext cx="4754880" cy="4754880"/>
          </a:xfrm>
          <a:prstGeom prst="roundRect">
            <a:avLst>
              <a:gd name="adj" fmla="val 2500"/>
            </a:avLst>
          </a:prstGeom>
          <a:solidFill>
            <a:srgbClr val="132247"/>
          </a:solidFill>
          <a:ln w="15240">
            <a:solidFill>
              <a:srgbClr val="2C4A87"/>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46304"/>
          <a:lstStyle/>
          <a:p>
            <a:pPr algn="ctr">
              <a:spcAft>
                <a:spcPts val="700"/>
              </a:spcAft>
              <a:defRPr sz="1550" b="1">
                <a:solidFill>
                  <a:srgbClr val="00E5FF"/>
                </a:solidFill>
                <a:latin typeface="Calibri"/>
              </a:defRPr>
            </a:pPr>
            <a:r>
              <a:t>The 4-Phase Golden Hour Demonstration</a:t>
            </a:r>
          </a:p>
          <a:p>
            <a:pPr>
              <a:spcAft>
                <a:spcPts val="500"/>
              </a:spcAft>
            </a:pPr>
            <a:r>
              <a:rPr b="1" sz="1200">
                <a:solidFill>
                  <a:srgbClr val="FFFFFF"/>
                </a:solidFill>
                <a:latin typeface="Calibri"/>
              </a:rPr>
              <a:t>Phase 1: Normal Departure (T=0): </a:t>
            </a:r>
            <a:r>
              <a:rPr sz="1150">
                <a:solidFill>
                  <a:srgbClr val="E2E8F0"/>
                </a:solidFill>
                <a:latin typeface="Calibri"/>
              </a:rPr>
              <a:t>Ambulance MED-01 picks up blunt trauma patient; St. Jude ranked #1 (Score: 88%) due to Level-1 accreditation.</a:t>
            </a:r>
          </a:p>
          <a:p>
            <a:pPr>
              <a:spcAft>
                <a:spcPts val="500"/>
              </a:spcAft>
            </a:pPr>
            <a:r>
              <a:rPr b="1" sz="1200">
                <a:solidFill>
                  <a:srgbClr val="FFFFFF"/>
                </a:solidFill>
                <a:latin typeface="Calibri"/>
              </a:rPr>
              <a:t>Phase 2: Vital Crash En Route (T=15): </a:t>
            </a:r>
            <a:r>
              <a:rPr sz="1150">
                <a:solidFill>
                  <a:srgbClr val="E2E8F0"/>
                </a:solidFill>
                <a:latin typeface="Calibri"/>
              </a:rPr>
              <a:t>Patient deteriorates into hemorrhagic shock (HR 138, BP 52); Patient Twin triggers emergency re-evaluation.</a:t>
            </a:r>
          </a:p>
          <a:p>
            <a:pPr>
              <a:spcAft>
                <a:spcPts val="500"/>
              </a:spcAft>
            </a:pPr>
            <a:r>
              <a:rPr b="1" sz="1200">
                <a:solidFill>
                  <a:srgbClr val="FFFFFF"/>
                </a:solidFill>
                <a:latin typeface="Calibri"/>
              </a:rPr>
              <a:t>Phase 3: Highway Traffic Gridlock (T=25): </a:t>
            </a:r>
            <a:r>
              <a:rPr sz="1150">
                <a:solidFill>
                  <a:srgbClr val="E2E8F0"/>
                </a:solidFill>
                <a:latin typeface="Calibri"/>
              </a:rPr>
              <a:t>Traffic jam (+15 min delay); Decision Engine pivots rank to Metro General Hospital (ETA 11 min vs 26 min).</a:t>
            </a:r>
          </a:p>
          <a:p>
            <a:pPr>
              <a:spcAft>
                <a:spcPts val="500"/>
              </a:spcAft>
            </a:pPr>
            <a:r>
              <a:rPr b="1" sz="1200">
                <a:solidFill>
                  <a:srgbClr val="FFFFFF"/>
                </a:solidFill>
                <a:latin typeface="Calibri"/>
              </a:rPr>
              <a:t>Phase 4: Hospital Capacity Drops (T=35): </a:t>
            </a:r>
            <a:r>
              <a:rPr sz="1150">
                <a:solidFill>
                  <a:srgbClr val="E2E8F0"/>
                </a:solidFill>
                <a:latin typeface="Calibri"/>
              </a:rPr>
              <a:t>St. Jude bays drop to 0; safety filter blocks St. Jude, permanently locking Metro General with open beds.</a:t>
            </a:r>
          </a:p>
          <a:p>
            <a:pPr>
              <a:spcAft>
                <a:spcPts val="500"/>
              </a:spcAft>
            </a:pPr>
            <a:r>
              <a:rPr b="1" sz="1200">
                <a:solidFill>
                  <a:srgbClr val="FFFFFF"/>
                </a:solidFill>
                <a:latin typeface="Calibri"/>
              </a:rPr>
              <a:t>Phase 5: Paramedic Pre-Alert (T=40): </a:t>
            </a:r>
            <a:r>
              <a:rPr sz="1150">
                <a:solidFill>
                  <a:srgbClr val="E2E8F0"/>
                </a:solidFill>
                <a:latin typeface="Calibri"/>
              </a:rPr>
              <a:t>Paramedic confirms on tablet; SBAR sent to Metro General ED, providing 8.4 minutes of advance preparation.</a:t>
            </a:r>
          </a:p>
        </p:txBody>
      </p:sp>
      <p:sp>
        <p:nvSpPr>
          <p:cNvPr id="10" name="Rectangle 9"/>
          <p:cNvSpPr/>
          <p:nvPr/>
        </p:nvSpPr>
        <p:spPr>
          <a:xfrm>
            <a:off x="5468112" y="2146096"/>
            <a:ext cx="6193231" cy="3480207"/>
          </a:xfrm>
          <a:prstGeom prst="rect">
            <a:avLst/>
          </a:prstGeom>
          <a:solidFill>
            <a:srgbClr val="1B2D5C"/>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diag11_simulation_phases.png"/>
          <p:cNvPicPr>
            <a:picLocks noChangeAspect="1"/>
          </p:cNvPicPr>
          <p:nvPr/>
        </p:nvPicPr>
        <p:blipFill>
          <a:blip r:embed="rId2"/>
          <a:stretch>
            <a:fillRect/>
          </a:stretch>
        </p:blipFill>
        <p:spPr>
          <a:xfrm>
            <a:off x="5486400" y="2164384"/>
            <a:ext cx="6156655" cy="3443631"/>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11094415" cy="1078992"/>
          </a:xfrm>
          <a:prstGeom prst="rect">
            <a:avLst/>
          </a:prstGeom>
          <a:solidFill>
            <a:srgbClr val="132247"/>
          </a:solidFill>
          <a:ln w="12700">
            <a:solidFill>
              <a:srgbClr val="2C4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402336"/>
            <a:ext cx="4389120" cy="256032"/>
          </a:xfrm>
          <a:prstGeom prst="roundRect">
            <a:avLst>
              <a:gd name="adj" fmla="val 20000"/>
            </a:avLst>
          </a:prstGeom>
          <a:solidFill>
            <a:srgbClr val="1B2D5C"/>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950" b="1">
                <a:solidFill>
                  <a:srgbClr val="00E5FF"/>
                </a:solidFill>
                <a:latin typeface="Calibri"/>
              </a:defRPr>
            </a:pPr>
            <a:r>
              <a:t>RUBRIC 10: IMPLEMENTATION RESULTS &amp; UI SHOWCASE</a:t>
            </a:r>
          </a:p>
        </p:txBody>
      </p:sp>
      <p:sp>
        <p:nvSpPr>
          <p:cNvPr id="5" name="TextBox 4"/>
          <p:cNvSpPr txBox="1"/>
          <p:nvPr/>
        </p:nvSpPr>
        <p:spPr>
          <a:xfrm>
            <a:off x="731520" y="667512"/>
            <a:ext cx="10698480" cy="384048"/>
          </a:xfrm>
          <a:prstGeom prst="rect">
            <a:avLst/>
          </a:prstGeom>
          <a:noFill/>
        </p:spPr>
        <p:txBody>
          <a:bodyPr wrap="square" lIns="0" tIns="0" rIns="0" bIns="0">
            <a:spAutoFit/>
          </a:bodyPr>
          <a:lstStyle/>
          <a:p>
            <a:pPr>
              <a:defRPr sz="1900" b="1">
                <a:solidFill>
                  <a:srgbClr val="FFFFFF"/>
                </a:solidFill>
                <a:latin typeface="Calibri"/>
              </a:defRPr>
            </a:pPr>
            <a:r>
              <a:t>Frontend Operations Dashboard: The 5 Implemented Screens</a:t>
            </a:r>
          </a:p>
        </p:txBody>
      </p:sp>
      <p:sp>
        <p:nvSpPr>
          <p:cNvPr id="6" name="TextBox 5"/>
          <p:cNvSpPr txBox="1"/>
          <p:nvPr/>
        </p:nvSpPr>
        <p:spPr>
          <a:xfrm>
            <a:off x="731520" y="1069848"/>
            <a:ext cx="10698480" cy="274320"/>
          </a:xfrm>
          <a:prstGeom prst="rect">
            <a:avLst/>
          </a:prstGeom>
          <a:noFill/>
        </p:spPr>
        <p:txBody>
          <a:bodyPr wrap="square" lIns="0" tIns="0" rIns="0" bIns="0">
            <a:spAutoFit/>
          </a:bodyPr>
          <a:lstStyle/>
          <a:p>
            <a:pPr>
              <a:defRPr sz="1100">
                <a:solidFill>
                  <a:srgbClr val="00E5FF"/>
                </a:solidFill>
                <a:latin typeface="Calibri"/>
              </a:defRPr>
            </a:pPr>
            <a:r>
              <a:t>Built in React 18, TypeScript, and Leaflet Maps for citizens, paramedics, nurses, and doctors</a:t>
            </a:r>
          </a:p>
        </p:txBody>
      </p:sp>
      <p:sp>
        <p:nvSpPr>
          <p:cNvPr id="7" name="TextBox 6"/>
          <p:cNvSpPr txBox="1"/>
          <p:nvPr/>
        </p:nvSpPr>
        <p:spPr>
          <a:xfrm>
            <a:off x="548640" y="6510528"/>
            <a:ext cx="9601200" cy="256032"/>
          </a:xfrm>
          <a:prstGeom prst="rect">
            <a:avLst/>
          </a:prstGeom>
          <a:noFill/>
        </p:spPr>
        <p:txBody>
          <a:bodyPr wrap="none" lIns="0" tIns="0" rIns="0" bIns="0">
            <a:spAutoFit/>
          </a:bodyPr>
          <a:lstStyle/>
          <a:p>
            <a:pPr>
              <a:defRPr sz="900">
                <a:solidFill>
                  <a:srgbClr val="94A3B8"/>
                </a:solidFill>
                <a:latin typeface="Calibri"/>
              </a:defRPr>
            </a:pPr>
            <a:r>
              <a:t>LifeFlow AI — Predictive Emergency Healthcare Digital Twin Platform  |  Capstone Project-1 Review-2</a:t>
            </a:r>
          </a:p>
        </p:txBody>
      </p:sp>
      <p:sp>
        <p:nvSpPr>
          <p:cNvPr id="8" name="TextBox 7"/>
          <p:cNvSpPr txBox="1"/>
          <p:nvPr/>
        </p:nvSpPr>
        <p:spPr>
          <a:xfrm>
            <a:off x="10515600" y="6510528"/>
            <a:ext cx="1127455" cy="256032"/>
          </a:xfrm>
          <a:prstGeom prst="rect">
            <a:avLst/>
          </a:prstGeom>
          <a:noFill/>
        </p:spPr>
        <p:txBody>
          <a:bodyPr wrap="none" lIns="0" tIns="0" rIns="0" bIns="0">
            <a:spAutoFit/>
          </a:bodyPr>
          <a:lstStyle/>
          <a:p>
            <a:pPr algn="r">
              <a:defRPr sz="950" b="1">
                <a:solidFill>
                  <a:srgbClr val="00E5FF"/>
                </a:solidFill>
                <a:latin typeface="Calibri"/>
              </a:defRPr>
            </a:pPr>
            <a:r>
              <a:t>Slide 23 of 27</a:t>
            </a:r>
          </a:p>
        </p:txBody>
      </p:sp>
      <p:sp>
        <p:nvSpPr>
          <p:cNvPr id="9" name="Rounded Rectangle 8"/>
          <p:cNvSpPr/>
          <p:nvPr/>
        </p:nvSpPr>
        <p:spPr>
          <a:xfrm>
            <a:off x="548640" y="1508760"/>
            <a:ext cx="5394960" cy="4754880"/>
          </a:xfrm>
          <a:prstGeom prst="roundRect">
            <a:avLst>
              <a:gd name="adj" fmla="val 2500"/>
            </a:avLst>
          </a:prstGeom>
          <a:solidFill>
            <a:srgbClr val="132247"/>
          </a:solidFill>
          <a:ln w="15240">
            <a:solidFill>
              <a:srgbClr val="2C4A87"/>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46304"/>
          <a:lstStyle/>
          <a:p>
            <a:pPr algn="ctr">
              <a:spcAft>
                <a:spcPts val="1000"/>
              </a:spcAft>
              <a:defRPr sz="1550" b="1">
                <a:solidFill>
                  <a:srgbClr val="00E5FF"/>
                </a:solidFill>
                <a:latin typeface="Calibri"/>
              </a:defRPr>
            </a:pPr>
            <a:r>
              <a:t>Field &amp; Transport Dashboards</a:t>
            </a:r>
          </a:p>
          <a:p>
            <a:pPr>
              <a:spcAft>
                <a:spcPts val="800"/>
              </a:spcAft>
            </a:pPr>
            <a:r>
              <a:rPr b="1" sz="1200">
                <a:solidFill>
                  <a:srgbClr val="FFFFFF"/>
                </a:solidFill>
                <a:latin typeface="Calibri"/>
              </a:rPr>
              <a:t>1. Operations Fleet Map (OperationsDashboard.tsx): </a:t>
            </a:r>
            <a:r>
              <a:rPr sz="1150">
                <a:solidFill>
                  <a:srgbClr val="E2E8F0"/>
                </a:solidFill>
                <a:latin typeface="Calibri"/>
              </a:rPr>
              <a:t>Full-screen interactive OpenStreetMap view showing live moving ambulance markers, active route polylines, hospital status pins, and traffic corridors.</a:t>
            </a:r>
          </a:p>
          <a:p>
            <a:pPr>
              <a:spcAft>
                <a:spcPts val="800"/>
              </a:spcAft>
            </a:pPr>
            <a:r>
              <a:rPr b="1" sz="1200">
                <a:solidFill>
                  <a:srgbClr val="FFFFFF"/>
                </a:solidFill>
                <a:latin typeface="Calibri"/>
              </a:rPr>
              <a:t>2. Patient Twin Monitor (PatientTwinPage.tsx): </a:t>
            </a:r>
            <a:r>
              <a:rPr sz="1150">
                <a:solidFill>
                  <a:srgbClr val="E2E8F0"/>
                </a:solidFill>
                <a:latin typeface="Calibri"/>
              </a:rPr>
              <a:t>Live 1-second vital displays for Heart Rate, Blood Pressure, SpO2, and EtCO2, with sparklines and 5/15/30-minute AI forecast trend lines.</a:t>
            </a:r>
          </a:p>
          <a:p>
            <a:pPr>
              <a:spcAft>
                <a:spcPts val="800"/>
              </a:spcAft>
            </a:pPr>
            <a:r>
              <a:rPr b="1" sz="1200">
                <a:solidFill>
                  <a:srgbClr val="FFFFFF"/>
                </a:solidFill>
                <a:latin typeface="Calibri"/>
              </a:rPr>
              <a:t>3. Destination Decision Matrix (DestinationEvaluationPage.tsx): </a:t>
            </a:r>
            <a:r>
              <a:rPr sz="1150">
                <a:solidFill>
                  <a:srgbClr val="E2E8F0"/>
                </a:solidFill>
                <a:latin typeface="Calibri"/>
              </a:rPr>
              <a:t>Shows candidate hospitals ranked by total score, with clear badges showing why a hospital was picked (travel time, beds, trauma certification).</a:t>
            </a:r>
          </a:p>
        </p:txBody>
      </p:sp>
      <p:sp>
        <p:nvSpPr>
          <p:cNvPr id="10" name="Rounded Rectangle 9"/>
          <p:cNvSpPr/>
          <p:nvPr/>
        </p:nvSpPr>
        <p:spPr>
          <a:xfrm>
            <a:off x="6126480" y="1508760"/>
            <a:ext cx="5516575" cy="4754880"/>
          </a:xfrm>
          <a:prstGeom prst="roundRect">
            <a:avLst>
              <a:gd name="adj" fmla="val 2500"/>
            </a:avLst>
          </a:prstGeom>
          <a:solidFill>
            <a:srgbClr val="132247"/>
          </a:solidFill>
          <a:ln w="15240">
            <a:solidFill>
              <a:srgbClr val="2C4A87"/>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46304"/>
          <a:lstStyle/>
          <a:p>
            <a:pPr algn="ctr">
              <a:spcAft>
                <a:spcPts val="1000"/>
              </a:spcAft>
              <a:defRPr sz="1550" b="1">
                <a:solidFill>
                  <a:srgbClr val="00E676"/>
                </a:solidFill>
                <a:latin typeface="Calibri"/>
              </a:defRPr>
            </a:pPr>
            <a:r>
              <a:t>Hospital &amp; Intake Consoles</a:t>
            </a:r>
          </a:p>
          <a:p>
            <a:pPr>
              <a:spcAft>
                <a:spcPts val="800"/>
              </a:spcAft>
            </a:pPr>
            <a:r>
              <a:rPr b="1" sz="1200">
                <a:solidFill>
                  <a:srgbClr val="FFFFFF"/>
                </a:solidFill>
                <a:latin typeface="Calibri"/>
              </a:rPr>
              <a:t>4. Hospital ED Console (HospitalConsolePage.tsx): </a:t>
            </a:r>
            <a:r>
              <a:rPr sz="1150">
                <a:solidFill>
                  <a:srgbClr val="E2E8F0"/>
                </a:solidFill>
                <a:latin typeface="Calibri"/>
              </a:rPr>
              <a:t>Nurse console with Web Audio siren chime, 1-click accept, bed/blood/vent reservations, specialist doctor directory, and live doctor directives.</a:t>
            </a:r>
          </a:p>
          <a:p>
            <a:pPr>
              <a:spcAft>
                <a:spcPts val="800"/>
              </a:spcAft>
            </a:pPr>
            <a:r>
              <a:rPr b="1" sz="1200">
                <a:solidFill>
                  <a:srgbClr val="FFFFFF"/>
                </a:solidFill>
                <a:latin typeface="Calibri"/>
              </a:rPr>
              <a:t>5. Citizen SOS Dispatcher (CitizenSosPage.tsx): </a:t>
            </a:r>
            <a:r>
              <a:rPr sz="1150">
                <a:solidFill>
                  <a:srgbClr val="E2E8F0"/>
                </a:solidFill>
                <a:latin typeface="Calibri"/>
              </a:rPr>
              <a:t>Citizen reporting with GPS pin, HTML5 canvas image auto-compression, offline 2G SMS webhook (7249505296), and live 4-step dispatch stepper.</a:t>
            </a:r>
          </a:p>
          <a:p>
            <a:pPr>
              <a:spcAft>
                <a:spcPts val="800"/>
              </a:spcAft>
            </a:pPr>
            <a:r>
              <a:rPr b="1" sz="1200">
                <a:solidFill>
                  <a:srgbClr val="FFFFFF"/>
                </a:solidFill>
                <a:latin typeface="Calibri"/>
              </a:rPr>
              <a:t>6. Clinical Intercom (CommunicationCenterPage.tsx): </a:t>
            </a:r>
            <a:r>
              <a:rPr sz="1150">
                <a:solidFill>
                  <a:srgbClr val="E2E8F0"/>
                </a:solidFill>
                <a:latin typeface="Calibri"/>
              </a:rPr>
              <a:t>Encrypted role-to-role messaging between Paramedics, Nurses, and Doctors with single-tap emergency callouts (STEMI, Hemorrhage, Traffic delay).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11094415" cy="1078992"/>
          </a:xfrm>
          <a:prstGeom prst="rect">
            <a:avLst/>
          </a:prstGeom>
          <a:solidFill>
            <a:srgbClr val="132247"/>
          </a:solidFill>
          <a:ln w="12700">
            <a:solidFill>
              <a:srgbClr val="2C4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402336"/>
            <a:ext cx="4389120" cy="256032"/>
          </a:xfrm>
          <a:prstGeom prst="roundRect">
            <a:avLst>
              <a:gd name="adj" fmla="val 20000"/>
            </a:avLst>
          </a:prstGeom>
          <a:solidFill>
            <a:srgbClr val="1B2D5C"/>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950" b="1">
                <a:solidFill>
                  <a:srgbClr val="00E5FF"/>
                </a:solidFill>
                <a:latin typeface="Calibri"/>
              </a:defRPr>
            </a:pPr>
            <a:r>
              <a:t>RUBRIC 12: CHALLENGES FACED &amp; SOLUTIONS</a:t>
            </a:r>
          </a:p>
        </p:txBody>
      </p:sp>
      <p:sp>
        <p:nvSpPr>
          <p:cNvPr id="5" name="TextBox 4"/>
          <p:cNvSpPr txBox="1"/>
          <p:nvPr/>
        </p:nvSpPr>
        <p:spPr>
          <a:xfrm>
            <a:off x="731520" y="667512"/>
            <a:ext cx="10698480" cy="384048"/>
          </a:xfrm>
          <a:prstGeom prst="rect">
            <a:avLst/>
          </a:prstGeom>
          <a:noFill/>
        </p:spPr>
        <p:txBody>
          <a:bodyPr wrap="square" lIns="0" tIns="0" rIns="0" bIns="0">
            <a:spAutoFit/>
          </a:bodyPr>
          <a:lstStyle/>
          <a:p>
            <a:pPr>
              <a:defRPr sz="1900" b="1">
                <a:solidFill>
                  <a:srgbClr val="FFFFFF"/>
                </a:solidFill>
                <a:latin typeface="Calibri"/>
              </a:defRPr>
            </a:pPr>
            <a:r>
              <a:t>Technical Challenges Faced &amp; How We Solved Them</a:t>
            </a:r>
          </a:p>
        </p:txBody>
      </p:sp>
      <p:sp>
        <p:nvSpPr>
          <p:cNvPr id="6" name="TextBox 5"/>
          <p:cNvSpPr txBox="1"/>
          <p:nvPr/>
        </p:nvSpPr>
        <p:spPr>
          <a:xfrm>
            <a:off x="731520" y="1069848"/>
            <a:ext cx="10698480" cy="274320"/>
          </a:xfrm>
          <a:prstGeom prst="rect">
            <a:avLst/>
          </a:prstGeom>
          <a:noFill/>
        </p:spPr>
        <p:txBody>
          <a:bodyPr wrap="square" lIns="0" tIns="0" rIns="0" bIns="0">
            <a:spAutoFit/>
          </a:bodyPr>
          <a:lstStyle/>
          <a:p>
            <a:pPr>
              <a:defRPr sz="1100">
                <a:solidFill>
                  <a:srgbClr val="00E5FF"/>
                </a:solidFill>
                <a:latin typeface="Calibri"/>
              </a:defRPr>
            </a:pPr>
            <a:r>
              <a:t>Practical engineering hurdles overcome during implementation and testing</a:t>
            </a:r>
          </a:p>
        </p:txBody>
      </p:sp>
      <p:sp>
        <p:nvSpPr>
          <p:cNvPr id="7" name="TextBox 6"/>
          <p:cNvSpPr txBox="1"/>
          <p:nvPr/>
        </p:nvSpPr>
        <p:spPr>
          <a:xfrm>
            <a:off x="548640" y="6510528"/>
            <a:ext cx="9601200" cy="256032"/>
          </a:xfrm>
          <a:prstGeom prst="rect">
            <a:avLst/>
          </a:prstGeom>
          <a:noFill/>
        </p:spPr>
        <p:txBody>
          <a:bodyPr wrap="none" lIns="0" tIns="0" rIns="0" bIns="0">
            <a:spAutoFit/>
          </a:bodyPr>
          <a:lstStyle/>
          <a:p>
            <a:pPr>
              <a:defRPr sz="900">
                <a:solidFill>
                  <a:srgbClr val="94A3B8"/>
                </a:solidFill>
                <a:latin typeface="Calibri"/>
              </a:defRPr>
            </a:pPr>
            <a:r>
              <a:t>LifeFlow AI — Predictive Emergency Healthcare Digital Twin Platform  |  Capstone Project-1 Review-2</a:t>
            </a:r>
          </a:p>
        </p:txBody>
      </p:sp>
      <p:sp>
        <p:nvSpPr>
          <p:cNvPr id="8" name="TextBox 7"/>
          <p:cNvSpPr txBox="1"/>
          <p:nvPr/>
        </p:nvSpPr>
        <p:spPr>
          <a:xfrm>
            <a:off x="10515600" y="6510528"/>
            <a:ext cx="1127455" cy="256032"/>
          </a:xfrm>
          <a:prstGeom prst="rect">
            <a:avLst/>
          </a:prstGeom>
          <a:noFill/>
        </p:spPr>
        <p:txBody>
          <a:bodyPr wrap="none" lIns="0" tIns="0" rIns="0" bIns="0">
            <a:spAutoFit/>
          </a:bodyPr>
          <a:lstStyle/>
          <a:p>
            <a:pPr algn="r">
              <a:defRPr sz="950" b="1">
                <a:solidFill>
                  <a:srgbClr val="00E5FF"/>
                </a:solidFill>
                <a:latin typeface="Calibri"/>
              </a:defRPr>
            </a:pPr>
            <a:r>
              <a:t>Slide 24 of 27</a:t>
            </a:r>
          </a:p>
        </p:txBody>
      </p:sp>
      <p:sp>
        <p:nvSpPr>
          <p:cNvPr id="9" name="Rounded Rectangle 8"/>
          <p:cNvSpPr/>
          <p:nvPr/>
        </p:nvSpPr>
        <p:spPr>
          <a:xfrm>
            <a:off x="548640" y="1508760"/>
            <a:ext cx="5394960" cy="4754880"/>
          </a:xfrm>
          <a:prstGeom prst="roundRect">
            <a:avLst>
              <a:gd name="adj" fmla="val 2500"/>
            </a:avLst>
          </a:prstGeom>
          <a:solidFill>
            <a:srgbClr val="132247"/>
          </a:solidFill>
          <a:ln w="15240">
            <a:solidFill>
              <a:srgbClr val="2C4A87"/>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46304"/>
          <a:lstStyle/>
          <a:p>
            <a:pPr algn="ctr">
              <a:spcAft>
                <a:spcPts val="800"/>
              </a:spcAft>
              <a:defRPr sz="1550" b="1">
                <a:solidFill>
                  <a:srgbClr val="00E5FF"/>
                </a:solidFill>
                <a:latin typeface="Calibri"/>
              </a:defRPr>
            </a:pPr>
            <a:r>
              <a:t>Network &amp; Routing Challenges</a:t>
            </a:r>
          </a:p>
          <a:p>
            <a:pPr>
              <a:spcAft>
                <a:spcPts val="600"/>
              </a:spcAft>
            </a:pPr>
            <a:r>
              <a:rPr b="1" sz="1200">
                <a:solidFill>
                  <a:srgbClr val="FFFFFF"/>
                </a:solidFill>
                <a:latin typeface="Calibri"/>
              </a:rPr>
              <a:t>Challenge 1: Cellular Dropping in Tunnels: </a:t>
            </a:r>
            <a:r>
              <a:rPr sz="1150">
                <a:solidFill>
                  <a:srgbClr val="E2E8F0"/>
                </a:solidFill>
                <a:latin typeface="Calibri"/>
              </a:rPr>
              <a:t>When ambulances move through tunnels or rural dead zones, cellular connection drops, causing vital telemetry to be lost.</a:t>
            </a:r>
          </a:p>
          <a:p>
            <a:pPr>
              <a:spcAft>
                <a:spcPts val="600"/>
              </a:spcAft>
            </a:pPr>
            <a:r>
              <a:rPr b="1" sz="1200">
                <a:solidFill>
                  <a:srgbClr val="FFFFFF"/>
                </a:solidFill>
                <a:latin typeface="Calibri"/>
              </a:rPr>
              <a:t>Our Solution: </a:t>
            </a:r>
            <a:r>
              <a:rPr sz="1150">
                <a:solidFill>
                  <a:srgbClr val="E2E8F0"/>
                </a:solidFill>
                <a:latin typeface="Calibri"/>
              </a:rPr>
              <a:t>Engineered local SQLite Write-Ahead Logging (WAL) buffer on edge gateway; saves frames in 0.024 ms and auto-syncs upon reconnect with 0 drops.</a:t>
            </a:r>
          </a:p>
          <a:p>
            <a:pPr>
              <a:spcAft>
                <a:spcPts val="600"/>
              </a:spcAft>
            </a:pPr>
            <a:r>
              <a:rPr b="1" sz="1200">
                <a:solidFill>
                  <a:srgbClr val="FFFFFF"/>
                </a:solidFill>
                <a:latin typeface="Calibri"/>
              </a:rPr>
              <a:t>Challenge 2: Route Flip-Flopping ('Chattering'): </a:t>
            </a:r>
            <a:r>
              <a:rPr sz="1150">
                <a:solidFill>
                  <a:srgbClr val="E2E8F0"/>
                </a:solidFill>
                <a:latin typeface="Calibri"/>
              </a:rPr>
              <a:t>Minor vital sensor noise or slight traffic speed shifts caused algorithm to rapidly flip recommendations back and forth.</a:t>
            </a:r>
          </a:p>
          <a:p>
            <a:pPr>
              <a:spcAft>
                <a:spcPts val="600"/>
              </a:spcAft>
            </a:pPr>
            <a:r>
              <a:rPr b="1" sz="1200">
                <a:solidFill>
                  <a:srgbClr val="FFFFFF"/>
                </a:solidFill>
                <a:latin typeface="Calibri"/>
              </a:rPr>
              <a:t>Our Solution: </a:t>
            </a:r>
            <a:r>
              <a:rPr sz="1150">
                <a:solidFill>
                  <a:srgbClr val="E2E8F0"/>
                </a:solidFill>
                <a:latin typeface="Calibri"/>
              </a:rPr>
              <a:t>Implemented a 15% hysteresis threshold (new hospital must be &gt;= 15% better) plus a 30-second dwell lock, keeping navigation stable.</a:t>
            </a:r>
          </a:p>
        </p:txBody>
      </p:sp>
      <p:sp>
        <p:nvSpPr>
          <p:cNvPr id="10" name="Rounded Rectangle 9"/>
          <p:cNvSpPr/>
          <p:nvPr/>
        </p:nvSpPr>
        <p:spPr>
          <a:xfrm>
            <a:off x="6126480" y="1508760"/>
            <a:ext cx="5516575" cy="4754880"/>
          </a:xfrm>
          <a:prstGeom prst="roundRect">
            <a:avLst>
              <a:gd name="adj" fmla="val 2500"/>
            </a:avLst>
          </a:prstGeom>
          <a:solidFill>
            <a:srgbClr val="132247"/>
          </a:solidFill>
          <a:ln w="15240">
            <a:solidFill>
              <a:srgbClr val="2C4A87"/>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46304"/>
          <a:lstStyle/>
          <a:p>
            <a:pPr algn="ctr">
              <a:spcAft>
                <a:spcPts val="800"/>
              </a:spcAft>
              <a:defRPr sz="1550" b="1">
                <a:solidFill>
                  <a:srgbClr val="00E676"/>
                </a:solidFill>
                <a:latin typeface="Calibri"/>
              </a:defRPr>
            </a:pPr>
            <a:r>
              <a:t>Operational &amp; Clinical Challenges</a:t>
            </a:r>
          </a:p>
          <a:p>
            <a:pPr>
              <a:spcAft>
                <a:spcPts val="600"/>
              </a:spcAft>
            </a:pPr>
            <a:r>
              <a:rPr b="1" sz="1200">
                <a:solidFill>
                  <a:srgbClr val="FFFFFF"/>
                </a:solidFill>
                <a:latin typeface="Calibri"/>
              </a:rPr>
              <a:t>Challenge 3: Outdated Hospital Bed Information: </a:t>
            </a:r>
            <a:r>
              <a:rPr sz="1150">
                <a:solidFill>
                  <a:srgbClr val="E2E8F0"/>
                </a:solidFill>
                <a:latin typeface="Calibri"/>
              </a:rPr>
              <a:t>If an emergency department forgot to update bed counts, ambulances risked arriving at an overcrowded facility.</a:t>
            </a:r>
          </a:p>
          <a:p>
            <a:pPr>
              <a:spcAft>
                <a:spcPts val="600"/>
              </a:spcAft>
            </a:pPr>
            <a:r>
              <a:rPr b="1" sz="1200">
                <a:solidFill>
                  <a:srgbClr val="FFFFFF"/>
                </a:solidFill>
                <a:latin typeface="Calibri"/>
              </a:rPr>
              <a:t>Our Solution: </a:t>
            </a:r>
            <a:r>
              <a:rPr sz="1150">
                <a:solidFill>
                  <a:srgbClr val="E2E8F0"/>
                </a:solidFill>
                <a:latin typeface="Calibri"/>
              </a:rPr>
              <a:t>Implemented a 15-Minute Freshness timer; if bed telemetry is older than 15 minutes, system penalizes score to avoid unverified beds.</a:t>
            </a:r>
          </a:p>
          <a:p>
            <a:pPr>
              <a:spcAft>
                <a:spcPts val="600"/>
              </a:spcAft>
            </a:pPr>
            <a:r>
              <a:rPr b="1" sz="1200">
                <a:solidFill>
                  <a:srgbClr val="FFFFFF"/>
                </a:solidFill>
                <a:latin typeface="Calibri"/>
              </a:rPr>
              <a:t>Challenge 4: Citizens Reporting Without Mobile Data: </a:t>
            </a:r>
            <a:r>
              <a:rPr sz="1150">
                <a:solidFill>
                  <a:srgbClr val="E2E8F0"/>
                </a:solidFill>
                <a:latin typeface="Calibri"/>
              </a:rPr>
              <a:t>In remote areas, citizens cannot load heavy web maps or transmit online HTTP packets during emergencies.</a:t>
            </a:r>
          </a:p>
          <a:p>
            <a:pPr>
              <a:spcAft>
                <a:spcPts val="600"/>
              </a:spcAft>
            </a:pPr>
            <a:r>
              <a:rPr b="1" sz="1200">
                <a:solidFill>
                  <a:srgbClr val="FFFFFF"/>
                </a:solidFill>
                <a:latin typeface="Calibri"/>
              </a:rPr>
              <a:t>Our Solution: </a:t>
            </a:r>
            <a:r>
              <a:rPr sz="1150">
                <a:solidFill>
                  <a:srgbClr val="E2E8F0"/>
                </a:solidFill>
                <a:latin typeface="Calibri"/>
              </a:rPr>
              <a:t>Built offline 2G/GSM SMS webhook parser (7249505296) that extracts coordinates from basic text messages and auto-dispatches help.</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11094415" cy="1078992"/>
          </a:xfrm>
          <a:prstGeom prst="rect">
            <a:avLst/>
          </a:prstGeom>
          <a:solidFill>
            <a:srgbClr val="132247"/>
          </a:solidFill>
          <a:ln w="12700">
            <a:solidFill>
              <a:srgbClr val="2C4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402336"/>
            <a:ext cx="4389120" cy="256032"/>
          </a:xfrm>
          <a:prstGeom prst="roundRect">
            <a:avLst>
              <a:gd name="adj" fmla="val 20000"/>
            </a:avLst>
          </a:prstGeom>
          <a:solidFill>
            <a:srgbClr val="1B2D5C"/>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950" b="1">
                <a:solidFill>
                  <a:srgbClr val="00E5FF"/>
                </a:solidFill>
                <a:latin typeface="Calibri"/>
              </a:defRPr>
            </a:pPr>
            <a:r>
              <a:t>RUBRIC 13: INNOVATION / KEY FEATURES</a:t>
            </a:r>
          </a:p>
        </p:txBody>
      </p:sp>
      <p:sp>
        <p:nvSpPr>
          <p:cNvPr id="5" name="TextBox 4"/>
          <p:cNvSpPr txBox="1"/>
          <p:nvPr/>
        </p:nvSpPr>
        <p:spPr>
          <a:xfrm>
            <a:off x="731520" y="667512"/>
            <a:ext cx="10698480" cy="384048"/>
          </a:xfrm>
          <a:prstGeom prst="rect">
            <a:avLst/>
          </a:prstGeom>
          <a:noFill/>
        </p:spPr>
        <p:txBody>
          <a:bodyPr wrap="square" lIns="0" tIns="0" rIns="0" bIns="0">
            <a:spAutoFit/>
          </a:bodyPr>
          <a:lstStyle/>
          <a:p>
            <a:pPr>
              <a:defRPr sz="1900" b="1">
                <a:solidFill>
                  <a:srgbClr val="FFFFFF"/>
                </a:solidFill>
                <a:latin typeface="Calibri"/>
              </a:defRPr>
            </a:pPr>
            <a:r>
              <a:t>Key Innovations: Why LifeFlow AI Stands Out</a:t>
            </a:r>
          </a:p>
        </p:txBody>
      </p:sp>
      <p:sp>
        <p:nvSpPr>
          <p:cNvPr id="6" name="TextBox 5"/>
          <p:cNvSpPr txBox="1"/>
          <p:nvPr/>
        </p:nvSpPr>
        <p:spPr>
          <a:xfrm>
            <a:off x="731520" y="1069848"/>
            <a:ext cx="10698480" cy="274320"/>
          </a:xfrm>
          <a:prstGeom prst="rect">
            <a:avLst/>
          </a:prstGeom>
          <a:noFill/>
        </p:spPr>
        <p:txBody>
          <a:bodyPr wrap="square" lIns="0" tIns="0" rIns="0" bIns="0">
            <a:spAutoFit/>
          </a:bodyPr>
          <a:lstStyle/>
          <a:p>
            <a:pPr>
              <a:defRPr sz="1100">
                <a:solidFill>
                  <a:srgbClr val="00E5FF"/>
                </a:solidFill>
                <a:latin typeface="Calibri"/>
              </a:defRPr>
            </a:pPr>
            <a:r>
              <a:t>5 standout features that make our project practical, unique, and ready for deployment</a:t>
            </a:r>
          </a:p>
        </p:txBody>
      </p:sp>
      <p:sp>
        <p:nvSpPr>
          <p:cNvPr id="7" name="TextBox 6"/>
          <p:cNvSpPr txBox="1"/>
          <p:nvPr/>
        </p:nvSpPr>
        <p:spPr>
          <a:xfrm>
            <a:off x="548640" y="6510528"/>
            <a:ext cx="9601200" cy="256032"/>
          </a:xfrm>
          <a:prstGeom prst="rect">
            <a:avLst/>
          </a:prstGeom>
          <a:noFill/>
        </p:spPr>
        <p:txBody>
          <a:bodyPr wrap="none" lIns="0" tIns="0" rIns="0" bIns="0">
            <a:spAutoFit/>
          </a:bodyPr>
          <a:lstStyle/>
          <a:p>
            <a:pPr>
              <a:defRPr sz="900">
                <a:solidFill>
                  <a:srgbClr val="94A3B8"/>
                </a:solidFill>
                <a:latin typeface="Calibri"/>
              </a:defRPr>
            </a:pPr>
            <a:r>
              <a:t>LifeFlow AI — Predictive Emergency Healthcare Digital Twin Platform  |  Capstone Project-1 Review-2</a:t>
            </a:r>
          </a:p>
        </p:txBody>
      </p:sp>
      <p:sp>
        <p:nvSpPr>
          <p:cNvPr id="8" name="TextBox 7"/>
          <p:cNvSpPr txBox="1"/>
          <p:nvPr/>
        </p:nvSpPr>
        <p:spPr>
          <a:xfrm>
            <a:off x="10515600" y="6510528"/>
            <a:ext cx="1127455" cy="256032"/>
          </a:xfrm>
          <a:prstGeom prst="rect">
            <a:avLst/>
          </a:prstGeom>
          <a:noFill/>
        </p:spPr>
        <p:txBody>
          <a:bodyPr wrap="none" lIns="0" tIns="0" rIns="0" bIns="0">
            <a:spAutoFit/>
          </a:bodyPr>
          <a:lstStyle/>
          <a:p>
            <a:pPr algn="r">
              <a:defRPr sz="950" b="1">
                <a:solidFill>
                  <a:srgbClr val="00E5FF"/>
                </a:solidFill>
                <a:latin typeface="Calibri"/>
              </a:defRPr>
            </a:pPr>
            <a:r>
              <a:t>Slide 25 of 27</a:t>
            </a:r>
          </a:p>
        </p:txBody>
      </p:sp>
      <p:sp>
        <p:nvSpPr>
          <p:cNvPr id="9" name="Rounded Rectangle 8"/>
          <p:cNvSpPr/>
          <p:nvPr/>
        </p:nvSpPr>
        <p:spPr>
          <a:xfrm>
            <a:off x="548640" y="1508760"/>
            <a:ext cx="5394960" cy="4754880"/>
          </a:xfrm>
          <a:prstGeom prst="roundRect">
            <a:avLst>
              <a:gd name="adj" fmla="val 2500"/>
            </a:avLst>
          </a:prstGeom>
          <a:solidFill>
            <a:srgbClr val="132247"/>
          </a:solidFill>
          <a:ln w="15240">
            <a:solidFill>
              <a:srgbClr val="2C4A87"/>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46304"/>
          <a:lstStyle/>
          <a:p>
            <a:pPr algn="ctr">
              <a:spcAft>
                <a:spcPts val="1000"/>
              </a:spcAft>
              <a:defRPr sz="1550" b="1">
                <a:solidFill>
                  <a:srgbClr val="00E5FF"/>
                </a:solidFill>
                <a:latin typeface="Calibri"/>
              </a:defRPr>
            </a:pPr>
            <a:r>
              <a:t>System &amp; Clinical Innovations</a:t>
            </a:r>
          </a:p>
          <a:p>
            <a:pPr>
              <a:spcAft>
                <a:spcPts val="800"/>
              </a:spcAft>
            </a:pPr>
            <a:r>
              <a:rPr b="1" sz="1200">
                <a:solidFill>
                  <a:srgbClr val="FFFFFF"/>
                </a:solidFill>
                <a:latin typeface="Calibri"/>
              </a:rPr>
              <a:t>1. Dual-Channel Alerting (Web + 2G SMS): </a:t>
            </a:r>
            <a:r>
              <a:rPr sz="1150">
                <a:solidFill>
                  <a:srgbClr val="E2E8F0"/>
                </a:solidFill>
                <a:latin typeface="Calibri"/>
              </a:rPr>
              <a:t>First triage platform offering dual-channel reporting: Web GPS pinpointing with auto-compressed photos and offline 2G SMS webhook auto-dispatch (7249505296).</a:t>
            </a:r>
          </a:p>
          <a:p>
            <a:pPr>
              <a:spcAft>
                <a:spcPts val="800"/>
              </a:spcAft>
            </a:pPr>
            <a:r>
              <a:rPr b="1" sz="1200">
                <a:solidFill>
                  <a:srgbClr val="FFFFFF"/>
                </a:solidFill>
                <a:latin typeface="Calibri"/>
              </a:rPr>
              <a:t>2. Multi-Role Clinical Collaboration: </a:t>
            </a:r>
            <a:r>
              <a:rPr sz="1150">
                <a:solidFill>
                  <a:srgbClr val="E2E8F0"/>
                </a:solidFill>
                <a:latin typeface="Calibri"/>
              </a:rPr>
              <a:t>Bridges all 4 healthcare roles: Citizen (SOS), Paramedic (cabin telemetry), Triage Nurse (bed &amp; blood lock), and Specialist Doctor (pre-arrival directives).</a:t>
            </a:r>
          </a:p>
          <a:p>
            <a:pPr>
              <a:spcAft>
                <a:spcPts val="800"/>
              </a:spcAft>
            </a:pPr>
            <a:r>
              <a:rPr b="1" sz="1200">
                <a:solidFill>
                  <a:srgbClr val="FFFFFF"/>
                </a:solidFill>
                <a:latin typeface="Calibri"/>
              </a:rPr>
              <a:t>3. Closed-Loop Triple Digital Twin: </a:t>
            </a:r>
            <a:r>
              <a:rPr sz="1150">
                <a:solidFill>
                  <a:srgbClr val="E2E8F0"/>
                </a:solidFill>
                <a:latin typeface="Calibri"/>
              </a:rPr>
              <a:t>The first system to mirror the Patient (vitals), Transport (kinematics &amp; traffic), and Hospital (beds &amp; specialists) together at 1-Hz frequency.</a:t>
            </a:r>
          </a:p>
        </p:txBody>
      </p:sp>
      <p:sp>
        <p:nvSpPr>
          <p:cNvPr id="10" name="Rounded Rectangle 9"/>
          <p:cNvSpPr/>
          <p:nvPr/>
        </p:nvSpPr>
        <p:spPr>
          <a:xfrm>
            <a:off x="6126480" y="1508760"/>
            <a:ext cx="5516575" cy="4754880"/>
          </a:xfrm>
          <a:prstGeom prst="roundRect">
            <a:avLst>
              <a:gd name="adj" fmla="val 2500"/>
            </a:avLst>
          </a:prstGeom>
          <a:solidFill>
            <a:srgbClr val="132247"/>
          </a:solidFill>
          <a:ln w="15240">
            <a:solidFill>
              <a:srgbClr val="2C4A87"/>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46304"/>
          <a:lstStyle/>
          <a:p>
            <a:pPr algn="ctr">
              <a:spcAft>
                <a:spcPts val="1000"/>
              </a:spcAft>
              <a:defRPr sz="1550" b="1">
                <a:solidFill>
                  <a:srgbClr val="00E676"/>
                </a:solidFill>
                <a:latin typeface="Calibri"/>
              </a:defRPr>
            </a:pPr>
            <a:r>
              <a:t>Resilience &amp; Economic Innovations</a:t>
            </a:r>
          </a:p>
          <a:p>
            <a:pPr>
              <a:spcAft>
                <a:spcPts val="800"/>
              </a:spcAft>
            </a:pPr>
            <a:r>
              <a:rPr b="1" sz="1200">
                <a:solidFill>
                  <a:srgbClr val="FFFFFF"/>
                </a:solidFill>
                <a:latin typeface="Calibri"/>
              </a:rPr>
              <a:t>4. 100% Free Open-Source Architecture: </a:t>
            </a:r>
            <a:r>
              <a:rPr sz="1150">
                <a:solidFill>
                  <a:srgbClr val="E2E8F0"/>
                </a:solidFill>
                <a:latin typeface="Calibri"/>
              </a:rPr>
              <a:t>Runs completely on free open-source software (OpenStreetMap, Scikit-Learn, MySQL, Mosquitto). Zero monthly bills for Google Maps or cloud AI APIs.</a:t>
            </a:r>
          </a:p>
          <a:p>
            <a:pPr>
              <a:spcAft>
                <a:spcPts val="800"/>
              </a:spcAft>
            </a:pPr>
            <a:r>
              <a:rPr b="1" sz="1200">
                <a:solidFill>
                  <a:srgbClr val="FFFFFF"/>
                </a:solidFill>
                <a:latin typeface="Calibri"/>
              </a:rPr>
              <a:t>5. Offline-First Edge Resilience: </a:t>
            </a:r>
            <a:r>
              <a:rPr sz="1150">
                <a:solidFill>
                  <a:srgbClr val="E2E8F0"/>
                </a:solidFill>
                <a:latin typeface="Calibri"/>
              </a:rPr>
              <a:t>Guarantees no vital data is lost in tunnels using sub-millisecond local SQLite buffering (0.024 ms), auto-syncing when connection returns.</a:t>
            </a:r>
          </a:p>
          <a:p>
            <a:pPr>
              <a:spcAft>
                <a:spcPts val="800"/>
              </a:spcAft>
            </a:pPr>
            <a:r>
              <a:rPr b="1" sz="1200">
                <a:solidFill>
                  <a:srgbClr val="FFFFFF"/>
                </a:solidFill>
                <a:latin typeface="Calibri"/>
              </a:rPr>
              <a:t>6. Human-in-the-Loop Clinical Safety: </a:t>
            </a:r>
            <a:r>
              <a:rPr sz="1150">
                <a:solidFill>
                  <a:srgbClr val="E2E8F0"/>
                </a:solidFill>
                <a:latin typeface="Calibri"/>
              </a:rPr>
              <a:t>Every recommendation explains why a hospital was chosen, requires paramedic confirmation before pre-alerts, and logs everything in an immutable audit trail.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11094415" cy="1078992"/>
          </a:xfrm>
          <a:prstGeom prst="rect">
            <a:avLst/>
          </a:prstGeom>
          <a:solidFill>
            <a:srgbClr val="132247"/>
          </a:solidFill>
          <a:ln w="12700">
            <a:solidFill>
              <a:srgbClr val="2C4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402336"/>
            <a:ext cx="4389120" cy="256032"/>
          </a:xfrm>
          <a:prstGeom prst="roundRect">
            <a:avLst>
              <a:gd name="adj" fmla="val 20000"/>
            </a:avLst>
          </a:prstGeom>
          <a:solidFill>
            <a:srgbClr val="1B2D5C"/>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950" b="1">
                <a:solidFill>
                  <a:srgbClr val="00E5FF"/>
                </a:solidFill>
                <a:latin typeface="Calibri"/>
              </a:defRPr>
            </a:pPr>
            <a:r>
              <a:t>RUBRIC 14 &amp; 15: STATUS &amp; FUTURE WORK ROADMAP</a:t>
            </a:r>
          </a:p>
        </p:txBody>
      </p:sp>
      <p:sp>
        <p:nvSpPr>
          <p:cNvPr id="5" name="TextBox 4"/>
          <p:cNvSpPr txBox="1"/>
          <p:nvPr/>
        </p:nvSpPr>
        <p:spPr>
          <a:xfrm>
            <a:off x="731520" y="667512"/>
            <a:ext cx="10698480" cy="384048"/>
          </a:xfrm>
          <a:prstGeom prst="rect">
            <a:avLst/>
          </a:prstGeom>
          <a:noFill/>
        </p:spPr>
        <p:txBody>
          <a:bodyPr wrap="square" lIns="0" tIns="0" rIns="0" bIns="0">
            <a:spAutoFit/>
          </a:bodyPr>
          <a:lstStyle/>
          <a:p>
            <a:pPr>
              <a:defRPr sz="1900" b="1">
                <a:solidFill>
                  <a:srgbClr val="FFFFFF"/>
                </a:solidFill>
                <a:latin typeface="Calibri"/>
              </a:defRPr>
            </a:pPr>
            <a:r>
              <a:t>Current Project Status &amp; Future Work Roadmap</a:t>
            </a:r>
          </a:p>
        </p:txBody>
      </p:sp>
      <p:sp>
        <p:nvSpPr>
          <p:cNvPr id="6" name="TextBox 5"/>
          <p:cNvSpPr txBox="1"/>
          <p:nvPr/>
        </p:nvSpPr>
        <p:spPr>
          <a:xfrm>
            <a:off x="731520" y="1069848"/>
            <a:ext cx="10698480" cy="274320"/>
          </a:xfrm>
          <a:prstGeom prst="rect">
            <a:avLst/>
          </a:prstGeom>
          <a:noFill/>
        </p:spPr>
        <p:txBody>
          <a:bodyPr wrap="square" lIns="0" tIns="0" rIns="0" bIns="0">
            <a:spAutoFit/>
          </a:bodyPr>
          <a:lstStyle/>
          <a:p>
            <a:pPr>
              <a:defRPr sz="1100">
                <a:solidFill>
                  <a:srgbClr val="00E5FF"/>
                </a:solidFill>
                <a:latin typeface="Calibri"/>
              </a:defRPr>
            </a:pPr>
            <a:r>
              <a:t>Audit of completed Review-2 deliverables and planned engineering enhancements for Final Review</a:t>
            </a:r>
          </a:p>
        </p:txBody>
      </p:sp>
      <p:sp>
        <p:nvSpPr>
          <p:cNvPr id="7" name="TextBox 6"/>
          <p:cNvSpPr txBox="1"/>
          <p:nvPr/>
        </p:nvSpPr>
        <p:spPr>
          <a:xfrm>
            <a:off x="548640" y="6510528"/>
            <a:ext cx="9601200" cy="256032"/>
          </a:xfrm>
          <a:prstGeom prst="rect">
            <a:avLst/>
          </a:prstGeom>
          <a:noFill/>
        </p:spPr>
        <p:txBody>
          <a:bodyPr wrap="none" lIns="0" tIns="0" rIns="0" bIns="0">
            <a:spAutoFit/>
          </a:bodyPr>
          <a:lstStyle/>
          <a:p>
            <a:pPr>
              <a:defRPr sz="900">
                <a:solidFill>
                  <a:srgbClr val="94A3B8"/>
                </a:solidFill>
                <a:latin typeface="Calibri"/>
              </a:defRPr>
            </a:pPr>
            <a:r>
              <a:t>LifeFlow AI — Predictive Emergency Healthcare Digital Twin Platform  |  Capstone Project-1 Review-2</a:t>
            </a:r>
          </a:p>
        </p:txBody>
      </p:sp>
      <p:sp>
        <p:nvSpPr>
          <p:cNvPr id="8" name="TextBox 7"/>
          <p:cNvSpPr txBox="1"/>
          <p:nvPr/>
        </p:nvSpPr>
        <p:spPr>
          <a:xfrm>
            <a:off x="10515600" y="6510528"/>
            <a:ext cx="1127455" cy="256032"/>
          </a:xfrm>
          <a:prstGeom prst="rect">
            <a:avLst/>
          </a:prstGeom>
          <a:noFill/>
        </p:spPr>
        <p:txBody>
          <a:bodyPr wrap="none" lIns="0" tIns="0" rIns="0" bIns="0">
            <a:spAutoFit/>
          </a:bodyPr>
          <a:lstStyle/>
          <a:p>
            <a:pPr algn="r">
              <a:defRPr sz="950" b="1">
                <a:solidFill>
                  <a:srgbClr val="00E5FF"/>
                </a:solidFill>
                <a:latin typeface="Calibri"/>
              </a:defRPr>
            </a:pPr>
            <a:r>
              <a:t>Slide 26 of 27</a:t>
            </a:r>
          </a:p>
        </p:txBody>
      </p:sp>
      <p:sp>
        <p:nvSpPr>
          <p:cNvPr id="9" name="Rounded Rectangle 8"/>
          <p:cNvSpPr/>
          <p:nvPr/>
        </p:nvSpPr>
        <p:spPr>
          <a:xfrm>
            <a:off x="548640" y="1508760"/>
            <a:ext cx="5394960" cy="4754880"/>
          </a:xfrm>
          <a:prstGeom prst="roundRect">
            <a:avLst>
              <a:gd name="adj" fmla="val 2500"/>
            </a:avLst>
          </a:prstGeom>
          <a:solidFill>
            <a:srgbClr val="132247"/>
          </a:solidFill>
          <a:ln w="15240">
            <a:solidFill>
              <a:srgbClr val="2C4A87"/>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46304"/>
          <a:lstStyle/>
          <a:p>
            <a:pPr algn="ctr">
              <a:spcAft>
                <a:spcPts val="600"/>
              </a:spcAft>
              <a:defRPr sz="1550" b="1">
                <a:solidFill>
                  <a:srgbClr val="00E676"/>
                </a:solidFill>
                <a:latin typeface="Calibri"/>
              </a:defRPr>
            </a:pPr>
            <a:r>
              <a:t>Review-2 Completed Work (100% Code Verified)</a:t>
            </a:r>
          </a:p>
          <a:p>
            <a:pPr>
              <a:spcAft>
                <a:spcPts val="400"/>
              </a:spcAft>
            </a:pPr>
            <a:r>
              <a:rPr b="1" sz="1150">
                <a:solidFill>
                  <a:srgbClr val="FFFFFF"/>
                </a:solidFill>
                <a:latin typeface="Calibri"/>
              </a:rPr>
              <a:t>Architecture &amp; Design: </a:t>
            </a:r>
            <a:r>
              <a:rPr sz="1100">
                <a:solidFill>
                  <a:srgbClr val="E2E8F0"/>
                </a:solidFill>
                <a:latin typeface="Calibri"/>
              </a:rPr>
              <a:t>100% Complete. Full 5-tier microservices architecture designed and operational.</a:t>
            </a:r>
          </a:p>
          <a:p>
            <a:pPr>
              <a:spcAft>
                <a:spcPts val="400"/>
              </a:spcAft>
            </a:pPr>
            <a:r>
              <a:rPr b="1" sz="1150">
                <a:solidFill>
                  <a:srgbClr val="FFFFFF"/>
                </a:solidFill>
                <a:latin typeface="Calibri"/>
              </a:rPr>
              <a:t>Spring Boot &amp; MySQL: </a:t>
            </a:r>
            <a:r>
              <a:rPr sz="1100">
                <a:solidFill>
                  <a:srgbClr val="E2E8F0"/>
                </a:solidFill>
                <a:latin typeface="Calibri"/>
              </a:rPr>
              <a:t>100% Complete. 22 relational tables, Flyway migrations, REST APIs, and WebSockets live.</a:t>
            </a:r>
          </a:p>
          <a:p>
            <a:pPr>
              <a:spcAft>
                <a:spcPts val="400"/>
              </a:spcAft>
            </a:pPr>
            <a:r>
              <a:rPr b="1" sz="1150">
                <a:solidFill>
                  <a:srgbClr val="FFFFFF"/>
                </a:solidFill>
                <a:latin typeface="Calibri"/>
              </a:rPr>
              <a:t>Android Telemetry App: </a:t>
            </a:r>
            <a:r>
              <a:rPr sz="1100">
                <a:solidFill>
                  <a:srgbClr val="E2E8F0"/>
                </a:solidFill>
                <a:latin typeface="Calibri"/>
              </a:rPr>
              <a:t>100% Complete. Native Kotlin app reading GPS, 3-axis motion, and publishing MQTT.</a:t>
            </a:r>
          </a:p>
          <a:p>
            <a:pPr>
              <a:spcAft>
                <a:spcPts val="400"/>
              </a:spcAft>
            </a:pPr>
            <a:r>
              <a:rPr b="1" sz="1150">
                <a:solidFill>
                  <a:srgbClr val="FFFFFF"/>
                </a:solidFill>
                <a:latin typeface="Calibri"/>
              </a:rPr>
              <a:t>Edge Gateway &amp; Buffer: </a:t>
            </a:r>
            <a:r>
              <a:rPr sz="1100">
                <a:solidFill>
                  <a:srgbClr val="E2E8F0"/>
                </a:solidFill>
                <a:latin typeface="Calibri"/>
              </a:rPr>
              <a:t>100% Complete. 10 medical devices supported with sub-ms SQLite WAL buffer.</a:t>
            </a:r>
          </a:p>
          <a:p>
            <a:pPr>
              <a:spcAft>
                <a:spcPts val="400"/>
              </a:spcAft>
            </a:pPr>
            <a:r>
              <a:rPr b="1" sz="1150">
                <a:solidFill>
                  <a:srgbClr val="FFFFFF"/>
                </a:solidFill>
                <a:latin typeface="Calibri"/>
              </a:rPr>
              <a:t>Python AI Microservice: </a:t>
            </a:r>
            <a:r>
              <a:rPr sz="1100">
                <a:solidFill>
                  <a:srgbClr val="E2E8F0"/>
                </a:solidFill>
                <a:latin typeface="Calibri"/>
              </a:rPr>
              <a:t>100% Complete. Time-series forecasting (5, 15, 30 min) and vision analysis active.</a:t>
            </a:r>
          </a:p>
          <a:p>
            <a:pPr>
              <a:spcAft>
                <a:spcPts val="400"/>
              </a:spcAft>
            </a:pPr>
            <a:r>
              <a:rPr b="1" sz="1150">
                <a:solidFill>
                  <a:srgbClr val="FFFFFF"/>
                </a:solidFill>
                <a:latin typeface="Calibri"/>
              </a:rPr>
              <a:t>React Operations SPA: </a:t>
            </a:r>
            <a:r>
              <a:rPr sz="1100">
                <a:solidFill>
                  <a:srgbClr val="E2E8F0"/>
                </a:solidFill>
                <a:latin typeface="Calibri"/>
              </a:rPr>
              <a:t>100% Complete. Fleet map, Patient Twin, MCDA matrix, and Hospital Console live.</a:t>
            </a:r>
          </a:p>
          <a:p>
            <a:pPr>
              <a:spcAft>
                <a:spcPts val="400"/>
              </a:spcAft>
            </a:pPr>
            <a:r>
              <a:rPr b="1" sz="1150">
                <a:solidFill>
                  <a:srgbClr val="FFFFFF"/>
                </a:solidFill>
                <a:latin typeface="Calibri"/>
              </a:rPr>
              <a:t>Automated Test Suites: </a:t>
            </a:r>
            <a:r>
              <a:rPr sz="1100">
                <a:solidFill>
                  <a:srgbClr val="E2E8F0"/>
                </a:solidFill>
                <a:latin typeface="Calibri"/>
              </a:rPr>
              <a:t>100% Complete. Pytest, JUnit 5, integration tests, and blackout tests passing.</a:t>
            </a:r>
          </a:p>
        </p:txBody>
      </p:sp>
      <p:sp>
        <p:nvSpPr>
          <p:cNvPr id="10" name="Rounded Rectangle 9"/>
          <p:cNvSpPr/>
          <p:nvPr/>
        </p:nvSpPr>
        <p:spPr>
          <a:xfrm>
            <a:off x="6126480" y="1508760"/>
            <a:ext cx="5516575" cy="4754880"/>
          </a:xfrm>
          <a:prstGeom prst="roundRect">
            <a:avLst>
              <a:gd name="adj" fmla="val 2500"/>
            </a:avLst>
          </a:prstGeom>
          <a:solidFill>
            <a:srgbClr val="132247"/>
          </a:solidFill>
          <a:ln w="15240">
            <a:solidFill>
              <a:srgbClr val="2C4A87"/>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46304"/>
          <a:lstStyle/>
          <a:p>
            <a:pPr algn="ctr">
              <a:spcAft>
                <a:spcPts val="800"/>
              </a:spcAft>
              <a:defRPr sz="1550" b="1">
                <a:solidFill>
                  <a:srgbClr val="00E5FF"/>
                </a:solidFill>
                <a:latin typeface="Calibri"/>
              </a:defRPr>
            </a:pPr>
            <a:r>
              <a:t>Future Work Roadmap (Toward Final Review)</a:t>
            </a:r>
          </a:p>
          <a:p>
            <a:pPr>
              <a:spcAft>
                <a:spcPts val="600"/>
              </a:spcAft>
            </a:pPr>
            <a:r>
              <a:rPr b="1" sz="1150">
                <a:solidFill>
                  <a:srgbClr val="FFFFFF"/>
                </a:solidFill>
                <a:latin typeface="Calibri"/>
              </a:rPr>
              <a:t>Phase 1: Physical Vehicle Testing: </a:t>
            </a:r>
            <a:r>
              <a:rPr sz="1100">
                <a:solidFill>
                  <a:srgbClr val="E2E8F0"/>
                </a:solidFill>
                <a:latin typeface="Calibri"/>
              </a:rPr>
              <a:t>Connect a physical Raspberry Pi 4 with a CAN bus shield to vehicle OBD-II diagnostic port to read telemetry directly from vehicle sensors.</a:t>
            </a:r>
          </a:p>
          <a:p>
            <a:pPr>
              <a:spcAft>
                <a:spcPts val="600"/>
              </a:spcAft>
            </a:pPr>
            <a:r>
              <a:rPr b="1" sz="1150">
                <a:solidFill>
                  <a:srgbClr val="FFFFFF"/>
                </a:solidFill>
                <a:latin typeface="Calibri"/>
              </a:rPr>
              <a:t>Phase 2: Paramedic Voice Notes: </a:t>
            </a:r>
            <a:r>
              <a:rPr sz="1100">
                <a:solidFill>
                  <a:srgbClr val="E2E8F0"/>
                </a:solidFill>
                <a:latin typeface="Calibri"/>
              </a:rPr>
              <a:t>Add on-device speech-to-text (Whisper AI) so paramedics speak clinical observations into the tablet, converting speech into structured SBAR notes.</a:t>
            </a:r>
          </a:p>
          <a:p>
            <a:pPr>
              <a:spcAft>
                <a:spcPts val="600"/>
              </a:spcAft>
            </a:pPr>
            <a:r>
              <a:rPr b="1" sz="1150">
                <a:solidFill>
                  <a:srgbClr val="FFFFFF"/>
                </a:solidFill>
                <a:latin typeface="Calibri"/>
              </a:rPr>
              <a:t>Phase 3: Drone Blood Delivery: </a:t>
            </a:r>
            <a:r>
              <a:rPr sz="1100">
                <a:solidFill>
                  <a:srgbClr val="E2E8F0"/>
                </a:solidFill>
                <a:latin typeface="Calibri"/>
              </a:rPr>
              <a:t>Extend transport digital twin to coordinate autonomous delivery drones carrying emergency blood products (O-negative) to meet ambulance en route.</a:t>
            </a:r>
          </a:p>
          <a:p>
            <a:pPr>
              <a:spcAft>
                <a:spcPts val="600"/>
              </a:spcAft>
            </a:pPr>
            <a:r>
              <a:rPr b="1" sz="1150">
                <a:solidFill>
                  <a:srgbClr val="FFFFFF"/>
                </a:solidFill>
                <a:latin typeface="Calibri"/>
              </a:rPr>
              <a:t>Phase 4: Direct Export to Hospital EHR: </a:t>
            </a:r>
            <a:r>
              <a:rPr sz="1100">
                <a:solidFill>
                  <a:srgbClr val="E2E8F0"/>
                </a:solidFill>
                <a:latin typeface="Calibri"/>
              </a:rPr>
              <a:t>Build certified HL7 FHIR export connectors (Observation, Encounter) so ambulance pre-alerts load automatically into hospital systems (Epic / Cerner).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11094415" cy="1078992"/>
          </a:xfrm>
          <a:prstGeom prst="rect">
            <a:avLst/>
          </a:prstGeom>
          <a:solidFill>
            <a:srgbClr val="132247"/>
          </a:solidFill>
          <a:ln w="12700">
            <a:solidFill>
              <a:srgbClr val="2C4A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402336"/>
            <a:ext cx="4389120" cy="256032"/>
          </a:xfrm>
          <a:prstGeom prst="roundRect">
            <a:avLst>
              <a:gd name="adj" fmla="val 20000"/>
            </a:avLst>
          </a:prstGeom>
          <a:solidFill>
            <a:srgbClr val="1B2D5C"/>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950" b="1">
                <a:solidFill>
                  <a:srgbClr val="00E5FF"/>
                </a:solidFill>
                <a:latin typeface="Calibri"/>
              </a:defRPr>
            </a:pPr>
            <a:r>
              <a:t>RUBRIC 16 &amp; 17: CONCLUSION &amp; REFERENCES</a:t>
            </a:r>
          </a:p>
        </p:txBody>
      </p:sp>
      <p:sp>
        <p:nvSpPr>
          <p:cNvPr id="5" name="TextBox 4"/>
          <p:cNvSpPr txBox="1"/>
          <p:nvPr/>
        </p:nvSpPr>
        <p:spPr>
          <a:xfrm>
            <a:off x="731520" y="667512"/>
            <a:ext cx="10698480" cy="384048"/>
          </a:xfrm>
          <a:prstGeom prst="rect">
            <a:avLst/>
          </a:prstGeom>
          <a:noFill/>
        </p:spPr>
        <p:txBody>
          <a:bodyPr wrap="square" lIns="0" tIns="0" rIns="0" bIns="0">
            <a:spAutoFit/>
          </a:bodyPr>
          <a:lstStyle/>
          <a:p>
            <a:pPr>
              <a:defRPr sz="1900" b="1">
                <a:solidFill>
                  <a:srgbClr val="FFFFFF"/>
                </a:solidFill>
                <a:latin typeface="Calibri"/>
              </a:defRPr>
            </a:pPr>
            <a:r>
              <a:t>Conclusion &amp; Scholarly References</a:t>
            </a:r>
          </a:p>
        </p:txBody>
      </p:sp>
      <p:sp>
        <p:nvSpPr>
          <p:cNvPr id="6" name="TextBox 5"/>
          <p:cNvSpPr txBox="1"/>
          <p:nvPr/>
        </p:nvSpPr>
        <p:spPr>
          <a:xfrm>
            <a:off x="731520" y="1069848"/>
            <a:ext cx="10698480" cy="274320"/>
          </a:xfrm>
          <a:prstGeom prst="rect">
            <a:avLst/>
          </a:prstGeom>
          <a:noFill/>
        </p:spPr>
        <p:txBody>
          <a:bodyPr wrap="square" lIns="0" tIns="0" rIns="0" bIns="0">
            <a:spAutoFit/>
          </a:bodyPr>
          <a:lstStyle/>
          <a:p>
            <a:pPr>
              <a:defRPr sz="1100">
                <a:solidFill>
                  <a:srgbClr val="00E5FF"/>
                </a:solidFill>
                <a:latin typeface="Calibri"/>
              </a:defRPr>
            </a:pPr>
            <a:r>
              <a:t>Transforming emergency pre-hospital care with fully verified software and authoritative medical literature</a:t>
            </a:r>
          </a:p>
        </p:txBody>
      </p:sp>
      <p:sp>
        <p:nvSpPr>
          <p:cNvPr id="7" name="TextBox 6"/>
          <p:cNvSpPr txBox="1"/>
          <p:nvPr/>
        </p:nvSpPr>
        <p:spPr>
          <a:xfrm>
            <a:off x="548640" y="6510528"/>
            <a:ext cx="9601200" cy="256032"/>
          </a:xfrm>
          <a:prstGeom prst="rect">
            <a:avLst/>
          </a:prstGeom>
          <a:noFill/>
        </p:spPr>
        <p:txBody>
          <a:bodyPr wrap="none" lIns="0" tIns="0" rIns="0" bIns="0">
            <a:spAutoFit/>
          </a:bodyPr>
          <a:lstStyle/>
          <a:p>
            <a:pPr>
              <a:defRPr sz="900">
                <a:solidFill>
                  <a:srgbClr val="94A3B8"/>
                </a:solidFill>
                <a:latin typeface="Calibri"/>
              </a:defRPr>
            </a:pPr>
            <a:r>
              <a:t>LifeFlow AI — Predictive Emergency Healthcare Digital Twin Platform  |  Capstone Project-1 Review-2</a:t>
            </a:r>
          </a:p>
        </p:txBody>
      </p:sp>
      <p:sp>
        <p:nvSpPr>
          <p:cNvPr id="8" name="TextBox 7"/>
          <p:cNvSpPr txBox="1"/>
          <p:nvPr/>
        </p:nvSpPr>
        <p:spPr>
          <a:xfrm>
            <a:off x="10515600" y="6510528"/>
            <a:ext cx="1127455" cy="256032"/>
          </a:xfrm>
          <a:prstGeom prst="rect">
            <a:avLst/>
          </a:prstGeom>
          <a:noFill/>
        </p:spPr>
        <p:txBody>
          <a:bodyPr wrap="none" lIns="0" tIns="0" rIns="0" bIns="0">
            <a:spAutoFit/>
          </a:bodyPr>
          <a:lstStyle/>
          <a:p>
            <a:pPr algn="r">
              <a:defRPr sz="950" b="1">
                <a:solidFill>
                  <a:srgbClr val="00E5FF"/>
                </a:solidFill>
                <a:latin typeface="Calibri"/>
              </a:defRPr>
            </a:pPr>
            <a:r>
              <a:t>Slide 27 of 27</a:t>
            </a:r>
          </a:p>
        </p:txBody>
      </p:sp>
      <p:sp>
        <p:nvSpPr>
          <p:cNvPr id="9" name="Rounded Rectangle 8"/>
          <p:cNvSpPr/>
          <p:nvPr/>
        </p:nvSpPr>
        <p:spPr>
          <a:xfrm>
            <a:off x="548640" y="1508760"/>
            <a:ext cx="5394960" cy="4754880"/>
          </a:xfrm>
          <a:prstGeom prst="roundRect">
            <a:avLst>
              <a:gd name="adj" fmla="val 2500"/>
            </a:avLst>
          </a:prstGeom>
          <a:solidFill>
            <a:srgbClr val="132247"/>
          </a:solidFill>
          <a:ln w="15240">
            <a:solidFill>
              <a:srgbClr val="2C4A87"/>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46304"/>
          <a:lstStyle/>
          <a:p>
            <a:pPr algn="ctr">
              <a:spcAft>
                <a:spcPts val="700"/>
              </a:spcAft>
              <a:defRPr sz="1550" b="1">
                <a:solidFill>
                  <a:srgbClr val="00E676"/>
                </a:solidFill>
                <a:latin typeface="Calibri"/>
              </a:defRPr>
            </a:pPr>
            <a:r>
              <a:t>Conclusion: What LifeFlow AI Delivers</a:t>
            </a:r>
          </a:p>
          <a:p>
            <a:pPr>
              <a:spcAft>
                <a:spcPts val="500"/>
              </a:spcAft>
            </a:pPr>
            <a:r>
              <a:rPr b="1" sz="1200">
                <a:solidFill>
                  <a:srgbClr val="FFFFFF"/>
                </a:solidFill>
                <a:latin typeface="Calibri"/>
              </a:rPr>
              <a:t>Bridges the Emergency Gap: </a:t>
            </a:r>
            <a:r>
              <a:rPr sz="1150">
                <a:solidFill>
                  <a:srgbClr val="E2E8F0"/>
                </a:solidFill>
                <a:latin typeface="Calibri"/>
              </a:rPr>
              <a:t>Completely unifies Citizens (Web &amp; SMS SOS), Paramedics (ambulance tablet), Triage Nurses (bay &amp; blood lock), and Doctors (medical directives).</a:t>
            </a:r>
          </a:p>
          <a:p>
            <a:pPr>
              <a:spcAft>
                <a:spcPts val="500"/>
              </a:spcAft>
            </a:pPr>
            <a:r>
              <a:rPr b="1" sz="1200">
                <a:solidFill>
                  <a:srgbClr val="FFFFFF"/>
                </a:solidFill>
                <a:latin typeface="Calibri"/>
              </a:rPr>
              <a:t>Right Hospital the First Time: </a:t>
            </a:r>
            <a:r>
              <a:rPr sz="1150">
                <a:solidFill>
                  <a:srgbClr val="E2E8F0"/>
                </a:solidFill>
                <a:latin typeface="Calibri"/>
              </a:rPr>
              <a:t>Eliminates fatal secondary transfers by automatically enforcing clinical feasibility firewalls and traffic-aware routing.</a:t>
            </a:r>
          </a:p>
          <a:p>
            <a:pPr>
              <a:spcAft>
                <a:spcPts val="500"/>
              </a:spcAft>
            </a:pPr>
            <a:r>
              <a:rPr b="1" sz="1200">
                <a:solidFill>
                  <a:srgbClr val="FFFFFF"/>
                </a:solidFill>
                <a:latin typeface="Calibri"/>
              </a:rPr>
              <a:t>Works Online &amp; Completely Offline: </a:t>
            </a:r>
            <a:r>
              <a:rPr sz="1150">
                <a:solidFill>
                  <a:srgbClr val="E2E8F0"/>
                </a:solidFill>
                <a:latin typeface="Calibri"/>
              </a:rPr>
              <a:t>Guarantees emergency alerting via offline 2G SMS (7249505296) and preserves 100% of telemetry in tunnels via local SQLite WAL buffering.</a:t>
            </a:r>
          </a:p>
          <a:p>
            <a:pPr>
              <a:spcAft>
                <a:spcPts val="500"/>
              </a:spcAft>
            </a:pPr>
            <a:r>
              <a:rPr b="1" sz="1200">
                <a:solidFill>
                  <a:srgbClr val="FFFFFF"/>
                </a:solidFill>
                <a:latin typeface="Calibri"/>
              </a:rPr>
              <a:t>Zero Financial Barrier: </a:t>
            </a:r>
            <a:r>
              <a:rPr sz="1150">
                <a:solidFill>
                  <a:srgbClr val="E2E8F0"/>
                </a:solidFill>
                <a:latin typeface="Calibri"/>
              </a:rPr>
              <a:t>Built 100% with free open-source software, making it immediately deployable for public municipal EMS fleets without cloud fees.</a:t>
            </a:r>
          </a:p>
          <a:p>
            <a:pPr>
              <a:spcAft>
                <a:spcPts val="500"/>
              </a:spcAft>
            </a:pPr>
            <a:r>
              <a:rPr b="1" sz="1200">
                <a:solidFill>
                  <a:srgbClr val="FFFFFF"/>
                </a:solidFill>
                <a:latin typeface="Calibri"/>
              </a:rPr>
              <a:t>Ready for Review-2 Defense: </a:t>
            </a:r>
            <a:r>
              <a:rPr sz="1150">
                <a:solidFill>
                  <a:srgbClr val="E2E8F0"/>
                </a:solidFill>
                <a:latin typeface="Calibri"/>
              </a:rPr>
              <a:t>All 10 modules are fully implemented, tested, and integrated. The team is ready to demonstrate the running software and code.</a:t>
            </a:r>
          </a:p>
        </p:txBody>
      </p:sp>
      <p:sp>
        <p:nvSpPr>
          <p:cNvPr id="10" name="Rounded Rectangle 9"/>
          <p:cNvSpPr/>
          <p:nvPr/>
        </p:nvSpPr>
        <p:spPr>
          <a:xfrm>
            <a:off x="6126480" y="1508760"/>
            <a:ext cx="5516575" cy="4754880"/>
          </a:xfrm>
          <a:prstGeom prst="roundRect">
            <a:avLst>
              <a:gd name="adj" fmla="val 2500"/>
            </a:avLst>
          </a:prstGeom>
          <a:solidFill>
            <a:srgbClr val="132247"/>
          </a:solidFill>
          <a:ln w="15240">
            <a:solidFill>
              <a:srgbClr val="2C4A87"/>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46304"/>
          <a:lstStyle/>
          <a:p>
            <a:pPr algn="ctr">
              <a:spcAft>
                <a:spcPts val="600"/>
              </a:spcAft>
              <a:defRPr sz="1550" b="1">
                <a:solidFill>
                  <a:srgbClr val="00E5FF"/>
                </a:solidFill>
                <a:latin typeface="Calibri"/>
              </a:defRPr>
            </a:pPr>
            <a:r>
              <a:t>Authoritative Literature &amp; References</a:t>
            </a:r>
          </a:p>
          <a:p>
            <a:pPr>
              <a:spcAft>
                <a:spcPts val="400"/>
              </a:spcAft>
            </a:pPr>
            <a:r>
              <a:rPr b="1" sz="1100">
                <a:solidFill>
                  <a:srgbClr val="FFFFFF"/>
                </a:solidFill>
                <a:latin typeface="Calibri"/>
              </a:rPr>
              <a:t>[1] Lerner &amp; Moscati (2001): </a:t>
            </a:r>
            <a:r>
              <a:rPr sz="1050">
                <a:solidFill>
                  <a:srgbClr val="E2E8F0"/>
                </a:solidFill>
                <a:latin typeface="Calibri"/>
              </a:rPr>
              <a:t>The Golden Hour: Scientific Fact or Legend? Academic Emergency Medicine, vol. 8, no. 7, pp. 758–760.</a:t>
            </a:r>
          </a:p>
          <a:p>
            <a:pPr>
              <a:spcAft>
                <a:spcPts val="400"/>
              </a:spcAft>
            </a:pPr>
            <a:r>
              <a:rPr b="1" sz="1100">
                <a:solidFill>
                  <a:srgbClr val="FFFFFF"/>
                </a:solidFill>
                <a:latin typeface="Calibri"/>
              </a:rPr>
              <a:t>[2] MacKenzie et al. (2006): </a:t>
            </a:r>
            <a:r>
              <a:rPr sz="1050">
                <a:solidFill>
                  <a:srgbClr val="E2E8F0"/>
                </a:solidFill>
                <a:latin typeface="Calibri"/>
              </a:rPr>
              <a:t>A National Evaluation of Trauma-Center Care on Mortality. New England Journal of Medicine, vol. 354, no. 4, pp. 366–378.</a:t>
            </a:r>
          </a:p>
          <a:p>
            <a:pPr>
              <a:spcAft>
                <a:spcPts val="400"/>
              </a:spcAft>
            </a:pPr>
            <a:r>
              <a:rPr b="1" sz="1100">
                <a:solidFill>
                  <a:srgbClr val="FFFFFF"/>
                </a:solidFill>
                <a:latin typeface="Calibri"/>
              </a:rPr>
              <a:t>[3] Nathens et al. (2003): </a:t>
            </a:r>
            <a:r>
              <a:rPr sz="1050">
                <a:solidFill>
                  <a:srgbClr val="E2E8F0"/>
                </a:solidFill>
                <a:latin typeface="Calibri"/>
              </a:rPr>
              <a:t>The Effect of Interfacility Transfer in Urban Trauma. Journal of Trauma, vol. 55, no. 3, pp. 444–449.</a:t>
            </a:r>
          </a:p>
          <a:p>
            <a:pPr>
              <a:spcAft>
                <a:spcPts val="400"/>
              </a:spcAft>
            </a:pPr>
            <a:r>
              <a:rPr b="1" sz="1100">
                <a:solidFill>
                  <a:srgbClr val="FFFFFF"/>
                </a:solidFill>
                <a:latin typeface="Calibri"/>
              </a:rPr>
              <a:t>[4] Sasser et al. (2012): </a:t>
            </a:r>
            <a:r>
              <a:rPr sz="1050">
                <a:solidFill>
                  <a:srgbClr val="E2E8F0"/>
                </a:solidFill>
                <a:latin typeface="Calibri"/>
              </a:rPr>
              <a:t>Guidelines for Field Triage of Injured Patients. MMWR Recommendations and Reports, vol. 61, no. RR-1, pp. 1–20.</a:t>
            </a:r>
          </a:p>
          <a:p>
            <a:pPr>
              <a:spcAft>
                <a:spcPts val="400"/>
              </a:spcAft>
            </a:pPr>
            <a:r>
              <a:rPr b="1" sz="1100">
                <a:solidFill>
                  <a:srgbClr val="FFFFFF"/>
                </a:solidFill>
                <a:latin typeface="Calibri"/>
              </a:rPr>
              <a:t>[5] Elayan et al. (2021): </a:t>
            </a:r>
            <a:r>
              <a:rPr sz="1050">
                <a:solidFill>
                  <a:srgbClr val="E2E8F0"/>
                </a:solidFill>
                <a:latin typeface="Calibri"/>
              </a:rPr>
              <a:t>Digital Twin for Context-Aware IoT Healthcare Systems. IEEE Internet of Things Journal, vol. 8, no. 23, pp. 16749–16757.</a:t>
            </a:r>
          </a:p>
          <a:p>
            <a:pPr>
              <a:spcAft>
                <a:spcPts val="400"/>
              </a:spcAft>
            </a:pPr>
            <a:r>
              <a:rPr b="1" sz="1100">
                <a:solidFill>
                  <a:srgbClr val="FFFFFF"/>
                </a:solidFill>
                <a:latin typeface="Calibri"/>
              </a:rPr>
              <a:t>[6] Kang et al. (2020): </a:t>
            </a:r>
            <a:r>
              <a:rPr sz="1050">
                <a:solidFill>
                  <a:srgbClr val="E2E8F0"/>
                </a:solidFill>
                <a:latin typeface="Calibri"/>
              </a:rPr>
              <a:t>AI Algorithm to Predict Critical Care Need in Prehospital EMS. Scand. J. Trauma Resusc. Emerg. Med.</a:t>
            </a:r>
          </a:p>
          <a:p>
            <a:pPr>
              <a:spcAft>
                <a:spcPts val="400"/>
              </a:spcAft>
            </a:pPr>
            <a:r>
              <a:rPr b="1" sz="1100">
                <a:solidFill>
                  <a:srgbClr val="FFFFFF"/>
                </a:solidFill>
                <a:latin typeface="Calibri"/>
              </a:rPr>
              <a:t>[7] Prabhakaran et al. (2026): </a:t>
            </a:r>
            <a:r>
              <a:rPr sz="1050">
                <a:solidFill>
                  <a:srgbClr val="E2E8F0"/>
                </a:solidFill>
                <a:latin typeface="Calibri"/>
              </a:rPr>
              <a:t>2026 Guideline for Early Management of Acute Ischemic Stroke. Stroke, vol. 57, pp. e316–e436.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